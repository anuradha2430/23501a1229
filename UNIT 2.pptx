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81" r:id="rId20"/>
    <p:sldId id="274" r:id="rId21"/>
    <p:sldId id="275" r:id="rId22"/>
    <p:sldId id="276" r:id="rId23"/>
    <p:sldId id="277" r:id="rId24"/>
    <p:sldId id="278" r:id="rId25"/>
    <p:sldId id="280" r:id="rId26"/>
    <p:sldId id="2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20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5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9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1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1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4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72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12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25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5BE34-3064-4D29-8C1A-B835658D27A3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54410-25DE-41E9-A033-ABF91018CA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02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556792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UNIT 2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UNIT 2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02060"/>
                </a:solidFill>
              </a:rPr>
              <a:t>J2EE and Web Development: </a:t>
            </a:r>
            <a:r>
              <a:rPr lang="en-US" sz="2400" dirty="0">
                <a:solidFill>
                  <a:srgbClr val="002060"/>
                </a:solidFill>
              </a:rPr>
              <a:t>Exploring enterprise architecture types, Describing EE6 containers, Types of Servers in J2EE Applications, Exploring the HTTP protocol: Describing HTTP requests, Introducing web applications: Describing components of a web application, Describing structure, Describing web containers,  Exploring web architecture models: Model-1 architecture, Model-2 architecture and MVC </a:t>
            </a:r>
            <a:r>
              <a:rPr lang="en-US" sz="2400" dirty="0" smtClean="0">
                <a:solidFill>
                  <a:srgbClr val="002060"/>
                </a:solidFill>
              </a:rPr>
              <a:t>architecture. [CO1]</a:t>
            </a:r>
            <a:endParaRPr lang="en-IN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9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dirty="0" smtClean="0"/>
              <a:t>Enterprise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/>
              <a:t>Enterprise architecture helps to understanding the structure of an application and can be divided into 3 fundamental layers:</a:t>
            </a:r>
          </a:p>
          <a:p>
            <a:pPr lvl="1"/>
            <a:r>
              <a:rPr lang="en-US" dirty="0" smtClean="0"/>
              <a:t>The presentation layer – It is a User interface</a:t>
            </a:r>
          </a:p>
          <a:p>
            <a:pPr lvl="2"/>
            <a:r>
              <a:rPr lang="en-IN" b="1" dirty="0" smtClean="0"/>
              <a:t>Purpose:</a:t>
            </a:r>
            <a:r>
              <a:rPr lang="en-IN" dirty="0" smtClean="0"/>
              <a:t> Interface between the user and the application.</a:t>
            </a:r>
          </a:p>
          <a:p>
            <a:pPr lvl="2"/>
            <a:r>
              <a:rPr lang="en-IN" b="1" dirty="0" smtClean="0"/>
              <a:t>Responsibilities:</a:t>
            </a:r>
            <a:endParaRPr lang="en-IN" dirty="0" smtClean="0"/>
          </a:p>
          <a:p>
            <a:pPr lvl="3"/>
            <a:r>
              <a:rPr lang="en-IN" dirty="0" smtClean="0"/>
              <a:t>Displays information to the user</a:t>
            </a:r>
          </a:p>
          <a:p>
            <a:pPr lvl="3"/>
            <a:r>
              <a:rPr lang="en-IN" dirty="0" smtClean="0"/>
              <a:t>Accepts user input (forms, buttons, menus)</a:t>
            </a:r>
          </a:p>
          <a:p>
            <a:pPr lvl="2"/>
            <a:r>
              <a:rPr lang="en-IN" b="1" dirty="0" smtClean="0"/>
              <a:t>Examples:</a:t>
            </a:r>
            <a:r>
              <a:rPr lang="en-IN" dirty="0" smtClean="0"/>
              <a:t> HTML/CSS pages, JSP files, </a:t>
            </a:r>
            <a:r>
              <a:rPr lang="en-IN" dirty="0" err="1" smtClean="0"/>
              <a:t>JavaFX</a:t>
            </a:r>
            <a:r>
              <a:rPr lang="en-IN" dirty="0" smtClean="0"/>
              <a:t>, Angular, React, etc.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6842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424936" cy="5688632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The business logic layer – The logic of the application in implemented  here</a:t>
            </a:r>
          </a:p>
          <a:p>
            <a:pPr lvl="2"/>
            <a:r>
              <a:rPr lang="en-US" b="1" dirty="0" smtClean="0"/>
              <a:t>Purpose:</a:t>
            </a:r>
            <a:r>
              <a:rPr lang="en-US" dirty="0" smtClean="0"/>
              <a:t> Contains the </a:t>
            </a:r>
            <a:r>
              <a:rPr lang="en-US" b="1" dirty="0" smtClean="0"/>
              <a:t>application's core logic</a:t>
            </a:r>
            <a:r>
              <a:rPr lang="en-US" dirty="0" smtClean="0"/>
              <a:t>.</a:t>
            </a:r>
          </a:p>
          <a:p>
            <a:pPr lvl="2"/>
            <a:r>
              <a:rPr lang="en-US" b="1" dirty="0" smtClean="0"/>
              <a:t>Responsibilities:</a:t>
            </a:r>
            <a:endParaRPr lang="en-US" dirty="0" smtClean="0"/>
          </a:p>
          <a:p>
            <a:pPr lvl="3"/>
            <a:r>
              <a:rPr lang="en-US" dirty="0" smtClean="0"/>
              <a:t>Enforces business rules (e.g., calculating discounts, validating orders)</a:t>
            </a:r>
          </a:p>
          <a:p>
            <a:pPr lvl="3"/>
            <a:r>
              <a:rPr lang="en-US" dirty="0" smtClean="0"/>
              <a:t>Acts as an intermediary between UI and data</a:t>
            </a:r>
          </a:p>
          <a:p>
            <a:pPr lvl="2"/>
            <a:r>
              <a:rPr lang="en-US" b="1" dirty="0" smtClean="0"/>
              <a:t>Examples:</a:t>
            </a:r>
            <a:r>
              <a:rPr lang="en-US" dirty="0" smtClean="0"/>
              <a:t> Java classes, Spring Services, EJB components</a:t>
            </a:r>
          </a:p>
          <a:p>
            <a:pPr lvl="1"/>
            <a:r>
              <a:rPr lang="en-US" dirty="0" smtClean="0"/>
              <a:t>The data storage and access layer – Helps business application to read and store the data</a:t>
            </a:r>
          </a:p>
          <a:p>
            <a:pPr lvl="2"/>
            <a:r>
              <a:rPr lang="en-IN" b="1" dirty="0" smtClean="0"/>
              <a:t>Responsibilities:</a:t>
            </a:r>
            <a:endParaRPr lang="en-IN" dirty="0" smtClean="0"/>
          </a:p>
          <a:p>
            <a:pPr lvl="3"/>
            <a:r>
              <a:rPr lang="en-IN" dirty="0" smtClean="0"/>
              <a:t>Connects to databases or file systems </a:t>
            </a:r>
          </a:p>
          <a:p>
            <a:pPr lvl="2"/>
            <a:r>
              <a:rPr lang="en-IN" b="1" dirty="0" smtClean="0"/>
              <a:t>Examples:</a:t>
            </a:r>
            <a:r>
              <a:rPr lang="en-IN" dirty="0" smtClean="0"/>
              <a:t> JDBC code</a:t>
            </a:r>
          </a:p>
          <a:p>
            <a:pPr lvl="1"/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374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</a:t>
            </a:r>
            <a:r>
              <a:rPr lang="en-US" dirty="0" smtClean="0"/>
              <a:t>Enterprise Architecture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Single-Tier Architecture (Monolithic)</a:t>
            </a:r>
          </a:p>
          <a:p>
            <a:pPr lvl="1"/>
            <a:r>
              <a:rPr lang="en-US" sz="2400" b="1" dirty="0" smtClean="0"/>
              <a:t>Everything in one layer</a:t>
            </a:r>
            <a:r>
              <a:rPr lang="en-US" sz="2400" dirty="0" smtClean="0"/>
              <a:t>: Presentation logic, business logic and data access layers present in the same computing architecture.  </a:t>
            </a:r>
            <a:endParaRPr lang="en-IN" sz="2400" dirty="0"/>
          </a:p>
        </p:txBody>
      </p:sp>
      <p:pic>
        <p:nvPicPr>
          <p:cNvPr id="1026" name="Picture 2" descr="Monolith vs Microservices vs Modular Monoliths: What's the Right Choi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40" y="3068960"/>
            <a:ext cx="3600400" cy="267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02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424936" cy="5976664"/>
          </a:xfrm>
        </p:spPr>
        <p:txBody>
          <a:bodyPr>
            <a:normAutofit/>
          </a:bodyPr>
          <a:lstStyle/>
          <a:p>
            <a:r>
              <a:rPr lang="en-US" dirty="0" smtClean="0"/>
              <a:t>2-tier Architecture:</a:t>
            </a:r>
          </a:p>
          <a:p>
            <a:r>
              <a:rPr lang="en-US" sz="2000" dirty="0" smtClean="0"/>
              <a:t>Two-tier architecture is a type of software architecture where the application is divided into two layers:</a:t>
            </a:r>
          </a:p>
          <a:p>
            <a:pPr lvl="1"/>
            <a:r>
              <a:rPr lang="en-US" sz="1800" b="1" dirty="0" smtClean="0"/>
              <a:t>Tier 1: Client Tier</a:t>
            </a:r>
            <a:r>
              <a:rPr lang="en-US" sz="1800" dirty="0" smtClean="0"/>
              <a:t>: User Interface (UI) i.e., presentation logic  + Business Logic</a:t>
            </a:r>
          </a:p>
          <a:p>
            <a:pPr lvl="1"/>
            <a:r>
              <a:rPr lang="en-US" sz="1800" b="1" dirty="0" smtClean="0"/>
              <a:t>Tier 2: Server Tier</a:t>
            </a:r>
            <a:r>
              <a:rPr lang="en-US" sz="1800" dirty="0" smtClean="0"/>
              <a:t>: Database server (Data storage and access)</a:t>
            </a:r>
          </a:p>
          <a:p>
            <a:pPr marL="914400" lvl="2" indent="0">
              <a:buNone/>
            </a:pPr>
            <a:r>
              <a:rPr lang="en-IN" sz="1600" dirty="0" smtClean="0"/>
              <a:t> // Client Side </a:t>
            </a:r>
          </a:p>
          <a:p>
            <a:pPr marL="914400" lvl="2" indent="0">
              <a:buNone/>
            </a:pPr>
            <a:r>
              <a:rPr lang="en-IN" sz="1600" dirty="0" smtClean="0"/>
              <a:t>   Connection conn = </a:t>
            </a:r>
            <a:r>
              <a:rPr lang="en-IN" sz="1600" dirty="0" err="1" smtClean="0"/>
              <a:t>DriverManager.getConnection</a:t>
            </a:r>
            <a:r>
              <a:rPr lang="en-IN" sz="1600" dirty="0" smtClean="0"/>
              <a:t>(</a:t>
            </a:r>
          </a:p>
          <a:p>
            <a:pPr marL="914400" lvl="2" indent="0">
              <a:buNone/>
            </a:pPr>
            <a:r>
              <a:rPr lang="en-IN" sz="1600" dirty="0" smtClean="0"/>
              <a:t>  "</a:t>
            </a:r>
            <a:r>
              <a:rPr lang="en-IN" sz="1600" dirty="0" err="1" smtClean="0"/>
              <a:t>jdbc:mysql</a:t>
            </a:r>
            <a:r>
              <a:rPr lang="en-IN" sz="1600" dirty="0" smtClean="0"/>
              <a:t>://localhost:3306/school", "root", "password");</a:t>
            </a:r>
            <a:endParaRPr lang="en-IN" sz="100" dirty="0" smtClean="0"/>
          </a:p>
          <a:p>
            <a:pPr marL="914400" lvl="2" indent="0">
              <a:buNone/>
            </a:pPr>
            <a:r>
              <a:rPr lang="en-IN" sz="1600" dirty="0" smtClean="0"/>
              <a:t>   Statement </a:t>
            </a:r>
            <a:r>
              <a:rPr lang="en-IN" sz="1600" dirty="0" err="1" smtClean="0"/>
              <a:t>stmt</a:t>
            </a:r>
            <a:r>
              <a:rPr lang="en-IN" sz="1600" dirty="0" smtClean="0"/>
              <a:t> = </a:t>
            </a:r>
            <a:r>
              <a:rPr lang="en-IN" sz="1600" dirty="0" err="1" smtClean="0"/>
              <a:t>conn.createStatement</a:t>
            </a:r>
            <a:r>
              <a:rPr lang="en-IN" sz="1600" dirty="0" smtClean="0"/>
              <a:t>();</a:t>
            </a:r>
          </a:p>
          <a:p>
            <a:pPr marL="914400" lvl="2" indent="0">
              <a:buNone/>
            </a:pPr>
            <a:r>
              <a:rPr lang="en-IN" sz="1600" dirty="0" smtClean="0"/>
              <a:t>   </a:t>
            </a:r>
            <a:r>
              <a:rPr lang="en-IN" sz="1600" dirty="0" err="1" smtClean="0"/>
              <a:t>ResultSet</a:t>
            </a:r>
            <a:r>
              <a:rPr lang="en-IN" sz="1600" dirty="0" smtClean="0"/>
              <a:t> </a:t>
            </a:r>
            <a:r>
              <a:rPr lang="en-IN" sz="1600" dirty="0" err="1" smtClean="0"/>
              <a:t>rs</a:t>
            </a:r>
            <a:r>
              <a:rPr lang="en-IN" sz="1600" dirty="0" smtClean="0"/>
              <a:t> = </a:t>
            </a:r>
            <a:r>
              <a:rPr lang="en-IN" sz="1600" dirty="0" err="1" smtClean="0"/>
              <a:t>stmt.executeQuery</a:t>
            </a:r>
            <a:r>
              <a:rPr lang="en-IN" sz="1600" dirty="0" smtClean="0"/>
              <a:t>("SELECT * FROM students");</a:t>
            </a:r>
          </a:p>
          <a:p>
            <a:r>
              <a:rPr lang="en-US" sz="2000" dirty="0" smtClean="0">
                <a:solidFill>
                  <a:srgbClr val="C00000"/>
                </a:solidFill>
              </a:rPr>
              <a:t>In two-tier, the application logic is either hidden inside the user interface on the client or within the database </a:t>
            </a:r>
            <a:r>
              <a:rPr lang="en-US" sz="2000" dirty="0" smtClean="0">
                <a:solidFill>
                  <a:srgbClr val="C00000"/>
                </a:solidFill>
              </a:rPr>
              <a:t>layer on </a:t>
            </a:r>
            <a:r>
              <a:rPr lang="en-US" sz="2000" dirty="0" smtClean="0">
                <a:solidFill>
                  <a:srgbClr val="C00000"/>
                </a:solidFill>
              </a:rPr>
              <a:t>the </a:t>
            </a:r>
            <a:r>
              <a:rPr lang="en-US" sz="2000" dirty="0" smtClean="0">
                <a:solidFill>
                  <a:srgbClr val="C00000"/>
                </a:solidFill>
              </a:rPr>
              <a:t>server side </a:t>
            </a:r>
            <a:r>
              <a:rPr lang="en-US" sz="2000" dirty="0" smtClean="0">
                <a:solidFill>
                  <a:srgbClr val="C00000"/>
                </a:solidFill>
              </a:rPr>
              <a:t>(or both).</a:t>
            </a:r>
            <a:endParaRPr lang="en-IN" sz="2800" dirty="0">
              <a:solidFill>
                <a:srgbClr val="C00000"/>
              </a:solidFill>
            </a:endParaRPr>
          </a:p>
        </p:txBody>
      </p:sp>
      <p:pic>
        <p:nvPicPr>
          <p:cNvPr id="3074" name="Picture 2" descr="Difference Between Two-Tier And Three-Tier Database Architecture -  GeeksforGee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581128"/>
            <a:ext cx="2880320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92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615815"/>
            <a:ext cx="6766560" cy="1402080"/>
          </a:xfrm>
        </p:spPr>
      </p:pic>
      <p:pic>
        <p:nvPicPr>
          <p:cNvPr id="2050" name="Picture 2" descr="2-Tier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32"/>
            <a:ext cx="4573285" cy="248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92125" y="3933056"/>
            <a:ext cx="7272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Advantages: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Simple and fast for small applications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Fewer components make it easy to deploy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Good performance with low network overhead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92125" y="5189506"/>
            <a:ext cx="649043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Disadvantages: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Not scalable for large user bases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Tight coupling between UI and logic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Updating business logic means redeploying the whole client app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84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5112568"/>
          </a:xfrm>
        </p:spPr>
        <p:txBody>
          <a:bodyPr>
            <a:normAutofit/>
          </a:bodyPr>
          <a:lstStyle/>
          <a:p>
            <a:r>
              <a:rPr lang="en-US" dirty="0" smtClean="0"/>
              <a:t>Three Tier Architecture:</a:t>
            </a:r>
          </a:p>
          <a:p>
            <a:pPr lvl="1"/>
            <a:r>
              <a:rPr lang="en-US" sz="2000" dirty="0" smtClean="0"/>
              <a:t>Three-tier architecture divides an application into </a:t>
            </a:r>
            <a:r>
              <a:rPr lang="en-US" sz="2000" b="1" dirty="0" smtClean="0"/>
              <a:t>three logical layers</a:t>
            </a:r>
            <a:r>
              <a:rPr lang="en-US" sz="2000" dirty="0" smtClean="0"/>
              <a:t>, each with a specific responsibility:</a:t>
            </a:r>
          </a:p>
          <a:p>
            <a:pPr lvl="2"/>
            <a:r>
              <a:rPr lang="en-US" sz="1800" b="1" dirty="0" smtClean="0"/>
              <a:t>Presentation Layer</a:t>
            </a:r>
            <a:r>
              <a:rPr lang="en-US" sz="1800" dirty="0" smtClean="0"/>
              <a:t> (UI) or First tier -</a:t>
            </a:r>
            <a:r>
              <a:rPr lang="en-US" sz="1800" dirty="0"/>
              <a:t> </a:t>
            </a:r>
            <a:r>
              <a:rPr lang="en-US" sz="1800" dirty="0" smtClean="0"/>
              <a:t>The </a:t>
            </a:r>
            <a:r>
              <a:rPr lang="en-US" sz="1800" dirty="0"/>
              <a:t>user interface where the end-user interacts with the system (e.g., a web browser or a mobile app).</a:t>
            </a:r>
            <a:endParaRPr lang="en-US" sz="1800" dirty="0" smtClean="0"/>
          </a:p>
          <a:p>
            <a:pPr lvl="2"/>
            <a:r>
              <a:rPr lang="en-US" sz="1800" b="1" dirty="0" smtClean="0"/>
              <a:t>Business Logic Layer</a:t>
            </a:r>
            <a:r>
              <a:rPr lang="en-US" sz="1800" dirty="0" smtClean="0"/>
              <a:t> (BLL) or Second  tier - </a:t>
            </a:r>
            <a:r>
              <a:rPr lang="en-US" sz="1800" dirty="0"/>
              <a:t>handles the application’s core processing, business rules, and calculations.</a:t>
            </a:r>
            <a:endParaRPr lang="en-US" sz="1800" dirty="0" smtClean="0"/>
          </a:p>
          <a:p>
            <a:pPr lvl="2"/>
            <a:r>
              <a:rPr lang="en-US" sz="1800" b="1" dirty="0" smtClean="0"/>
              <a:t>Data Layer</a:t>
            </a:r>
            <a:r>
              <a:rPr lang="en-US" sz="1800" dirty="0" smtClean="0"/>
              <a:t> (Database) or Third tier - </a:t>
            </a:r>
            <a:r>
              <a:rPr lang="en-US" sz="1800" dirty="0"/>
              <a:t>Manages the storage, retrieval, and manipulation of the application’s data, typically utilizing a database.</a:t>
            </a:r>
            <a:endParaRPr lang="en-US" sz="1800" dirty="0" smtClean="0"/>
          </a:p>
          <a:p>
            <a:pPr lvl="1"/>
            <a:r>
              <a:rPr lang="en-US" sz="2000" dirty="0" smtClean="0"/>
              <a:t>This separation makes the application modular, scalable, and maintainable.</a:t>
            </a:r>
            <a:endParaRPr lang="en-US" sz="2400" dirty="0" smtClean="0"/>
          </a:p>
        </p:txBody>
      </p:sp>
      <p:sp>
        <p:nvSpPr>
          <p:cNvPr id="4" name="AutoShape 2" descr="architecture of a 3-tier applic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architecture of a 3-tier applicati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3 tier application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959310"/>
            <a:ext cx="4464496" cy="25202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14" y="3933055"/>
            <a:ext cx="3023849" cy="302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8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r>
              <a:rPr lang="en-US" sz="2800" b="1" dirty="0"/>
              <a:t>How does a 3-tier application architecture work</a:t>
            </a:r>
            <a:r>
              <a:rPr lang="en-US" sz="2800" b="1" dirty="0" smtClean="0"/>
              <a:t>?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1"/>
            <a:ext cx="6120680" cy="3240360"/>
          </a:xfrm>
        </p:spPr>
        <p:txBody>
          <a:bodyPr>
            <a:noAutofit/>
          </a:bodyPr>
          <a:lstStyle/>
          <a:p>
            <a:r>
              <a:rPr lang="en-US" sz="1800" b="1" dirty="0"/>
              <a:t>User Interaction:</a:t>
            </a:r>
            <a:r>
              <a:rPr lang="en-US" sz="1800" dirty="0"/>
              <a:t> The user interacts with the presentation tier (e.g., enters data into a web form or clicks a button on a mobile app).</a:t>
            </a:r>
          </a:p>
          <a:p>
            <a:r>
              <a:rPr lang="en-US" sz="1800" b="1" dirty="0"/>
              <a:t>Request Processing:</a:t>
            </a:r>
            <a:r>
              <a:rPr lang="en-US" sz="1800" dirty="0"/>
              <a:t> The presentation tier sends the user’s request to the </a:t>
            </a:r>
            <a:r>
              <a:rPr lang="en-US" sz="1800" dirty="0" smtClean="0"/>
              <a:t>application or Business logic </a:t>
            </a:r>
            <a:r>
              <a:rPr lang="en-US" sz="1800" dirty="0"/>
              <a:t>tier.</a:t>
            </a:r>
          </a:p>
          <a:p>
            <a:r>
              <a:rPr lang="en-US" sz="1800" b="1" dirty="0"/>
              <a:t>Business Logic:</a:t>
            </a:r>
            <a:r>
              <a:rPr lang="en-US" sz="1800" dirty="0"/>
              <a:t> The logic tier executes the relevant business logic, processes the data, and potentially interacts with the data tier to retrieve or store information.</a:t>
            </a:r>
          </a:p>
          <a:p>
            <a:r>
              <a:rPr lang="en-US" sz="1800" b="1" dirty="0"/>
              <a:t>Data Access:</a:t>
            </a:r>
            <a:r>
              <a:rPr lang="en-US" sz="1800" dirty="0"/>
              <a:t> If necessary, the application tier communicates with the data tier to access the database, either reading data to be processed or writing data for storage.</a:t>
            </a:r>
          </a:p>
          <a:p>
            <a:r>
              <a:rPr lang="en-US" sz="1800" b="1" dirty="0"/>
              <a:t>Response:</a:t>
            </a:r>
            <a:r>
              <a:rPr lang="en-US" sz="1800" dirty="0"/>
              <a:t> The logic tier formulates a response based on the processed data and business rules and packages it into the expected format the presentation tier requires.</a:t>
            </a:r>
          </a:p>
          <a:p>
            <a:r>
              <a:rPr lang="en-US" sz="1800" b="1" dirty="0"/>
              <a:t>Display: </a:t>
            </a:r>
            <a:r>
              <a:rPr lang="en-US" sz="1800" dirty="0"/>
              <a:t>The presentation tier receives the response from the application tier and displays the information to the user </a:t>
            </a:r>
            <a:r>
              <a:rPr lang="en-US" sz="1800" dirty="0" smtClean="0"/>
              <a:t> </a:t>
            </a:r>
            <a:endParaRPr lang="en-US" sz="1800" dirty="0"/>
          </a:p>
          <a:p>
            <a:endParaRPr lang="en-IN" sz="1800" dirty="0"/>
          </a:p>
        </p:txBody>
      </p:sp>
      <p:pic>
        <p:nvPicPr>
          <p:cNvPr id="6146" name="Picture 2" descr="N-tier Architecture Was a Mistake: Long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100" y="980728"/>
            <a:ext cx="2896148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75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136904" cy="612068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N-tier architecture:</a:t>
            </a:r>
          </a:p>
          <a:p>
            <a:pPr lvl="1" algn="just"/>
            <a:r>
              <a:rPr lang="en-US" sz="2400" dirty="0" smtClean="0"/>
              <a:t>N-tier architecture extends the concept of 3-tier by dividing the application into more than three distinct layers. </a:t>
            </a:r>
          </a:p>
          <a:p>
            <a:pPr lvl="1" algn="just"/>
            <a:r>
              <a:rPr lang="en-US" sz="2400" dirty="0" smtClean="0"/>
              <a:t>Each tier has a specialized responsibility, and the number “N” simply means </a:t>
            </a:r>
            <a:r>
              <a:rPr lang="en-US" sz="2400" i="1" dirty="0" smtClean="0"/>
              <a:t>any number of tiers</a:t>
            </a:r>
            <a:r>
              <a:rPr lang="en-US" sz="2400" dirty="0" smtClean="0"/>
              <a:t>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4388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8712968" cy="61206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dirty="0" smtClean="0"/>
              <a:t>It can be distributed into following layers:</a:t>
            </a:r>
          </a:p>
          <a:p>
            <a:pPr marL="0" indent="0">
              <a:buNone/>
            </a:pPr>
            <a:endParaRPr lang="en-US" sz="1900" dirty="0" smtClean="0"/>
          </a:p>
          <a:p>
            <a:r>
              <a:rPr lang="en-US" b="1" dirty="0" smtClean="0"/>
              <a:t>User Interface: </a:t>
            </a:r>
            <a:r>
              <a:rPr lang="en-US" dirty="0" smtClean="0"/>
              <a:t>The layer where end-users interact with the system, such as through a web browser or mobile application.</a:t>
            </a:r>
          </a:p>
          <a:p>
            <a:r>
              <a:rPr lang="en-US" b="1" dirty="0" smtClean="0"/>
              <a:t>Presentation Logic: </a:t>
            </a:r>
            <a:r>
              <a:rPr lang="en-US" dirty="0" smtClean="0"/>
              <a:t>Responsible for defining what is displayed to the user and how their requests are processed.</a:t>
            </a:r>
          </a:p>
          <a:p>
            <a:r>
              <a:rPr lang="en-US" b="1" dirty="0" smtClean="0"/>
              <a:t>Business Logic: </a:t>
            </a:r>
            <a:r>
              <a:rPr lang="en-US" dirty="0" smtClean="0"/>
              <a:t>Handles the core processing of the application, including business rules, workflows, and calculations.</a:t>
            </a:r>
          </a:p>
          <a:p>
            <a:r>
              <a:rPr lang="en-US" b="1" dirty="0" smtClean="0"/>
              <a:t>Infrastructure Services: </a:t>
            </a:r>
            <a:r>
              <a:rPr lang="en-US" dirty="0" smtClean="0"/>
              <a:t>Provides additional support functions such as messaging, logging, authentication, and transaction management.</a:t>
            </a:r>
          </a:p>
          <a:p>
            <a:r>
              <a:rPr lang="en-US" b="1" dirty="0" smtClean="0"/>
              <a:t>Data Layer: </a:t>
            </a:r>
            <a:r>
              <a:rPr lang="en-US" dirty="0" smtClean="0"/>
              <a:t>Manages data storage and retrieval from databases or other persistent storage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78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509098"/>
              </p:ext>
            </p:extLst>
          </p:nvPr>
        </p:nvGraphicFramePr>
        <p:xfrm>
          <a:off x="611560" y="404664"/>
          <a:ext cx="8352928" cy="4501913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160240"/>
                <a:gridCol w="6192688"/>
              </a:tblGrid>
              <a:tr h="354977">
                <a:tc>
                  <a:txBody>
                    <a:bodyPr/>
                    <a:lstStyle/>
                    <a:p>
                      <a:pPr algn="ctr"/>
                      <a:r>
                        <a:rPr lang="en-IN" sz="2400" b="1" kern="1200" dirty="0"/>
                        <a:t>Advantage</a:t>
                      </a:r>
                      <a:endParaRPr lang="en-IN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kern="1200" dirty="0"/>
                        <a:t>Benefit Description</a:t>
                      </a:r>
                      <a:endParaRPr lang="en-IN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354977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/>
                        <a:t>Separation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kern="1200" dirty="0"/>
                        <a:t>Clear modular responsibilities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621211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Allows you to add new components without effecting</a:t>
                      </a:r>
                      <a:r>
                        <a:rPr lang="en-US" sz="20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 performance of the existing application. 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621211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/>
                        <a:t>Reusability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/>
                        <a:t>Shared services and business logic across platforms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621211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/>
                        <a:t>Maintainability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/>
                        <a:t>Easy updates without impacting the entire system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354977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/>
                        <a:t>Security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kern="1200" dirty="0"/>
                        <a:t>Controlled access between layers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621211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/>
                        <a:t>Load Distribution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/>
                        <a:t>Balanced performance and reduced bottlenecks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  <a:tr h="621211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/>
                        <a:t>Cloud Readiness</a:t>
                      </a:r>
                      <a:endParaRPr lang="en-I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/>
                        <a:t>Suitable for modern </a:t>
                      </a:r>
                      <a:r>
                        <a:rPr lang="en-US" sz="2000" kern="1200" dirty="0" smtClean="0"/>
                        <a:t> distributed systems.</a:t>
                      </a:r>
                    </a:p>
                    <a:p>
                      <a:pPr algn="l"/>
                      <a:r>
                        <a:rPr lang="en-US" sz="2000" kern="1200" dirty="0" smtClean="0"/>
                        <a:t>Ex: </a:t>
                      </a:r>
                      <a:r>
                        <a:rPr lang="en-IN" sz="2000" dirty="0" smtClean="0"/>
                        <a:t>Micro services architecture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8744" marR="88744" marT="44372" marB="44372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3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dirty="0" smtClean="0"/>
              <a:t>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N Tier Architecture PowerPoint exalt Presentation Slid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264696" cy="469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57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Objectives of Enterprise applications: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52928" cy="4896544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The following objectives need to be taken into account while developing enterprise-based solutions:</a:t>
            </a:r>
          </a:p>
          <a:p>
            <a:pPr lvl="1" algn="just"/>
            <a:r>
              <a:rPr lang="en-US" sz="2000" dirty="0" smtClean="0"/>
              <a:t>Robustness: Develop an application that is reliable and bug-free to ensure consistent performance and meet user expectations effectively.</a:t>
            </a:r>
          </a:p>
          <a:p>
            <a:pPr lvl="1" algn="just"/>
            <a:r>
              <a:rPr lang="en-US" sz="2000" dirty="0" smtClean="0"/>
              <a:t>Enterprise application must be scalable - ensures it can handle increased user load efficiently</a:t>
            </a:r>
          </a:p>
          <a:p>
            <a:pPr lvl="1" algn="just"/>
            <a:r>
              <a:rPr lang="en-IN" sz="2000" dirty="0"/>
              <a:t>Ensuring that object oriented design principles are implemented in an enterprise application. </a:t>
            </a:r>
            <a:endParaRPr lang="en-IN" sz="2000" dirty="0" smtClean="0"/>
          </a:p>
          <a:p>
            <a:pPr lvl="1" algn="just"/>
            <a:r>
              <a:rPr lang="en-US" sz="2000" dirty="0" smtClean="0"/>
              <a:t>Avoid unnecessary complexity in enterprise applications by choosing simple, effective solutions that meet real requirements without over-engineering.</a:t>
            </a:r>
          </a:p>
          <a:p>
            <a:pPr lvl="1" algn="just"/>
            <a:r>
              <a:rPr lang="en-US" sz="2000" dirty="0" smtClean="0"/>
              <a:t>Ensure that each component in an enterprise application has a clear, independent responsibility to support easy maintenance and reduce tight coupling.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605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/>
              <a:t> - Ensure </a:t>
            </a:r>
            <a:r>
              <a:rPr lang="en-US" sz="2400" dirty="0"/>
              <a:t>that an enterprise application aligns with the </a:t>
            </a:r>
            <a:r>
              <a:rPr lang="en-US" sz="2400" dirty="0" smtClean="0"/>
              <a:t>organization’s </a:t>
            </a:r>
            <a:r>
              <a:rPr lang="en-US" sz="2400" dirty="0"/>
              <a:t>long-term strategy by promoting code reusability and minimizing duplication through effective object-oriented design.</a:t>
            </a:r>
          </a:p>
          <a:p>
            <a:pPr marL="0" indent="0" algn="just">
              <a:buNone/>
            </a:pPr>
            <a:r>
              <a:rPr lang="en-US" sz="2400" dirty="0" smtClean="0"/>
              <a:t> - Design </a:t>
            </a:r>
            <a:r>
              <a:rPr lang="en-US" sz="2400" dirty="0"/>
              <a:t>enterprise applications with testing in mind to simplify the process, as testing is a critical activity throughout the software life cycle.</a:t>
            </a:r>
          </a:p>
          <a:p>
            <a:pPr marL="0" indent="0" algn="just">
              <a:buNone/>
            </a:pPr>
            <a:r>
              <a:rPr lang="en-US" sz="2400" dirty="0" smtClean="0"/>
              <a:t>- Depending </a:t>
            </a:r>
            <a:r>
              <a:rPr lang="en-US" sz="2400" dirty="0"/>
              <a:t>on business requirements, an enterprise application may need to support multiple client types and ensure portability across databases and application servers for broader usability and flexibility.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376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Describing JAVA EE6 Containers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In </a:t>
            </a:r>
            <a:r>
              <a:rPr lang="en-US" sz="2400" b="1" dirty="0"/>
              <a:t>Java EE6 (Java Platform, Enterprise Edition 6)</a:t>
            </a:r>
            <a:r>
              <a:rPr lang="en-US" sz="2400" dirty="0"/>
              <a:t>, the </a:t>
            </a:r>
            <a:r>
              <a:rPr lang="en-US" sz="2400" b="1" dirty="0"/>
              <a:t>Enterprise Edition (EE) Container</a:t>
            </a:r>
            <a:r>
              <a:rPr lang="en-US" sz="2400" dirty="0"/>
              <a:t> is a </a:t>
            </a:r>
            <a:r>
              <a:rPr lang="en-US" sz="2400" b="1" dirty="0"/>
              <a:t>runtime environment</a:t>
            </a:r>
            <a:r>
              <a:rPr lang="en-US" sz="2400" dirty="0"/>
              <a:t> that provides core services and manages the </a:t>
            </a:r>
            <a:r>
              <a:rPr lang="en-US" sz="2400" b="1" dirty="0"/>
              <a:t>lifecycle, security, transactions, and deployment</a:t>
            </a:r>
            <a:r>
              <a:rPr lang="en-US" sz="2400" dirty="0"/>
              <a:t> of Java EE components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/>
              <a:t>A </a:t>
            </a:r>
            <a:r>
              <a:rPr lang="en-US" sz="2400" b="1" dirty="0"/>
              <a:t>component</a:t>
            </a:r>
            <a:r>
              <a:rPr lang="en-US" sz="2400" dirty="0"/>
              <a:t> in Java EE is </a:t>
            </a:r>
            <a:r>
              <a:rPr lang="en-US" sz="2400" dirty="0" smtClean="0"/>
              <a:t>a </a:t>
            </a:r>
            <a:r>
              <a:rPr lang="en-US" sz="2400" b="1" dirty="0" smtClean="0"/>
              <a:t>software </a:t>
            </a:r>
            <a:r>
              <a:rPr lang="en-US" sz="2400" b="1" dirty="0"/>
              <a:t>unit</a:t>
            </a:r>
            <a:r>
              <a:rPr lang="en-US" sz="2400" dirty="0"/>
              <a:t> that performs a specific function within an enterprise application. Components are </a:t>
            </a:r>
            <a:r>
              <a:rPr lang="en-US" sz="2400" b="1" dirty="0"/>
              <a:t>managed by containers</a:t>
            </a:r>
            <a:r>
              <a:rPr lang="en-US" sz="2400" dirty="0"/>
              <a:t> and can be either part of the client-side or server-side of the application.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6575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229600" cy="4525963"/>
          </a:xfrm>
        </p:spPr>
        <p:txBody>
          <a:bodyPr/>
          <a:lstStyle/>
          <a:p>
            <a:r>
              <a:rPr lang="en-US" dirty="0" smtClean="0"/>
              <a:t>Ex: Web component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83568" y="908720"/>
            <a:ext cx="79208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@</a:t>
            </a:r>
            <a:r>
              <a:rPr lang="en-IN" sz="1600" dirty="0" err="1"/>
              <a:t>WebServlet</a:t>
            </a:r>
            <a:r>
              <a:rPr lang="en-IN" sz="1600" dirty="0"/>
              <a:t>("/greet")</a:t>
            </a:r>
          </a:p>
          <a:p>
            <a:r>
              <a:rPr lang="en-IN" sz="1600" dirty="0"/>
              <a:t>public class </a:t>
            </a:r>
            <a:r>
              <a:rPr lang="en-IN" sz="1600" dirty="0" err="1"/>
              <a:t>GreetingServlet</a:t>
            </a:r>
            <a:r>
              <a:rPr lang="en-IN" sz="1600" dirty="0"/>
              <a:t> extends </a:t>
            </a:r>
            <a:r>
              <a:rPr lang="en-IN" sz="1600" dirty="0" err="1"/>
              <a:t>HttpServlet</a:t>
            </a:r>
            <a:r>
              <a:rPr lang="en-IN" sz="1600" dirty="0"/>
              <a:t> {</a:t>
            </a:r>
          </a:p>
          <a:p>
            <a:r>
              <a:rPr lang="en-IN" sz="1600" dirty="0"/>
              <a:t>    public void </a:t>
            </a:r>
            <a:r>
              <a:rPr lang="en-IN" sz="1600" dirty="0" err="1"/>
              <a:t>doGet</a:t>
            </a:r>
            <a:r>
              <a:rPr lang="en-IN" sz="1600" dirty="0"/>
              <a:t>(</a:t>
            </a:r>
            <a:r>
              <a:rPr lang="en-IN" sz="1600" dirty="0" err="1"/>
              <a:t>HttpServletRequest</a:t>
            </a:r>
            <a:r>
              <a:rPr lang="en-IN" sz="1600" dirty="0"/>
              <a:t> </a:t>
            </a:r>
            <a:r>
              <a:rPr lang="en-IN" sz="1600" dirty="0" err="1"/>
              <a:t>req</a:t>
            </a:r>
            <a:r>
              <a:rPr lang="en-IN" sz="1600" dirty="0"/>
              <a:t>, </a:t>
            </a:r>
            <a:r>
              <a:rPr lang="en-IN" sz="1600" dirty="0" err="1"/>
              <a:t>HttpServletResponse</a:t>
            </a:r>
            <a:r>
              <a:rPr lang="en-IN" sz="1600" dirty="0"/>
              <a:t> res)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res.getWriter</a:t>
            </a:r>
            <a:r>
              <a:rPr lang="en-IN" sz="1600" dirty="0"/>
              <a:t>().</a:t>
            </a:r>
            <a:r>
              <a:rPr lang="en-IN" sz="1600" dirty="0" err="1"/>
              <a:t>println</a:t>
            </a:r>
            <a:r>
              <a:rPr lang="en-IN" sz="1600" dirty="0"/>
              <a:t>("Hello from a web component!");</a:t>
            </a:r>
          </a:p>
          <a:p>
            <a:r>
              <a:rPr lang="en-IN" sz="1600" dirty="0"/>
              <a:t>    }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8" y="2488676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servlet is a </a:t>
            </a:r>
            <a:r>
              <a:rPr lang="en-US" b="1" dirty="0"/>
              <a:t>web component</a:t>
            </a:r>
            <a:r>
              <a:rPr lang="en-US" dirty="0"/>
              <a:t>, managed by the </a:t>
            </a:r>
            <a:r>
              <a:rPr lang="en-US" b="1" dirty="0"/>
              <a:t>web container</a:t>
            </a:r>
            <a:r>
              <a:rPr lang="en-US" dirty="0"/>
              <a:t>, and handles HTTP requests.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59532" y="3212976"/>
            <a:ext cx="856895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 JAVA EE allows declarative programming.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9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Declarative programming</a:t>
            </a:r>
            <a:r>
              <a:rPr lang="en-US" dirty="0"/>
              <a:t> is a </a:t>
            </a:r>
            <a:r>
              <a:rPr lang="en-US" b="1" dirty="0"/>
              <a:t>programming paradigm</a:t>
            </a:r>
            <a:r>
              <a:rPr lang="en-US" dirty="0"/>
              <a:t> where you </a:t>
            </a:r>
            <a:r>
              <a:rPr lang="en-US" b="1" dirty="0"/>
              <a:t>describe </a:t>
            </a:r>
            <a:r>
              <a:rPr lang="en-US" b="1" i="1" dirty="0"/>
              <a:t>what</a:t>
            </a:r>
            <a:r>
              <a:rPr lang="en-US" b="1" dirty="0"/>
              <a:t> you want to do</a:t>
            </a:r>
            <a:r>
              <a:rPr lang="en-US" dirty="0"/>
              <a:t>, rather than </a:t>
            </a:r>
            <a:r>
              <a:rPr lang="en-US" b="1" dirty="0"/>
              <a:t>how</a:t>
            </a:r>
            <a:r>
              <a:rPr lang="en-US" dirty="0"/>
              <a:t> to do it (which is done in </a:t>
            </a:r>
            <a:r>
              <a:rPr lang="en-US" b="1" dirty="0"/>
              <a:t>imperative programming</a:t>
            </a:r>
            <a:r>
              <a:rPr lang="en-US" dirty="0" smtClean="0"/>
              <a:t>).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Ex: :</a:t>
            </a:r>
            <a:endParaRPr lang="en-US" b="1" dirty="0"/>
          </a:p>
          <a:p>
            <a:r>
              <a:rPr lang="en-US" b="1" dirty="0" smtClean="0"/>
              <a:t>           Imperative</a:t>
            </a:r>
            <a:r>
              <a:rPr lang="en-US" dirty="0"/>
              <a:t>: "Do this, then this, step-by-step."</a:t>
            </a:r>
          </a:p>
          <a:p>
            <a:r>
              <a:rPr lang="en-US" b="1" dirty="0" smtClean="0"/>
              <a:t>           Declarative</a:t>
            </a:r>
            <a:r>
              <a:rPr lang="en-US" dirty="0"/>
              <a:t>: "This is the outcome I want — system, handle the rest."</a:t>
            </a:r>
          </a:p>
          <a:p>
            <a:pPr lvl="1"/>
            <a:r>
              <a:rPr lang="en-US" dirty="0" smtClean="0"/>
              <a:t>	SELECT </a:t>
            </a:r>
            <a:r>
              <a:rPr lang="en-US" dirty="0"/>
              <a:t>name FROM students WHERE grade &gt; 90;</a:t>
            </a:r>
            <a:endParaRPr lang="en-US" dirty="0" smtClean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You say </a:t>
            </a:r>
            <a:r>
              <a:rPr lang="en-US" b="1" dirty="0"/>
              <a:t>what</a:t>
            </a:r>
            <a:r>
              <a:rPr lang="en-US" dirty="0"/>
              <a:t> you want — not how the database should loop or access records.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83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Container Types: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5616624" cy="5400600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n-IN" dirty="0" smtClean="0"/>
              <a:t>Web </a:t>
            </a:r>
            <a:r>
              <a:rPr lang="en-IN" dirty="0"/>
              <a:t>container— Allows you to execute all JSP pages and servlet components for a Java EE application. Web components and their containers run on the Java EE server</a:t>
            </a:r>
            <a:r>
              <a:rPr lang="en-IN" dirty="0" smtClean="0"/>
              <a:t>.</a:t>
            </a:r>
          </a:p>
          <a:p>
            <a:pPr marL="0" lvl="0" indent="0" algn="just">
              <a:buNone/>
            </a:pPr>
            <a:endParaRPr lang="en-IN" sz="1400" dirty="0" smtClean="0"/>
          </a:p>
          <a:p>
            <a:pPr algn="just"/>
            <a:r>
              <a:rPr lang="en-IN" dirty="0"/>
              <a:t>EJB container— Allows you to execute all enterprise beans for a Java EE application. Enterprise beans and their containers run on the Java EE server</a:t>
            </a:r>
            <a:r>
              <a:rPr lang="en-IN" dirty="0" smtClean="0"/>
              <a:t>.</a:t>
            </a:r>
          </a:p>
          <a:p>
            <a:pPr marL="0" indent="0" algn="just">
              <a:buNone/>
            </a:pPr>
            <a:endParaRPr lang="en-IN" sz="1600" dirty="0" smtClean="0"/>
          </a:p>
          <a:p>
            <a:pPr lvl="0" algn="just"/>
            <a:r>
              <a:rPr lang="en-IN" dirty="0"/>
              <a:t>Application client container—   Application clients and their containers run on the client machine and they will interact server side components from the client. </a:t>
            </a:r>
          </a:p>
          <a:p>
            <a:pPr marL="0" indent="0" algn="just">
              <a:buNone/>
            </a:pPr>
            <a:endParaRPr lang="en-IN" sz="1600" dirty="0" smtClean="0"/>
          </a:p>
          <a:p>
            <a:pPr algn="just"/>
            <a:r>
              <a:rPr lang="en-IN" dirty="0" smtClean="0"/>
              <a:t>Applet </a:t>
            </a:r>
            <a:r>
              <a:rPr lang="en-IN" dirty="0"/>
              <a:t>container— Allows you to execute an applet. The Applet container is a combination of the Web browser and Java </a:t>
            </a:r>
            <a:r>
              <a:rPr lang="en-IN" dirty="0" smtClean="0"/>
              <a:t>Plug-in, </a:t>
            </a:r>
            <a:r>
              <a:rPr lang="en-IN" dirty="0"/>
              <a:t>running together on the client machine</a:t>
            </a:r>
            <a:r>
              <a:rPr lang="en-IN" dirty="0" smtClean="0"/>
              <a:t>. </a:t>
            </a:r>
            <a:r>
              <a:rPr lang="en-IN" dirty="0" smtClean="0">
                <a:solidFill>
                  <a:srgbClr val="FF0000"/>
                </a:solidFill>
              </a:rPr>
              <a:t>[DEPRECATED]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 descr="Java EE Containers - The Java EE 5 Tutoria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764704"/>
            <a:ext cx="3096344" cy="3960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3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8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IN" i="1" dirty="0"/>
              <a:t>// In CustomerClient.java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javax.naming.InitialContext</a:t>
            </a:r>
            <a:r>
              <a:rPr lang="en-IN" dirty="0"/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com.example.CustomerService</a:t>
            </a:r>
            <a:r>
              <a:rPr lang="en-IN" dirty="0"/>
              <a:t>; </a:t>
            </a:r>
            <a:r>
              <a:rPr lang="en-IN" i="1" dirty="0"/>
              <a:t>// Remote interface of the EJB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CustomerClient</a:t>
            </a:r>
            <a:r>
              <a:rPr lang="en-IN" dirty="0"/>
              <a:t> {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throws Exception {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I	</a:t>
            </a:r>
            <a:r>
              <a:rPr lang="en-IN" dirty="0" err="1" smtClean="0"/>
              <a:t>nitialContext</a:t>
            </a:r>
            <a:r>
              <a:rPr lang="en-IN" dirty="0" smtClean="0"/>
              <a:t> </a:t>
            </a:r>
            <a:r>
              <a:rPr lang="en-IN" dirty="0" err="1"/>
              <a:t>ic</a:t>
            </a:r>
            <a:r>
              <a:rPr lang="en-IN" dirty="0"/>
              <a:t> = new </a:t>
            </a:r>
            <a:r>
              <a:rPr lang="en-IN" dirty="0" err="1"/>
              <a:t>InitialContext</a:t>
            </a:r>
            <a:r>
              <a:rPr lang="en-IN" dirty="0"/>
              <a:t>();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i="1" dirty="0" smtClean="0"/>
              <a:t>// </a:t>
            </a:r>
            <a:r>
              <a:rPr lang="en-IN" i="1" dirty="0"/>
              <a:t>Look up the remote EJB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dirty="0" err="1" smtClean="0"/>
              <a:t>CustomerService</a:t>
            </a:r>
            <a:r>
              <a:rPr lang="en-IN" dirty="0" smtClean="0"/>
              <a:t> </a:t>
            </a:r>
            <a:r>
              <a:rPr lang="en-IN" dirty="0" err="1"/>
              <a:t>customerService</a:t>
            </a:r>
            <a:r>
              <a:rPr lang="en-IN" dirty="0"/>
              <a:t> = (</a:t>
            </a:r>
            <a:r>
              <a:rPr lang="en-IN" dirty="0" err="1"/>
              <a:t>CustomerService</a:t>
            </a:r>
            <a:r>
              <a:rPr lang="en-IN" dirty="0"/>
              <a:t>) </a:t>
            </a:r>
            <a:r>
              <a:rPr lang="en-IN" dirty="0" smtClean="0"/>
              <a:t>	</a:t>
            </a:r>
            <a:r>
              <a:rPr lang="en-IN" dirty="0" err="1" smtClean="0"/>
              <a:t>ic.lookup</a:t>
            </a:r>
            <a:r>
              <a:rPr lang="en-IN" dirty="0"/>
              <a:t>("</a:t>
            </a:r>
            <a:r>
              <a:rPr lang="en-IN" dirty="0" err="1"/>
              <a:t>java:global</a:t>
            </a:r>
            <a:r>
              <a:rPr lang="en-IN" dirty="0"/>
              <a:t>/</a:t>
            </a:r>
            <a:r>
              <a:rPr lang="en-IN" dirty="0" err="1"/>
              <a:t>YourApp</a:t>
            </a:r>
            <a:r>
              <a:rPr lang="en-IN" dirty="0"/>
              <a:t>/</a:t>
            </a:r>
            <a:r>
              <a:rPr lang="en-IN" dirty="0" err="1"/>
              <a:t>CustomerServiceBean!com.example</a:t>
            </a:r>
            <a:r>
              <a:rPr lang="en-IN" dirty="0" smtClean="0"/>
              <a:t>.	</a:t>
            </a:r>
            <a:r>
              <a:rPr lang="en-IN" dirty="0" err="1" smtClean="0"/>
              <a:t>CustomerService</a:t>
            </a:r>
            <a:r>
              <a:rPr lang="en-IN" dirty="0"/>
              <a:t>");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i="1" dirty="0" smtClean="0"/>
              <a:t>// </a:t>
            </a:r>
            <a:r>
              <a:rPr lang="en-IN" i="1" dirty="0"/>
              <a:t>Invoke a method on the EJB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dirty="0" err="1" smtClean="0"/>
              <a:t>customerService.addCustomer</a:t>
            </a:r>
            <a:r>
              <a:rPr lang="en-IN" dirty="0"/>
              <a:t>("John Doe");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dirty="0" err="1" smtClean="0"/>
              <a:t>System.out.println</a:t>
            </a:r>
            <a:r>
              <a:rPr lang="en-IN" dirty="0"/>
              <a:t>("Customer added.");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}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}</a:t>
            </a: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55576" y="4837034"/>
            <a:ext cx="7992888" cy="15131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The container handles: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JNDI Lookup: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 Allowing the client to find the remote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effectLst/>
                <a:latin typeface="Courier New" pitchFamily="49" charset="0"/>
                <a:cs typeface="Courier New" pitchFamily="49" charset="0"/>
              </a:rPr>
              <a:t>CustomerServiceBean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 using JNDI.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Remote Method Invocation (RMI):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 Facilitating the communication between the client and the EJB on the server.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Resource Management: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effectLst/>
                <a:latin typeface="Google Sans"/>
                <a:cs typeface="Arial" pitchFamily="34" charset="0"/>
              </a:rPr>
              <a:t> Potentially managing connections and other resources needed by the client.</a:t>
            </a:r>
          </a:p>
        </p:txBody>
      </p:sp>
    </p:spTree>
    <p:extLst>
      <p:ext uri="{BB962C8B-B14F-4D97-AF65-F5344CB8AC3E}">
        <p14:creationId xmlns:p14="http://schemas.microsoft.com/office/powerpoint/2010/main" val="375617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EE6 Container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 itself is divided into </a:t>
            </a:r>
            <a:r>
              <a:rPr lang="en-US" dirty="0" smtClean="0"/>
              <a:t>four parts:</a:t>
            </a:r>
          </a:p>
          <a:p>
            <a:pPr lvl="1"/>
            <a:r>
              <a:rPr lang="en-US" dirty="0" smtClean="0"/>
              <a:t>Component </a:t>
            </a:r>
            <a:r>
              <a:rPr lang="en-US" dirty="0"/>
              <a:t>contract, </a:t>
            </a:r>
            <a:endParaRPr lang="en-US" dirty="0" smtClean="0"/>
          </a:p>
          <a:p>
            <a:pPr lvl="1"/>
            <a:r>
              <a:rPr lang="en-US" dirty="0" smtClean="0"/>
              <a:t>Container </a:t>
            </a:r>
            <a:r>
              <a:rPr lang="en-US" dirty="0"/>
              <a:t>service APIs, </a:t>
            </a:r>
            <a:endParaRPr lang="en-US" dirty="0" smtClean="0"/>
          </a:p>
          <a:p>
            <a:pPr lvl="1"/>
            <a:r>
              <a:rPr lang="en-US" dirty="0" smtClean="0"/>
              <a:t>Declarative services</a:t>
            </a:r>
          </a:p>
          <a:p>
            <a:pPr lvl="1"/>
            <a:r>
              <a:rPr lang="en-US" dirty="0" smtClean="0"/>
              <a:t>Other container services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73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Component Contract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Component contracts are rules, which application components must extend or implement. </a:t>
            </a:r>
          </a:p>
          <a:p>
            <a:pPr lvl="2"/>
            <a:r>
              <a:rPr lang="en-US" dirty="0" smtClean="0"/>
              <a:t>Ex: Java Thread is required to extend the Thread class or Implements Runnable interface. </a:t>
            </a:r>
          </a:p>
          <a:p>
            <a:pPr lvl="2"/>
            <a:r>
              <a:rPr lang="en-US" dirty="0" smtClean="0"/>
              <a:t>If thread application does not use above, the JVM can not call the life cycle methods of thread. </a:t>
            </a:r>
            <a:endParaRPr lang="en-US" dirty="0"/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96599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640960" cy="56166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Container Service </a:t>
            </a:r>
            <a:r>
              <a:rPr lang="en-US" dirty="0" smtClean="0"/>
              <a:t>APIs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Container Service API</a:t>
            </a:r>
            <a:r>
              <a:rPr lang="en-US" dirty="0"/>
              <a:t> is a set of </a:t>
            </a:r>
            <a:r>
              <a:rPr lang="en-US" b="1" dirty="0"/>
              <a:t>Java EE interfaces and classes</a:t>
            </a:r>
            <a:r>
              <a:rPr lang="en-US" dirty="0"/>
              <a:t> provided by the </a:t>
            </a:r>
            <a:r>
              <a:rPr lang="en-US" b="1" dirty="0"/>
              <a:t>container</a:t>
            </a:r>
            <a:r>
              <a:rPr lang="en-US" dirty="0"/>
              <a:t> that lets your component </a:t>
            </a:r>
            <a:r>
              <a:rPr lang="en-US" b="1" dirty="0"/>
              <a:t>access services</a:t>
            </a:r>
            <a:r>
              <a:rPr lang="en-US" dirty="0"/>
              <a:t> like:</a:t>
            </a:r>
          </a:p>
          <a:p>
            <a:pPr lvl="2"/>
            <a:r>
              <a:rPr lang="en-US" dirty="0"/>
              <a:t>Transactions</a:t>
            </a:r>
          </a:p>
          <a:p>
            <a:pPr lvl="2"/>
            <a:r>
              <a:rPr lang="en-US" dirty="0" smtClean="0"/>
              <a:t>Security</a:t>
            </a:r>
          </a:p>
          <a:p>
            <a:pPr lvl="2"/>
            <a:r>
              <a:rPr lang="en-US" dirty="0" smtClean="0"/>
              <a:t>Messaging</a:t>
            </a:r>
            <a:endParaRPr lang="en-US" dirty="0"/>
          </a:p>
          <a:p>
            <a:pPr lvl="2"/>
            <a:r>
              <a:rPr lang="en-US" dirty="0"/>
              <a:t>Dependency Injection</a:t>
            </a:r>
          </a:p>
          <a:p>
            <a:pPr lvl="2"/>
            <a:r>
              <a:rPr lang="en-US" dirty="0"/>
              <a:t>Web services, etc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Imagine </a:t>
            </a:r>
            <a:r>
              <a:rPr lang="en-US" dirty="0"/>
              <a:t>you're living in an apartment (</a:t>
            </a:r>
            <a:r>
              <a:rPr lang="en-US" b="1" dirty="0"/>
              <a:t>component</a:t>
            </a:r>
            <a:r>
              <a:rPr lang="en-US" dirty="0"/>
              <a:t>) inside a housing society (</a:t>
            </a:r>
            <a:r>
              <a:rPr lang="en-US" b="1" dirty="0"/>
              <a:t>container</a:t>
            </a:r>
            <a:r>
              <a:rPr lang="en-US" dirty="0"/>
              <a:t>). You don’t build your own </a:t>
            </a:r>
            <a:r>
              <a:rPr lang="en-US" b="1" dirty="0"/>
              <a:t>electricity, plumbing, or security</a:t>
            </a:r>
            <a:r>
              <a:rPr lang="en-US" dirty="0"/>
              <a:t> — the society provides them.</a:t>
            </a:r>
            <a:br>
              <a:rPr lang="en-US" dirty="0"/>
            </a:br>
            <a:r>
              <a:rPr lang="en-US" dirty="0"/>
              <a:t>Those facilities = </a:t>
            </a:r>
            <a:r>
              <a:rPr lang="en-US" b="1" dirty="0"/>
              <a:t>Container Services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How you access them = </a:t>
            </a:r>
            <a:r>
              <a:rPr lang="en-US" b="1" dirty="0"/>
              <a:t>Container Service APIs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437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Declarative Services</a:t>
            </a:r>
          </a:p>
          <a:p>
            <a:pPr lvl="1"/>
            <a:r>
              <a:rPr lang="en-US" b="1" dirty="0" smtClean="0"/>
              <a:t> </a:t>
            </a:r>
            <a:r>
              <a:rPr lang="en-US" sz="2200" dirty="0" smtClean="0"/>
              <a:t>Instead </a:t>
            </a:r>
            <a:r>
              <a:rPr lang="en-US" sz="2200" dirty="0"/>
              <a:t>of writing code, the component </a:t>
            </a:r>
            <a:r>
              <a:rPr lang="en-US" sz="2200" b="1" dirty="0"/>
              <a:t>declares services it wants</a:t>
            </a:r>
            <a:r>
              <a:rPr lang="en-US" sz="2200" dirty="0"/>
              <a:t>, such as:</a:t>
            </a:r>
          </a:p>
          <a:p>
            <a:pPr lvl="2"/>
            <a:r>
              <a:rPr lang="en-US" sz="1800" dirty="0"/>
              <a:t>Security (@</a:t>
            </a:r>
            <a:r>
              <a:rPr lang="en-US" sz="1800" dirty="0" err="1"/>
              <a:t>RolesAllowed</a:t>
            </a:r>
            <a:r>
              <a:rPr lang="en-US" sz="1800" dirty="0"/>
              <a:t>)</a:t>
            </a:r>
          </a:p>
          <a:p>
            <a:pPr lvl="2"/>
            <a:r>
              <a:rPr lang="en-US" sz="1800" dirty="0"/>
              <a:t>Transactions (@</a:t>
            </a:r>
            <a:r>
              <a:rPr lang="en-US" sz="1800" dirty="0" err="1"/>
              <a:t>TransactionAttribute</a:t>
            </a:r>
            <a:r>
              <a:rPr lang="en-US" sz="1800" dirty="0"/>
              <a:t>)</a:t>
            </a:r>
          </a:p>
          <a:p>
            <a:pPr lvl="2"/>
            <a:r>
              <a:rPr lang="en-US" sz="1800" dirty="0"/>
              <a:t>Resource injection (@Resource, @EJB)</a:t>
            </a:r>
          </a:p>
          <a:p>
            <a:pPr lvl="1"/>
            <a:r>
              <a:rPr lang="en-US" sz="2200" dirty="0"/>
              <a:t>These are declared using </a:t>
            </a:r>
            <a:r>
              <a:rPr lang="en-US" sz="2200" b="1" dirty="0"/>
              <a:t>annotations</a:t>
            </a:r>
            <a:r>
              <a:rPr lang="en-US" sz="2200" dirty="0"/>
              <a:t> or </a:t>
            </a:r>
            <a:r>
              <a:rPr lang="en-US" sz="2200" b="1" dirty="0"/>
              <a:t>XML</a:t>
            </a:r>
            <a:r>
              <a:rPr lang="en-US" sz="2200" dirty="0"/>
              <a:t> deployment descriptors.</a:t>
            </a:r>
          </a:p>
          <a:p>
            <a:pPr lvl="1"/>
            <a:r>
              <a:rPr lang="en-US" sz="2200" dirty="0"/>
              <a:t>The container interprets and applies these at runtime.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404099"/>
              </p:ext>
            </p:extLst>
          </p:nvPr>
        </p:nvGraphicFramePr>
        <p:xfrm>
          <a:off x="539552" y="3933056"/>
          <a:ext cx="8229600" cy="2286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Manual Coding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Declarative (Automatic via Annotation</a:t>
                      </a:r>
                      <a:r>
                        <a:rPr lang="en-IN" b="1" dirty="0" smtClean="0"/>
                        <a:t>/ XML</a:t>
                      </a:r>
                      <a:r>
                        <a:rPr lang="en-IN" b="1" dirty="0"/>
                        <a:t>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You write code to control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declare behavior and let the container handle it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tx.begin(); tx.commit();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@TransactionAttribute(TransactionAttributeType.REQUIRED)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connection = </a:t>
                      </a:r>
                      <a:r>
                        <a:rPr lang="en-IN" dirty="0" err="1"/>
                        <a:t>datasource.getConnection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@Resource </a:t>
                      </a:r>
                      <a:r>
                        <a:rPr lang="en-IN" dirty="0" err="1"/>
                        <a:t>DataSource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datasource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117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236739"/>
              </p:ext>
            </p:extLst>
          </p:nvPr>
        </p:nvGraphicFramePr>
        <p:xfrm>
          <a:off x="683568" y="1052736"/>
          <a:ext cx="7833396" cy="330743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11132"/>
                <a:gridCol w="2611132"/>
                <a:gridCol w="2611132"/>
              </a:tblGrid>
              <a:tr h="348151">
                <a:tc>
                  <a:txBody>
                    <a:bodyPr/>
                    <a:lstStyle/>
                    <a:p>
                      <a:r>
                        <a:rPr lang="en-IN" sz="1700" dirty="0"/>
                        <a:t>Service Type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Annotation or XML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What It Does</a:t>
                      </a:r>
                    </a:p>
                  </a:txBody>
                  <a:tcPr marL="87038" marR="87038" marT="43519" marB="43519" anchor="ctr"/>
                </a:tc>
              </a:tr>
              <a:tr h="870377">
                <a:tc>
                  <a:txBody>
                    <a:bodyPr/>
                    <a:lstStyle/>
                    <a:p>
                      <a:r>
                        <a:rPr lang="en-IN" sz="1700"/>
                        <a:t>Security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@RolesAllowed("Admin")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Only allows users with role "Admin" to access the method</a:t>
                      </a:r>
                    </a:p>
                  </a:txBody>
                  <a:tcPr marL="87038" marR="87038" marT="43519" marB="43519" anchor="ctr"/>
                </a:tc>
              </a:tr>
              <a:tr h="870377">
                <a:tc>
                  <a:txBody>
                    <a:bodyPr/>
                    <a:lstStyle/>
                    <a:p>
                      <a:r>
                        <a:rPr lang="en-IN" sz="1700"/>
                        <a:t>Transactions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@TransactionAttribute(TransactionAttributeType.REQUIRED)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Tells the container to manage transactions</a:t>
                      </a:r>
                    </a:p>
                  </a:txBody>
                  <a:tcPr marL="87038" marR="87038" marT="43519" marB="43519" anchor="ctr"/>
                </a:tc>
              </a:tr>
              <a:tr h="609264">
                <a:tc>
                  <a:txBody>
                    <a:bodyPr/>
                    <a:lstStyle/>
                    <a:p>
                      <a:r>
                        <a:rPr lang="en-IN" sz="1700" dirty="0"/>
                        <a:t>Resource Injection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@Resource(name="jdbc/MyDB")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Tells container to inject a DataSource</a:t>
                      </a:r>
                    </a:p>
                  </a:txBody>
                  <a:tcPr marL="87038" marR="87038" marT="43519" marB="43519" anchor="ctr"/>
                </a:tc>
              </a:tr>
              <a:tr h="609264">
                <a:tc>
                  <a:txBody>
                    <a:bodyPr/>
                    <a:lstStyle/>
                    <a:p>
                      <a:r>
                        <a:rPr lang="en-IN" sz="1700" dirty="0"/>
                        <a:t>EJB Access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@EJB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Injects a reference to an enterprise bean</a:t>
                      </a:r>
                    </a:p>
                  </a:txBody>
                  <a:tcPr marL="87038" marR="87038" marT="43519" marB="4351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764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 smtClean="0"/>
              <a:t>Example:</a:t>
            </a:r>
          </a:p>
          <a:p>
            <a:pPr marL="0" indent="0">
              <a:buNone/>
            </a:pPr>
            <a:r>
              <a:rPr lang="en-IN" sz="1600" dirty="0" smtClean="0"/>
              <a:t>@</a:t>
            </a:r>
            <a:r>
              <a:rPr lang="en-IN" sz="1600" dirty="0" err="1" smtClean="0"/>
              <a:t>WebServlet</a:t>
            </a:r>
            <a:r>
              <a:rPr lang="en-IN" sz="1600" dirty="0"/>
              <a:t>("/hello")</a:t>
            </a:r>
          </a:p>
          <a:p>
            <a:pPr marL="0" indent="0">
              <a:buNone/>
            </a:pPr>
            <a:r>
              <a:rPr lang="en-IN" sz="1600" dirty="0"/>
              <a:t>public class </a:t>
            </a:r>
            <a:r>
              <a:rPr lang="en-IN" sz="1600" dirty="0" err="1"/>
              <a:t>HelloServlet</a:t>
            </a:r>
            <a:r>
              <a:rPr lang="en-IN" sz="1600" dirty="0"/>
              <a:t> extends </a:t>
            </a:r>
            <a:r>
              <a:rPr lang="en-IN" sz="1600" dirty="0" err="1"/>
              <a:t>HttpServlet</a:t>
            </a:r>
            <a:r>
              <a:rPr lang="en-IN" sz="1600" dirty="0"/>
              <a:t> {</a:t>
            </a:r>
          </a:p>
          <a:p>
            <a:pPr marL="0" indent="0">
              <a:buNone/>
            </a:pPr>
            <a:endParaRPr lang="en-IN" sz="400" dirty="0"/>
          </a:p>
          <a:p>
            <a:pPr marL="0" indent="0">
              <a:buNone/>
            </a:pPr>
            <a:r>
              <a:rPr lang="en-IN" sz="1600" dirty="0"/>
              <a:t>    @Resource(name = "</a:t>
            </a:r>
            <a:r>
              <a:rPr lang="en-IN" sz="1600" dirty="0" err="1"/>
              <a:t>jdbc</a:t>
            </a:r>
            <a:r>
              <a:rPr lang="en-IN" sz="1600" dirty="0"/>
              <a:t>/</a:t>
            </a:r>
            <a:r>
              <a:rPr lang="en-IN" sz="1600" dirty="0" err="1"/>
              <a:t>MyDataSource</a:t>
            </a:r>
            <a:r>
              <a:rPr lang="en-IN" sz="1600" dirty="0"/>
              <a:t>")</a:t>
            </a:r>
          </a:p>
          <a:p>
            <a:pPr marL="0" indent="0">
              <a:buNone/>
            </a:pPr>
            <a:r>
              <a:rPr lang="en-IN" sz="1600" dirty="0"/>
              <a:t>    private </a:t>
            </a:r>
            <a:r>
              <a:rPr lang="en-IN" sz="1600" dirty="0" err="1"/>
              <a:t>DataSource</a:t>
            </a:r>
            <a:r>
              <a:rPr lang="en-IN" sz="1600" dirty="0"/>
              <a:t> </a:t>
            </a:r>
            <a:r>
              <a:rPr lang="en-IN" sz="1600" dirty="0" err="1"/>
              <a:t>dataSource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endParaRPr lang="en-IN" sz="700" dirty="0"/>
          </a:p>
          <a:p>
            <a:pPr marL="0" indent="0">
              <a:buNone/>
            </a:pPr>
            <a:r>
              <a:rPr lang="en-IN" sz="1600" dirty="0"/>
              <a:t>    protected void </a:t>
            </a:r>
            <a:r>
              <a:rPr lang="en-IN" sz="1600" dirty="0" err="1"/>
              <a:t>doGet</a:t>
            </a:r>
            <a:r>
              <a:rPr lang="en-IN" sz="1600" dirty="0"/>
              <a:t>(</a:t>
            </a:r>
            <a:r>
              <a:rPr lang="en-IN" sz="1600" dirty="0" err="1"/>
              <a:t>HttpServletRequest</a:t>
            </a:r>
            <a:r>
              <a:rPr lang="en-IN" sz="1600" dirty="0"/>
              <a:t> request, </a:t>
            </a:r>
            <a:r>
              <a:rPr lang="en-IN" sz="1600" dirty="0" err="1"/>
              <a:t>HttpServletResponse</a:t>
            </a:r>
            <a:r>
              <a:rPr lang="en-IN" sz="1600" dirty="0"/>
              <a:t> response</a:t>
            </a:r>
            <a:r>
              <a:rPr lang="en-IN" sz="1600" dirty="0" smtClean="0"/>
              <a:t>) throws </a:t>
            </a:r>
            <a:r>
              <a:rPr lang="en-IN" sz="1600" dirty="0" err="1"/>
              <a:t>IOException</a:t>
            </a:r>
            <a:r>
              <a:rPr lang="en-IN" sz="1600" dirty="0"/>
              <a:t>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response.getWriter</a:t>
            </a:r>
            <a:r>
              <a:rPr lang="en-IN" sz="1600" dirty="0"/>
              <a:t>().</a:t>
            </a:r>
            <a:r>
              <a:rPr lang="en-IN" sz="1600" dirty="0" err="1"/>
              <a:t>println</a:t>
            </a:r>
            <a:r>
              <a:rPr lang="en-IN" sz="1600" dirty="0"/>
              <a:t>("Hello from Servlet!");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endParaRPr lang="en-IN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81239"/>
              </p:ext>
            </p:extLst>
          </p:nvPr>
        </p:nvGraphicFramePr>
        <p:xfrm>
          <a:off x="899592" y="3284984"/>
          <a:ext cx="7499176" cy="265234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80320"/>
                <a:gridCol w="4618856"/>
              </a:tblGrid>
              <a:tr h="221744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How It Appears in the Example</a:t>
                      </a:r>
                    </a:p>
                  </a:txBody>
                  <a:tcPr anchor="ctr"/>
                </a:tc>
              </a:tr>
              <a:tr h="388052">
                <a:tc>
                  <a:txBody>
                    <a:bodyPr/>
                    <a:lstStyle/>
                    <a:p>
                      <a:r>
                        <a:rPr lang="en-IN" sz="1400" dirty="0"/>
                        <a:t>1. Component 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extends HttpServlet ⇒ This is the contract that all servlets must follow.</a:t>
                      </a:r>
                    </a:p>
                  </a:txBody>
                  <a:tcPr anchor="ctr"/>
                </a:tc>
              </a:tr>
              <a:tr h="554360">
                <a:tc>
                  <a:txBody>
                    <a:bodyPr/>
                    <a:lstStyle/>
                    <a:p>
                      <a:r>
                        <a:rPr lang="en-IN" sz="1400" dirty="0"/>
                        <a:t>2. Container Services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HttpServletRequest, HttpServletResponse, DataSource ⇒ Provided by the web container.</a:t>
                      </a:r>
                    </a:p>
                  </a:txBody>
                  <a:tcPr anchor="ctr"/>
                </a:tc>
              </a:tr>
              <a:tr h="720668">
                <a:tc>
                  <a:txBody>
                    <a:bodyPr/>
                    <a:lstStyle/>
                    <a:p>
                      <a:r>
                        <a:rPr lang="en-IN" sz="1400" dirty="0"/>
                        <a:t>3. Declarative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@</a:t>
                      </a:r>
                      <a:r>
                        <a:rPr lang="en-US" sz="1400" dirty="0" err="1"/>
                        <a:t>WebServlet</a:t>
                      </a:r>
                      <a:r>
                        <a:rPr lang="en-US" sz="1400" dirty="0"/>
                        <a:t>("/hello"), @Resource(name = "</a:t>
                      </a:r>
                      <a:r>
                        <a:rPr lang="en-US" sz="1400" dirty="0" err="1"/>
                        <a:t>jdbc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MyDataSource</a:t>
                      </a:r>
                      <a:r>
                        <a:rPr lang="en-US" sz="1400" dirty="0"/>
                        <a:t>") ⇒ Declared using annotations.</a:t>
                      </a:r>
                    </a:p>
                  </a:txBody>
                  <a:tcPr anchor="ctr"/>
                </a:tc>
              </a:tr>
              <a:tr h="554360">
                <a:tc>
                  <a:txBody>
                    <a:bodyPr/>
                    <a:lstStyle/>
                    <a:p>
                      <a:r>
                        <a:rPr lang="en-IN" sz="1400" dirty="0"/>
                        <a:t>4. Container Provider </a:t>
                      </a:r>
                      <a:r>
                        <a:rPr lang="en-IN" sz="1400" dirty="0" smtClean="0"/>
                        <a:t>Implementation {Othe</a:t>
                      </a:r>
                      <a:r>
                        <a:rPr lang="en-IN" sz="1400" baseline="0" dirty="0" smtClean="0"/>
                        <a:t>r services}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GlassFish</a:t>
                      </a:r>
                      <a:r>
                        <a:rPr lang="en-US" sz="1400" dirty="0"/>
                        <a:t>, Tomcat, </a:t>
                      </a:r>
                      <a:r>
                        <a:rPr lang="en-US" sz="1400" dirty="0" err="1"/>
                        <a:t>WildFly</a:t>
                      </a:r>
                      <a:r>
                        <a:rPr lang="en-US" sz="1400" dirty="0"/>
                        <a:t>, etc., run this servlet and provide actual logic for HTTP handling, DI, etc.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093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76672"/>
            <a:ext cx="8496944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</a:t>
            </a:r>
            <a:r>
              <a:rPr lang="en-US" dirty="0" smtClean="0"/>
              <a:t>: web.xml</a:t>
            </a:r>
          </a:p>
          <a:p>
            <a:pPr marL="800100" lvl="2" indent="0">
              <a:buNone/>
            </a:pPr>
            <a:r>
              <a:rPr lang="en-US" dirty="0"/>
              <a:t>&lt;</a:t>
            </a:r>
            <a:r>
              <a:rPr lang="en-US" dirty="0" smtClean="0"/>
              <a:t>web-app &gt;</a:t>
            </a:r>
            <a:endParaRPr lang="en-US" dirty="0"/>
          </a:p>
          <a:p>
            <a:pPr marL="800100" lvl="2" indent="0">
              <a:buNone/>
            </a:pPr>
            <a:r>
              <a:rPr lang="en-US" dirty="0"/>
              <a:t>    &lt;servlet&gt;</a:t>
            </a:r>
          </a:p>
          <a:p>
            <a:pPr marL="800100" lvl="2" indent="0">
              <a:buNone/>
            </a:pPr>
            <a:r>
              <a:rPr lang="en-US" dirty="0"/>
              <a:t>        &lt;servlet-name&gt;</a:t>
            </a:r>
            <a:r>
              <a:rPr lang="en-US" dirty="0" err="1"/>
              <a:t>HelloServlet</a:t>
            </a:r>
            <a:r>
              <a:rPr lang="en-US" dirty="0"/>
              <a:t>&lt;/servlet-name&gt;</a:t>
            </a:r>
          </a:p>
          <a:p>
            <a:pPr marL="800100" lvl="2" indent="0">
              <a:buNone/>
            </a:pPr>
            <a:r>
              <a:rPr lang="en-US" dirty="0"/>
              <a:t>        &lt;</a:t>
            </a:r>
            <a:r>
              <a:rPr lang="en-US" dirty="0" smtClean="0"/>
              <a:t>servlet-class&gt;</a:t>
            </a:r>
            <a:r>
              <a:rPr lang="en-US" dirty="0" err="1" smtClean="0"/>
              <a:t>HelloServletClass</a:t>
            </a:r>
            <a:r>
              <a:rPr lang="en-US" dirty="0" smtClean="0"/>
              <a:t>&lt;/</a:t>
            </a:r>
            <a:r>
              <a:rPr lang="en-US" dirty="0"/>
              <a:t>servlet-class&gt;</a:t>
            </a:r>
          </a:p>
          <a:p>
            <a:pPr marL="800100" lvl="2" indent="0">
              <a:buNone/>
            </a:pPr>
            <a:r>
              <a:rPr lang="en-US" dirty="0"/>
              <a:t>    &lt;/servlet&gt;</a:t>
            </a:r>
          </a:p>
          <a:p>
            <a:pPr marL="800100" lvl="2" indent="0">
              <a:buNone/>
            </a:pPr>
            <a:r>
              <a:rPr lang="en-US" dirty="0"/>
              <a:t>    &lt;servlet-mapping&gt;</a:t>
            </a:r>
          </a:p>
          <a:p>
            <a:pPr marL="800100" lvl="2" indent="0">
              <a:buNone/>
            </a:pPr>
            <a:r>
              <a:rPr lang="en-US" dirty="0"/>
              <a:t>        &lt;</a:t>
            </a:r>
            <a:r>
              <a:rPr lang="en-US" dirty="0" smtClean="0"/>
              <a:t>servlet-name&gt;</a:t>
            </a:r>
            <a:r>
              <a:rPr lang="en-US" dirty="0" err="1" smtClean="0"/>
              <a:t>HelloServletClass</a:t>
            </a:r>
            <a:r>
              <a:rPr lang="en-US" dirty="0" smtClean="0"/>
              <a:t>&lt;/</a:t>
            </a:r>
            <a:r>
              <a:rPr lang="en-US" dirty="0"/>
              <a:t>servlet-name&gt;</a:t>
            </a:r>
          </a:p>
          <a:p>
            <a:pPr marL="800100" lvl="2" indent="0">
              <a:buNone/>
            </a:pPr>
            <a:r>
              <a:rPr lang="en-US" dirty="0"/>
              <a:t>        &lt;</a:t>
            </a:r>
            <a:r>
              <a:rPr lang="en-US" dirty="0" err="1"/>
              <a:t>url</a:t>
            </a:r>
            <a:r>
              <a:rPr lang="en-US" dirty="0"/>
              <a:t>-pattern&gt;/hello&lt;/</a:t>
            </a:r>
            <a:r>
              <a:rPr lang="en-US" dirty="0" err="1"/>
              <a:t>url</a:t>
            </a:r>
            <a:r>
              <a:rPr lang="en-US" dirty="0"/>
              <a:t>-pattern&gt;</a:t>
            </a:r>
          </a:p>
          <a:p>
            <a:pPr marL="800100" lvl="2" indent="0">
              <a:buNone/>
            </a:pPr>
            <a:r>
              <a:rPr lang="en-US" dirty="0"/>
              <a:t>    &lt;/servlet-mapping&gt;</a:t>
            </a:r>
          </a:p>
          <a:p>
            <a:pPr marL="800100" lvl="2" indent="0">
              <a:buNone/>
            </a:pPr>
            <a:r>
              <a:rPr lang="en-US" dirty="0"/>
              <a:t>&lt;/web-app&gt;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00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1772</Words>
  <Application>Microsoft Office PowerPoint</Application>
  <PresentationFormat>On-screen Show (4:3)</PresentationFormat>
  <Paragraphs>205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UNIT 2</vt:lpstr>
      <vt:lpstr>UNIT 2</vt:lpstr>
      <vt:lpstr>Enterprise Architecture</vt:lpstr>
      <vt:lpstr>PowerPoint Presentation</vt:lpstr>
      <vt:lpstr>Exploring Enterprise Architecture Types</vt:lpstr>
      <vt:lpstr>PowerPoint Presentation</vt:lpstr>
      <vt:lpstr>PowerPoint Presentation</vt:lpstr>
      <vt:lpstr>PowerPoint Presentation</vt:lpstr>
      <vt:lpstr>How does a 3-tier application architecture work?</vt:lpstr>
      <vt:lpstr>PowerPoint Presentation</vt:lpstr>
      <vt:lpstr>PowerPoint Presentation</vt:lpstr>
      <vt:lpstr>PowerPoint Presentation</vt:lpstr>
      <vt:lpstr>Summary</vt:lpstr>
      <vt:lpstr>Objectives of Enterprise applications:</vt:lpstr>
      <vt:lpstr>PowerPoint Presentation</vt:lpstr>
      <vt:lpstr>Describing JAVA EE6 Containers</vt:lpstr>
      <vt:lpstr>PowerPoint Presentation</vt:lpstr>
      <vt:lpstr>Container Types:</vt:lpstr>
      <vt:lpstr>PowerPoint Presentation</vt:lpstr>
      <vt:lpstr>JAVA EE6 Container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</dc:title>
  <dc:creator>Admin</dc:creator>
  <cp:lastModifiedBy>Admin</cp:lastModifiedBy>
  <cp:revision>37</cp:revision>
  <dcterms:created xsi:type="dcterms:W3CDTF">2025-07-31T23:31:56Z</dcterms:created>
  <dcterms:modified xsi:type="dcterms:W3CDTF">2025-08-06T05:27:15Z</dcterms:modified>
</cp:coreProperties>
</file>