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92"/>
  </p:notesMasterIdLst>
  <p:sldIdLst>
    <p:sldId id="256" r:id="rId2"/>
    <p:sldId id="257" r:id="rId3"/>
    <p:sldId id="258" r:id="rId4"/>
    <p:sldId id="259" r:id="rId5"/>
    <p:sldId id="260" r:id="rId6"/>
    <p:sldId id="261" r:id="rId7"/>
    <p:sldId id="262" r:id="rId8"/>
    <p:sldId id="264" r:id="rId9"/>
    <p:sldId id="266" r:id="rId10"/>
    <p:sldId id="267" r:id="rId11"/>
    <p:sldId id="265" r:id="rId12"/>
    <p:sldId id="277" r:id="rId13"/>
    <p:sldId id="278" r:id="rId14"/>
    <p:sldId id="279" r:id="rId15"/>
    <p:sldId id="280" r:id="rId16"/>
    <p:sldId id="268" r:id="rId17"/>
    <p:sldId id="269" r:id="rId18"/>
    <p:sldId id="270" r:id="rId19"/>
    <p:sldId id="271" r:id="rId20"/>
    <p:sldId id="272" r:id="rId21"/>
    <p:sldId id="273" r:id="rId22"/>
    <p:sldId id="274" r:id="rId23"/>
    <p:sldId id="275" r:id="rId24"/>
    <p:sldId id="276" r:id="rId25"/>
    <p:sldId id="307" r:id="rId26"/>
    <p:sldId id="300" r:id="rId27"/>
    <p:sldId id="301" r:id="rId28"/>
    <p:sldId id="302" r:id="rId29"/>
    <p:sldId id="303" r:id="rId30"/>
    <p:sldId id="304" r:id="rId31"/>
    <p:sldId id="305" r:id="rId32"/>
    <p:sldId id="306" r:id="rId33"/>
    <p:sldId id="308" r:id="rId34"/>
    <p:sldId id="309" r:id="rId35"/>
    <p:sldId id="313" r:id="rId36"/>
    <p:sldId id="314" r:id="rId37"/>
    <p:sldId id="317" r:id="rId38"/>
    <p:sldId id="315" r:id="rId39"/>
    <p:sldId id="318" r:id="rId40"/>
    <p:sldId id="316" r:id="rId41"/>
    <p:sldId id="281" r:id="rId42"/>
    <p:sldId id="283" r:id="rId43"/>
    <p:sldId id="284" r:id="rId44"/>
    <p:sldId id="285" r:id="rId45"/>
    <p:sldId id="286" r:id="rId46"/>
    <p:sldId id="287" r:id="rId47"/>
    <p:sldId id="288" r:id="rId48"/>
    <p:sldId id="319" r:id="rId49"/>
    <p:sldId id="289" r:id="rId50"/>
    <p:sldId id="290" r:id="rId51"/>
    <p:sldId id="291" r:id="rId52"/>
    <p:sldId id="292" r:id="rId53"/>
    <p:sldId id="293" r:id="rId54"/>
    <p:sldId id="294" r:id="rId55"/>
    <p:sldId id="295" r:id="rId56"/>
    <p:sldId id="296" r:id="rId57"/>
    <p:sldId id="320" r:id="rId58"/>
    <p:sldId id="297" r:id="rId59"/>
    <p:sldId id="298" r:id="rId60"/>
    <p:sldId id="299" r:id="rId61"/>
    <p:sldId id="321" r:id="rId62"/>
    <p:sldId id="322" r:id="rId63"/>
    <p:sldId id="323" r:id="rId64"/>
    <p:sldId id="324" r:id="rId65"/>
    <p:sldId id="325" r:id="rId66"/>
    <p:sldId id="326" r:id="rId67"/>
    <p:sldId id="327" r:id="rId68"/>
    <p:sldId id="328" r:id="rId69"/>
    <p:sldId id="332" r:id="rId70"/>
    <p:sldId id="333" r:id="rId71"/>
    <p:sldId id="343" r:id="rId72"/>
    <p:sldId id="344" r:id="rId73"/>
    <p:sldId id="345" r:id="rId74"/>
    <p:sldId id="346" r:id="rId75"/>
    <p:sldId id="334" r:id="rId76"/>
    <p:sldId id="342" r:id="rId77"/>
    <p:sldId id="338" r:id="rId78"/>
    <p:sldId id="336" r:id="rId79"/>
    <p:sldId id="347" r:id="rId80"/>
    <p:sldId id="348" r:id="rId81"/>
    <p:sldId id="349" r:id="rId82"/>
    <p:sldId id="350" r:id="rId83"/>
    <p:sldId id="351" r:id="rId84"/>
    <p:sldId id="352" r:id="rId85"/>
    <p:sldId id="353" r:id="rId86"/>
    <p:sldId id="354" r:id="rId87"/>
    <p:sldId id="355" r:id="rId88"/>
    <p:sldId id="356" r:id="rId89"/>
    <p:sldId id="357" r:id="rId90"/>
    <p:sldId id="358"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59" autoAdjust="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246455-A338-4C68-A537-08FFF763DBF0}" type="datetimeFigureOut">
              <a:rPr lang="en-IN" smtClean="0"/>
              <a:t>30-07-2025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F9736-FE7C-4335-875D-51990F0676F7}" type="slidenum">
              <a:rPr lang="en-IN" smtClean="0"/>
              <a:t>‹#›</a:t>
            </a:fld>
            <a:endParaRPr lang="en-IN"/>
          </a:p>
        </p:txBody>
      </p:sp>
    </p:spTree>
    <p:extLst>
      <p:ext uri="{BB962C8B-B14F-4D97-AF65-F5344CB8AC3E}">
        <p14:creationId xmlns:p14="http://schemas.microsoft.com/office/powerpoint/2010/main" val="423599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1C9FF2-C07F-447B-B0B0-DD759820D77B}" type="slidenum">
              <a:rPr lang="en-IN" smtClean="0"/>
              <a:pPr/>
              <a:t>67</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C4EE9C-AF9E-494F-8063-B77D842F0761}" type="datetime1">
              <a:rPr lang="en-IN" smtClean="0"/>
              <a:t>30-07-2025</a:t>
            </a:fld>
            <a:endParaRPr lang="en-IN"/>
          </a:p>
        </p:txBody>
      </p:sp>
      <p:sp>
        <p:nvSpPr>
          <p:cNvPr id="17" name="Footer Placeholder 16"/>
          <p:cNvSpPr>
            <a:spLocks noGrp="1"/>
          </p:cNvSpPr>
          <p:nvPr>
            <p:ph type="ftr" sz="quarter" idx="11"/>
          </p:nvPr>
        </p:nvSpPr>
        <p:spPr/>
        <p:txBody>
          <a:bodyPr/>
          <a:lstStyle/>
          <a:p>
            <a:r>
              <a:rPr lang="en-IN" smtClean="0"/>
              <a:t>Dr SURESH YADLAPATI</a:t>
            </a:r>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B43F2CA-45FD-4D79-BA16-F48B0D0C1B03}"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9115DAE-9231-4751-BD79-329E7133DDD5}" type="datetime1">
              <a:rPr lang="en-IN" smtClean="0"/>
              <a:t>30-07-2025</a:t>
            </a:fld>
            <a:endParaRPr lang="en-IN"/>
          </a:p>
        </p:txBody>
      </p:sp>
      <p:sp>
        <p:nvSpPr>
          <p:cNvPr id="5" name="Footer Placeholder 4"/>
          <p:cNvSpPr>
            <a:spLocks noGrp="1"/>
          </p:cNvSpPr>
          <p:nvPr>
            <p:ph type="ftr" sz="quarter" idx="11"/>
          </p:nvPr>
        </p:nvSpPr>
        <p:spPr/>
        <p:txBody>
          <a:bodyPr/>
          <a:lstStyle/>
          <a:p>
            <a:r>
              <a:rPr lang="en-IN" smtClean="0"/>
              <a:t>Dr SURESH YADLAPATI</a:t>
            </a:r>
            <a:endParaRPr lang="en-IN"/>
          </a:p>
        </p:txBody>
      </p:sp>
      <p:sp>
        <p:nvSpPr>
          <p:cNvPr id="6" name="Slide Number Placeholder 5"/>
          <p:cNvSpPr>
            <a:spLocks noGrp="1"/>
          </p:cNvSpPr>
          <p:nvPr>
            <p:ph type="sldNum" sz="quarter" idx="12"/>
          </p:nvPr>
        </p:nvSpPr>
        <p:spPr/>
        <p:txBody>
          <a:bodyPr/>
          <a:lstStyle/>
          <a:p>
            <a:fld id="{EB43F2CA-45FD-4D79-BA16-F48B0D0C1B03}"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99F0EA4-85ED-4CF2-B4D3-C8BD7007741E}" type="datetime1">
              <a:rPr lang="en-IN" smtClean="0"/>
              <a:t>30-07-2025</a:t>
            </a:fld>
            <a:endParaRPr lang="en-IN"/>
          </a:p>
        </p:txBody>
      </p:sp>
      <p:sp>
        <p:nvSpPr>
          <p:cNvPr id="5" name="Footer Placeholder 4"/>
          <p:cNvSpPr>
            <a:spLocks noGrp="1"/>
          </p:cNvSpPr>
          <p:nvPr>
            <p:ph type="ftr" sz="quarter" idx="11"/>
          </p:nvPr>
        </p:nvSpPr>
        <p:spPr>
          <a:xfrm>
            <a:off x="800100" y="6172200"/>
            <a:ext cx="4000500" cy="457200"/>
          </a:xfrm>
        </p:spPr>
        <p:txBody>
          <a:bodyPr/>
          <a:lstStyle/>
          <a:p>
            <a:r>
              <a:rPr lang="en-IN" smtClean="0"/>
              <a:t>Dr SURESH YADLAPATI</a:t>
            </a:r>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B43F2CA-45FD-4D79-BA16-F48B0D0C1B03}"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944082D-FD92-43FD-82B7-4A1E4EC1060E}" type="datetime1">
              <a:rPr lang="en-IN" smtClean="0"/>
              <a:t>30-07-2025</a:t>
            </a:fld>
            <a:endParaRPr lang="en-IN"/>
          </a:p>
        </p:txBody>
      </p:sp>
      <p:sp>
        <p:nvSpPr>
          <p:cNvPr id="6" name="Footer Placeholder 5"/>
          <p:cNvSpPr>
            <a:spLocks noGrp="1"/>
          </p:cNvSpPr>
          <p:nvPr>
            <p:ph type="ftr" sz="quarter" idx="11"/>
          </p:nvPr>
        </p:nvSpPr>
        <p:spPr/>
        <p:txBody>
          <a:bodyPr/>
          <a:lstStyle/>
          <a:p>
            <a:r>
              <a:rPr lang="en-IN" smtClean="0"/>
              <a:t>Dr SURESH YADLAPATI</a:t>
            </a:r>
            <a:endParaRPr lang="en-IN"/>
          </a:p>
        </p:txBody>
      </p:sp>
      <p:sp>
        <p:nvSpPr>
          <p:cNvPr id="7" name="Slide Number Placeholder 6"/>
          <p:cNvSpPr>
            <a:spLocks noGrp="1"/>
          </p:cNvSpPr>
          <p:nvPr>
            <p:ph type="sldNum" sz="quarter" idx="12"/>
          </p:nvPr>
        </p:nvSpPr>
        <p:spPr/>
        <p:txBody>
          <a:bodyPr/>
          <a:lstStyle/>
          <a:p>
            <a:fld id="{EB43F2CA-45FD-4D79-BA16-F48B0D0C1B03}"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B612F29-3F44-4478-8171-ABAB02A7F6D3}" type="datetime1">
              <a:rPr lang="en-IN" smtClean="0"/>
              <a:t>30-07-2025</a:t>
            </a:fld>
            <a:endParaRPr lang="en-IN"/>
          </a:p>
        </p:txBody>
      </p:sp>
      <p:sp>
        <p:nvSpPr>
          <p:cNvPr id="8" name="Footer Placeholder 7"/>
          <p:cNvSpPr>
            <a:spLocks noGrp="1"/>
          </p:cNvSpPr>
          <p:nvPr>
            <p:ph type="ftr" sz="quarter" idx="11"/>
          </p:nvPr>
        </p:nvSpPr>
        <p:spPr/>
        <p:txBody>
          <a:bodyPr/>
          <a:lstStyle/>
          <a:p>
            <a:r>
              <a:rPr lang="en-IN" smtClean="0"/>
              <a:t>Dr SURESH YADLAPATI</a:t>
            </a:r>
            <a:endParaRPr lang="en-IN"/>
          </a:p>
        </p:txBody>
      </p:sp>
      <p:sp>
        <p:nvSpPr>
          <p:cNvPr id="9" name="Slide Number Placeholder 8"/>
          <p:cNvSpPr>
            <a:spLocks noGrp="1"/>
          </p:cNvSpPr>
          <p:nvPr>
            <p:ph type="sldNum" sz="quarter" idx="12"/>
          </p:nvPr>
        </p:nvSpPr>
        <p:spPr/>
        <p:txBody>
          <a:bodyPr/>
          <a:lstStyle/>
          <a:p>
            <a:fld id="{EB43F2CA-45FD-4D79-BA16-F48B0D0C1B03}"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ECA8F91-9B60-4379-A46C-4BE32E005A62}" type="datetime1">
              <a:rPr lang="en-IN" smtClean="0"/>
              <a:t>30-07-2025</a:t>
            </a:fld>
            <a:endParaRPr lang="en-IN"/>
          </a:p>
        </p:txBody>
      </p:sp>
      <p:sp>
        <p:nvSpPr>
          <p:cNvPr id="4" name="Footer Placeholder 3"/>
          <p:cNvSpPr>
            <a:spLocks noGrp="1"/>
          </p:cNvSpPr>
          <p:nvPr>
            <p:ph type="ftr" sz="quarter" idx="11"/>
          </p:nvPr>
        </p:nvSpPr>
        <p:spPr/>
        <p:txBody>
          <a:bodyPr/>
          <a:lstStyle/>
          <a:p>
            <a:r>
              <a:rPr lang="en-IN" smtClean="0"/>
              <a:t>Dr SURESH YADLAPATI</a:t>
            </a:r>
            <a:endParaRPr lang="en-IN"/>
          </a:p>
        </p:txBody>
      </p:sp>
      <p:sp>
        <p:nvSpPr>
          <p:cNvPr id="5" name="Slide Number Placeholder 4"/>
          <p:cNvSpPr>
            <a:spLocks noGrp="1"/>
          </p:cNvSpPr>
          <p:nvPr>
            <p:ph type="sldNum" sz="quarter" idx="12"/>
          </p:nvPr>
        </p:nvSpPr>
        <p:spPr/>
        <p:txBody>
          <a:bodyPr/>
          <a:lstStyle/>
          <a:p>
            <a:fld id="{EB43F2CA-45FD-4D79-BA16-F48B0D0C1B0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8A87D7-6F1F-4CD5-8229-6E8CDC1BDA61}" type="datetime1">
              <a:rPr lang="en-IN" smtClean="0"/>
              <a:t>30-07-2025</a:t>
            </a:fld>
            <a:endParaRPr lang="en-IN"/>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Slide Number Placeholder 3"/>
          <p:cNvSpPr>
            <a:spLocks noGrp="1"/>
          </p:cNvSpPr>
          <p:nvPr>
            <p:ph type="sldNum" sz="quarter" idx="12"/>
          </p:nvPr>
        </p:nvSpPr>
        <p:spPr/>
        <p:txBody>
          <a:bodyPr/>
          <a:lstStyle/>
          <a:p>
            <a:fld id="{EB43F2CA-45FD-4D79-BA16-F48B0D0C1B0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57FABED-C1D6-4045-B501-CE523073B7D5}" type="datetime1">
              <a:rPr lang="en-IN" smtClean="0"/>
              <a:t>30-07-2025</a:t>
            </a:fld>
            <a:endParaRPr lang="en-IN"/>
          </a:p>
        </p:txBody>
      </p:sp>
      <p:sp>
        <p:nvSpPr>
          <p:cNvPr id="6" name="Footer Placeholder 5"/>
          <p:cNvSpPr>
            <a:spLocks noGrp="1"/>
          </p:cNvSpPr>
          <p:nvPr>
            <p:ph type="ftr" sz="quarter" idx="11"/>
          </p:nvPr>
        </p:nvSpPr>
        <p:spPr/>
        <p:txBody>
          <a:bodyPr/>
          <a:lstStyle/>
          <a:p>
            <a:r>
              <a:rPr lang="en-IN" smtClean="0"/>
              <a:t>Dr SURESH YADLAPATI</a:t>
            </a:r>
            <a:endParaRPr lang="en-IN"/>
          </a:p>
        </p:txBody>
      </p:sp>
      <p:sp>
        <p:nvSpPr>
          <p:cNvPr id="7" name="Slide Number Placeholder 6"/>
          <p:cNvSpPr>
            <a:spLocks noGrp="1"/>
          </p:cNvSpPr>
          <p:nvPr>
            <p:ph type="sldNum" sz="quarter" idx="12"/>
          </p:nvPr>
        </p:nvSpPr>
        <p:spPr/>
        <p:txBody>
          <a:bodyPr/>
          <a:lstStyle/>
          <a:p>
            <a:fld id="{EB43F2CA-45FD-4D79-BA16-F48B0D0C1B03}"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70E2BD0-1918-49C0-9129-27020789C431}" type="datetime1">
              <a:rPr lang="en-IN" smtClean="0"/>
              <a:t>30-07-2025</a:t>
            </a:fld>
            <a:endParaRPr lang="en-IN"/>
          </a:p>
        </p:txBody>
      </p:sp>
      <p:sp>
        <p:nvSpPr>
          <p:cNvPr id="6" name="Footer Placeholder 5"/>
          <p:cNvSpPr>
            <a:spLocks noGrp="1"/>
          </p:cNvSpPr>
          <p:nvPr>
            <p:ph type="ftr" sz="quarter" idx="11"/>
          </p:nvPr>
        </p:nvSpPr>
        <p:spPr>
          <a:xfrm>
            <a:off x="914400" y="6172200"/>
            <a:ext cx="3886200" cy="457200"/>
          </a:xfrm>
        </p:spPr>
        <p:txBody>
          <a:bodyPr/>
          <a:lstStyle/>
          <a:p>
            <a:r>
              <a:rPr lang="en-IN" smtClean="0"/>
              <a:t>Dr SURESH YADLAPATI</a:t>
            </a:r>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EB43F2CA-45FD-4D79-BA16-F48B0D0C1B03}"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88B6187-CDAA-4A54-9A3A-DA8A874B5295}" type="datetime1">
              <a:rPr lang="en-IN" smtClean="0"/>
              <a:t>30-07-2025</a:t>
            </a:fld>
            <a:endParaRPr lang="en-IN"/>
          </a:p>
        </p:txBody>
      </p:sp>
      <p:sp>
        <p:nvSpPr>
          <p:cNvPr id="5" name="Footer Placeholder 4"/>
          <p:cNvSpPr>
            <a:spLocks noGrp="1"/>
          </p:cNvSpPr>
          <p:nvPr>
            <p:ph type="ftr" sz="quarter" idx="11"/>
          </p:nvPr>
        </p:nvSpPr>
        <p:spPr/>
        <p:txBody>
          <a:bodyPr/>
          <a:lstStyle/>
          <a:p>
            <a:r>
              <a:rPr lang="en-IN" smtClean="0"/>
              <a:t>Dr SURESH YADLAPATI</a:t>
            </a:r>
            <a:endParaRPr lang="en-IN"/>
          </a:p>
        </p:txBody>
      </p:sp>
      <p:sp>
        <p:nvSpPr>
          <p:cNvPr id="6" name="Slide Number Placeholder 5"/>
          <p:cNvSpPr>
            <a:spLocks noGrp="1"/>
          </p:cNvSpPr>
          <p:nvPr>
            <p:ph type="sldNum" sz="quarter" idx="12"/>
          </p:nvPr>
        </p:nvSpPr>
        <p:spPr/>
        <p:txBody>
          <a:bodyPr/>
          <a:lstStyle/>
          <a:p>
            <a:fld id="{EB43F2CA-45FD-4D79-BA16-F48B0D0C1B0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4415515-1F6C-4817-95ED-41CB4F2276E5}" type="datetime1">
              <a:rPr lang="en-IN" smtClean="0"/>
              <a:t>30-07-2025</a:t>
            </a:fld>
            <a:endParaRPr lang="en-IN"/>
          </a:p>
        </p:txBody>
      </p:sp>
      <p:sp>
        <p:nvSpPr>
          <p:cNvPr id="5" name="Footer Placeholder 4"/>
          <p:cNvSpPr>
            <a:spLocks noGrp="1"/>
          </p:cNvSpPr>
          <p:nvPr>
            <p:ph type="ftr" sz="quarter" idx="11"/>
          </p:nvPr>
        </p:nvSpPr>
        <p:spPr/>
        <p:txBody>
          <a:bodyPr/>
          <a:lstStyle/>
          <a:p>
            <a:r>
              <a:rPr lang="en-IN" smtClean="0"/>
              <a:t>Dr SURESH YADLAPATI</a:t>
            </a:r>
            <a:endParaRPr lang="en-IN"/>
          </a:p>
        </p:txBody>
      </p:sp>
      <p:sp>
        <p:nvSpPr>
          <p:cNvPr id="6" name="Slide Number Placeholder 5"/>
          <p:cNvSpPr>
            <a:spLocks noGrp="1"/>
          </p:cNvSpPr>
          <p:nvPr>
            <p:ph type="sldNum" sz="quarter" idx="12"/>
          </p:nvPr>
        </p:nvSpPr>
        <p:spPr/>
        <p:txBody>
          <a:bodyPr/>
          <a:lstStyle/>
          <a:p>
            <a:fld id="{EB43F2CA-45FD-4D79-BA16-F48B0D0C1B0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E9214751-A399-45FD-AB44-2C68B52A0B86}" type="datetime1">
              <a:rPr lang="en-IN" smtClean="0"/>
              <a:t>30-07-2025</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IN" smtClean="0"/>
              <a:t>Dr SURESH YADLAPATI</a:t>
            </a:r>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B43F2CA-45FD-4D79-BA16-F48B0D0C1B0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static.javatpoint.com/src/jdbc/mysql-connector.ja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91680" y="188640"/>
            <a:ext cx="5968752" cy="1103024"/>
          </a:xfrm>
        </p:spPr>
        <p:txBody>
          <a:bodyPr/>
          <a:lstStyle/>
          <a:p>
            <a:r>
              <a:rPr lang="en-US" b="1" dirty="0" smtClean="0"/>
              <a:t>III B Tech I Semester</a:t>
            </a:r>
          </a:p>
          <a:p>
            <a:r>
              <a:rPr lang="en-US" b="1" dirty="0" smtClean="0"/>
              <a:t>PVP23 Regulations</a:t>
            </a:r>
            <a:endParaRPr lang="en-IN" b="1" dirty="0"/>
          </a:p>
        </p:txBody>
      </p:sp>
      <p:sp>
        <p:nvSpPr>
          <p:cNvPr id="2" name="Title 1"/>
          <p:cNvSpPr>
            <a:spLocks noGrp="1"/>
          </p:cNvSpPr>
          <p:nvPr>
            <p:ph type="ctrTitle"/>
          </p:nvPr>
        </p:nvSpPr>
        <p:spPr/>
        <p:txBody>
          <a:bodyPr/>
          <a:lstStyle/>
          <a:p>
            <a:r>
              <a:rPr lang="en-US" dirty="0" smtClean="0"/>
              <a:t>ADVANCED JAVA</a:t>
            </a:r>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3476276444"/>
              </p:ext>
            </p:extLst>
          </p:nvPr>
        </p:nvGraphicFramePr>
        <p:xfrm>
          <a:off x="971600" y="3284984"/>
          <a:ext cx="7272808" cy="2304256"/>
        </p:xfrm>
        <a:graphic>
          <a:graphicData uri="http://schemas.openxmlformats.org/drawingml/2006/table">
            <a:tbl>
              <a:tblPr firstRow="1" firstCol="1" bandRow="1">
                <a:tableStyleId>{D7AC3CCA-C797-4891-BE02-D94E43425B78}</a:tableStyleId>
              </a:tblPr>
              <a:tblGrid>
                <a:gridCol w="1689223"/>
                <a:gridCol w="1009536"/>
                <a:gridCol w="1199448"/>
                <a:gridCol w="838076"/>
                <a:gridCol w="1232510"/>
                <a:gridCol w="1304015"/>
              </a:tblGrid>
              <a:tr h="300419">
                <a:tc>
                  <a:txBody>
                    <a:bodyPr/>
                    <a:lstStyle/>
                    <a:p>
                      <a:pPr>
                        <a:spcAft>
                          <a:spcPts val="0"/>
                        </a:spcAft>
                      </a:pPr>
                      <a:r>
                        <a:rPr lang="en-US" sz="1800" dirty="0">
                          <a:effectLst/>
                        </a:rPr>
                        <a:t>Course Code</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 </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Year</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III</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Semester</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I</a:t>
                      </a:r>
                      <a:endParaRPr lang="en-IN" sz="1600">
                        <a:effectLst/>
                        <a:latin typeface="Times New Roman"/>
                        <a:ea typeface="Times New Roman"/>
                        <a:cs typeface="Times New Roman"/>
                      </a:endParaRPr>
                    </a:p>
                  </a:txBody>
                  <a:tcPr marL="68580" marR="68580" marT="0" marB="0" anchor="ctr"/>
                </a:tc>
              </a:tr>
              <a:tr h="703064">
                <a:tc>
                  <a:txBody>
                    <a:bodyPr/>
                    <a:lstStyle/>
                    <a:p>
                      <a:pPr>
                        <a:spcAft>
                          <a:spcPts val="0"/>
                        </a:spcAft>
                      </a:pPr>
                      <a:r>
                        <a:rPr lang="en-US" sz="1800" dirty="0">
                          <a:effectLst/>
                        </a:rPr>
                        <a:t>Course Category</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PC</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Branch</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IT</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Course Type</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Theory</a:t>
                      </a:r>
                      <a:endParaRPr lang="en-IN" sz="1600">
                        <a:effectLst/>
                        <a:latin typeface="Times New Roman"/>
                        <a:ea typeface="Times New Roman"/>
                        <a:cs typeface="Times New Roman"/>
                      </a:endParaRPr>
                    </a:p>
                  </a:txBody>
                  <a:tcPr marL="68580" marR="68580" marT="0" marB="0" anchor="ctr"/>
                </a:tc>
              </a:tr>
              <a:tr h="399516">
                <a:tc>
                  <a:txBody>
                    <a:bodyPr/>
                    <a:lstStyle/>
                    <a:p>
                      <a:pPr>
                        <a:spcAft>
                          <a:spcPts val="0"/>
                        </a:spcAft>
                      </a:pPr>
                      <a:r>
                        <a:rPr lang="en-US" sz="1800">
                          <a:effectLst/>
                        </a:rPr>
                        <a:t>Credits</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3</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L-T-P</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3-0-0</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Prerequisites</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JAVA</a:t>
                      </a:r>
                      <a:endParaRPr lang="en-IN" sz="1600">
                        <a:effectLst/>
                        <a:latin typeface="Times New Roman"/>
                        <a:ea typeface="Times New Roman"/>
                        <a:cs typeface="Times New Roman"/>
                      </a:endParaRPr>
                    </a:p>
                  </a:txBody>
                  <a:tcPr marL="68580" marR="68580" marT="0" marB="0" anchor="ctr"/>
                </a:tc>
              </a:tr>
              <a:tr h="901257">
                <a:tc>
                  <a:txBody>
                    <a:bodyPr/>
                    <a:lstStyle/>
                    <a:p>
                      <a:pPr>
                        <a:spcAft>
                          <a:spcPts val="0"/>
                        </a:spcAft>
                      </a:pPr>
                      <a:r>
                        <a:rPr lang="en-US" sz="1800">
                          <a:effectLst/>
                        </a:rPr>
                        <a:t>Continuous Internal Evaluation :</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30</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a:effectLst/>
                        </a:rPr>
                        <a:t>Semester End Evaluation:</a:t>
                      </a:r>
                      <a:endParaRPr lang="en-IN" sz="160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70</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Total Marks:</a:t>
                      </a:r>
                      <a:endParaRPr lang="en-IN" sz="1600" dirty="0">
                        <a:effectLst/>
                        <a:latin typeface="Times New Roman"/>
                        <a:ea typeface="Times New Roman"/>
                        <a:cs typeface="Times New Roman"/>
                      </a:endParaRPr>
                    </a:p>
                  </a:txBody>
                  <a:tcPr marL="68580" marR="68580" marT="0" marB="0" anchor="ctr"/>
                </a:tc>
                <a:tc>
                  <a:txBody>
                    <a:bodyPr/>
                    <a:lstStyle/>
                    <a:p>
                      <a:pPr>
                        <a:spcAft>
                          <a:spcPts val="0"/>
                        </a:spcAft>
                      </a:pPr>
                      <a:r>
                        <a:rPr lang="en-US" sz="1800" dirty="0">
                          <a:effectLst/>
                        </a:rPr>
                        <a:t>100</a:t>
                      </a:r>
                      <a:endParaRPr lang="en-IN" sz="1600" dirty="0">
                        <a:effectLst/>
                        <a:latin typeface="Times New Roman"/>
                        <a:ea typeface="Times New Roman"/>
                        <a:cs typeface="Times New Roman"/>
                      </a:endParaRPr>
                    </a:p>
                  </a:txBody>
                  <a:tcPr marL="68580" marR="68580" marT="0" marB="0" anchor="ctr"/>
                </a:tc>
              </a:tr>
            </a:tbl>
          </a:graphicData>
        </a:graphic>
      </p:graphicFrame>
    </p:spTree>
    <p:extLst>
      <p:ext uri="{BB962C8B-B14F-4D97-AF65-F5344CB8AC3E}">
        <p14:creationId xmlns:p14="http://schemas.microsoft.com/office/powerpoint/2010/main" val="1032331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dirty="0" smtClean="0"/>
              <a:t>Course Outcomes:</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980728"/>
            <a:ext cx="7772400" cy="4572000"/>
          </a:xfrm>
        </p:spPr>
        <p:txBody>
          <a:bodyPr>
            <a:normAutofit/>
          </a:bodyPr>
          <a:lstStyle/>
          <a:p>
            <a:r>
              <a:rPr lang="en-US" sz="2400" b="1" dirty="0"/>
              <a:t>Course Outcomes</a:t>
            </a:r>
            <a:r>
              <a:rPr lang="en-US" sz="2400" dirty="0"/>
              <a:t> (Cos) are narrower statements that describe what students are expected to know, and be able to do at the end of each </a:t>
            </a:r>
            <a:r>
              <a:rPr lang="en-US" sz="2400" b="1" dirty="0" smtClean="0"/>
              <a:t>course.</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336537076"/>
              </p:ext>
            </p:extLst>
          </p:nvPr>
        </p:nvGraphicFramePr>
        <p:xfrm>
          <a:off x="611560" y="2132856"/>
          <a:ext cx="7632848" cy="3099792"/>
        </p:xfrm>
        <a:graphic>
          <a:graphicData uri="http://schemas.openxmlformats.org/drawingml/2006/table">
            <a:tbl>
              <a:tblPr firstRow="1" firstCol="1" bandRow="1">
                <a:tableStyleId>{3B4B98B0-60AC-42C2-AFA5-B58CD77FA1E5}</a:tableStyleId>
              </a:tblPr>
              <a:tblGrid>
                <a:gridCol w="763037"/>
                <a:gridCol w="5494858"/>
                <a:gridCol w="1374953"/>
              </a:tblGrid>
              <a:tr h="288032">
                <a:tc gridSpan="2">
                  <a:txBody>
                    <a:bodyPr/>
                    <a:lstStyle/>
                    <a:p>
                      <a:pPr>
                        <a:spcAft>
                          <a:spcPts val="0"/>
                        </a:spcAft>
                      </a:pPr>
                      <a:r>
                        <a:rPr lang="en-IN" sz="1800" dirty="0">
                          <a:effectLst/>
                        </a:rPr>
                        <a:t>Course Outcomes</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a:txBody>
                    <a:bodyPr/>
                    <a:lstStyle/>
                    <a:p>
                      <a:pPr>
                        <a:spcAft>
                          <a:spcPts val="0"/>
                        </a:spcAft>
                      </a:pPr>
                      <a:r>
                        <a:rPr lang="en-IN" sz="1600" dirty="0">
                          <a:effectLst/>
                        </a:rPr>
                        <a:t>Blooms Level</a:t>
                      </a:r>
                      <a:endParaRPr lang="en-IN" sz="14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8032">
                <a:tc gridSpan="3">
                  <a:txBody>
                    <a:bodyPr/>
                    <a:lstStyle/>
                    <a:p>
                      <a:pPr>
                        <a:spcAft>
                          <a:spcPts val="0"/>
                        </a:spcAft>
                      </a:pPr>
                      <a:r>
                        <a:rPr lang="en-IN" sz="1800" dirty="0">
                          <a:effectLst/>
                        </a:rPr>
                        <a:t>Upon successful completion of the course, the student will be able to:</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r>
              <a:tr h="576064">
                <a:tc>
                  <a:txBody>
                    <a:bodyPr/>
                    <a:lstStyle/>
                    <a:p>
                      <a:pPr marL="72390" marR="65405">
                        <a:spcAft>
                          <a:spcPts val="0"/>
                        </a:spcAft>
                      </a:pPr>
                      <a:r>
                        <a:rPr lang="en-IN" sz="1800" spc="-25">
                          <a:effectLst/>
                        </a:rPr>
                        <a:t>CO1</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just">
                        <a:spcAft>
                          <a:spcPts val="0"/>
                        </a:spcAft>
                      </a:pPr>
                      <a:r>
                        <a:rPr lang="en-IN" sz="1800" dirty="0">
                          <a:effectLst/>
                        </a:rPr>
                        <a:t>Understand the basic concepts of web design for the efficient development of web applications.</a:t>
                      </a:r>
                      <a:endParaRPr lang="en-IN" sz="16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120" marR="66040" algn="ctr">
                        <a:spcAft>
                          <a:spcPts val="0"/>
                        </a:spcAft>
                      </a:pPr>
                      <a:r>
                        <a:rPr lang="en-IN" sz="1800">
                          <a:effectLst/>
                        </a:rPr>
                        <a:t>L2</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064">
                <a:tc>
                  <a:txBody>
                    <a:bodyPr/>
                    <a:lstStyle/>
                    <a:p>
                      <a:pPr marL="72390" marR="65405">
                        <a:spcAft>
                          <a:spcPts val="0"/>
                        </a:spcAft>
                      </a:pPr>
                      <a:r>
                        <a:rPr lang="en-IN" sz="1800" spc="-25">
                          <a:effectLst/>
                        </a:rPr>
                        <a:t>CO2</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just">
                        <a:spcAft>
                          <a:spcPts val="0"/>
                        </a:spcAft>
                      </a:pPr>
                      <a:r>
                        <a:rPr lang="en-IN" sz="1800" dirty="0">
                          <a:effectLst/>
                        </a:rPr>
                        <a:t>Apply JDBC concepts to perform database operations using different types of JDBC statements, handle result sets, and manage transactions.</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120" marR="66040" algn="ctr">
                        <a:spcAft>
                          <a:spcPts val="0"/>
                        </a:spcAft>
                      </a:pPr>
                      <a:r>
                        <a:rPr lang="en-IN" sz="1800">
                          <a:effectLst/>
                        </a:rPr>
                        <a:t>L3</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8032">
                <a:tc>
                  <a:txBody>
                    <a:bodyPr/>
                    <a:lstStyle/>
                    <a:p>
                      <a:pPr marL="72390" marR="65405">
                        <a:spcAft>
                          <a:spcPts val="0"/>
                        </a:spcAft>
                      </a:pPr>
                      <a:r>
                        <a:rPr lang="en-IN" sz="1800" spc="-25">
                          <a:effectLst/>
                        </a:rPr>
                        <a:t>CO3</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just">
                        <a:spcAft>
                          <a:spcPts val="0"/>
                        </a:spcAft>
                      </a:pPr>
                      <a:r>
                        <a:rPr lang="en-IN" sz="1800" dirty="0">
                          <a:effectLst/>
                        </a:rPr>
                        <a:t>Design and develop dynamic web applications using Servlets and JSP.</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120" marR="66040" algn="ctr">
                        <a:spcAft>
                          <a:spcPts val="0"/>
                        </a:spcAft>
                      </a:pPr>
                      <a:r>
                        <a:rPr lang="en-IN" sz="1800">
                          <a:effectLst/>
                        </a:rPr>
                        <a:t>L3</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064">
                <a:tc>
                  <a:txBody>
                    <a:bodyPr/>
                    <a:lstStyle/>
                    <a:p>
                      <a:pPr marL="72390" marR="65405">
                        <a:spcAft>
                          <a:spcPts val="0"/>
                        </a:spcAft>
                      </a:pPr>
                      <a:r>
                        <a:rPr lang="en-IN" sz="1800" spc="-25">
                          <a:effectLst/>
                        </a:rPr>
                        <a:t>CO4</a:t>
                      </a:r>
                      <a:endParaRPr lang="en-IN" sz="160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lgn="just">
                        <a:spcAft>
                          <a:spcPts val="0"/>
                        </a:spcAft>
                      </a:pPr>
                      <a:r>
                        <a:rPr lang="en-IN" sz="1800" dirty="0">
                          <a:effectLst/>
                        </a:rPr>
                        <a:t>Apply the basic concepts of the Spring framework to develop web applications.</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120" marR="66040" algn="ctr">
                        <a:spcAft>
                          <a:spcPts val="0"/>
                        </a:spcAft>
                      </a:pPr>
                      <a:r>
                        <a:rPr lang="en-IN" sz="1800" dirty="0">
                          <a:effectLst/>
                        </a:rPr>
                        <a:t>L3</a:t>
                      </a:r>
                      <a:endParaRPr lang="en-IN" sz="1600" dirty="0">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193817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340768"/>
            <a:ext cx="8640960" cy="1368152"/>
          </a:xfrm>
        </p:spPr>
        <p:txBody>
          <a:bodyPr>
            <a:noAutofit/>
          </a:bodyPr>
          <a:lstStyle/>
          <a:p>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a:solidFill>
                  <a:schemeClr val="tx1"/>
                </a:solidFill>
                <a:latin typeface="+mn-lt"/>
                <a:ea typeface="+mn-ea"/>
                <a:cs typeface="+mn-cs"/>
              </a:rPr>
              <a:t/>
            </a:r>
            <a:br>
              <a:rPr lang="en-US" sz="2400" dirty="0">
                <a:solidFill>
                  <a:schemeClr val="tx1"/>
                </a:solidFill>
                <a:latin typeface="+mn-lt"/>
                <a:ea typeface="+mn-ea"/>
                <a:cs typeface="+mn-cs"/>
              </a:rPr>
            </a:br>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a:solidFill>
                  <a:schemeClr val="tx1"/>
                </a:solidFill>
                <a:latin typeface="+mn-lt"/>
                <a:ea typeface="+mn-ea"/>
                <a:cs typeface="+mn-cs"/>
              </a:rPr>
              <a:t/>
            </a:r>
            <a:br>
              <a:rPr lang="en-US" sz="2400" dirty="0">
                <a:solidFill>
                  <a:schemeClr val="tx1"/>
                </a:solidFill>
                <a:latin typeface="+mn-lt"/>
                <a:ea typeface="+mn-ea"/>
                <a:cs typeface="+mn-cs"/>
              </a:rPr>
            </a:br>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a:solidFill>
                  <a:schemeClr val="tx1"/>
                </a:solidFill>
                <a:latin typeface="+mn-lt"/>
                <a:ea typeface="+mn-ea"/>
                <a:cs typeface="+mn-cs"/>
              </a:rPr>
              <a:t/>
            </a:r>
            <a:br>
              <a:rPr lang="en-US" sz="2400" dirty="0">
                <a:solidFill>
                  <a:schemeClr val="tx1"/>
                </a:solidFill>
                <a:latin typeface="+mn-lt"/>
                <a:ea typeface="+mn-ea"/>
                <a:cs typeface="+mn-cs"/>
              </a:rPr>
            </a:br>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a:solidFill>
                  <a:schemeClr val="tx1"/>
                </a:solidFill>
                <a:latin typeface="+mn-lt"/>
                <a:ea typeface="+mn-ea"/>
                <a:cs typeface="+mn-cs"/>
              </a:rPr>
              <a:t/>
            </a:r>
            <a:br>
              <a:rPr lang="en-US" sz="2400" dirty="0">
                <a:solidFill>
                  <a:schemeClr val="tx1"/>
                </a:solidFill>
                <a:latin typeface="+mn-lt"/>
                <a:ea typeface="+mn-ea"/>
                <a:cs typeface="+mn-cs"/>
              </a:rPr>
            </a:br>
            <a:r>
              <a:rPr lang="en-US" sz="2400" dirty="0" smtClean="0">
                <a:solidFill>
                  <a:schemeClr val="tx1"/>
                </a:solidFill>
                <a:latin typeface="+mn-lt"/>
                <a:ea typeface="+mn-ea"/>
                <a:cs typeface="+mn-cs"/>
              </a:rPr>
              <a:t/>
            </a:r>
            <a:br>
              <a:rPr lang="en-US" sz="2400" dirty="0" smtClean="0">
                <a:solidFill>
                  <a:schemeClr val="tx1"/>
                </a:solidFill>
                <a:latin typeface="+mn-lt"/>
                <a:ea typeface="+mn-ea"/>
                <a:cs typeface="+mn-cs"/>
              </a:rPr>
            </a:br>
            <a:r>
              <a:rPr lang="en-US" sz="2400" dirty="0" smtClean="0">
                <a:solidFill>
                  <a:schemeClr val="tx1"/>
                </a:solidFill>
                <a:latin typeface="+mn-lt"/>
                <a:ea typeface="+mn-ea"/>
                <a:cs typeface="+mn-cs"/>
              </a:rPr>
              <a:t>PO’s</a:t>
            </a:r>
            <a:r>
              <a:rPr lang="en-US" sz="2400" dirty="0">
                <a:solidFill>
                  <a:schemeClr val="tx1"/>
                </a:solidFill>
                <a:latin typeface="+mn-lt"/>
                <a:ea typeface="+mn-ea"/>
                <a:cs typeface="+mn-cs"/>
              </a:rPr>
              <a:t>: </a:t>
            </a:r>
            <a:br>
              <a:rPr lang="en-US" sz="2400" dirty="0">
                <a:solidFill>
                  <a:schemeClr val="tx1"/>
                </a:solidFill>
                <a:latin typeface="+mn-lt"/>
                <a:ea typeface="+mn-ea"/>
                <a:cs typeface="+mn-cs"/>
              </a:rPr>
            </a:br>
            <a:r>
              <a:rPr lang="en-US" sz="2400" dirty="0">
                <a:solidFill>
                  <a:schemeClr val="tx1"/>
                </a:solidFill>
                <a:latin typeface="+mn-lt"/>
                <a:ea typeface="+mn-ea"/>
                <a:cs typeface="+mn-cs"/>
              </a:rPr>
              <a:t>1) </a:t>
            </a:r>
            <a:r>
              <a:rPr lang="en-US" sz="2400" dirty="0" err="1" smtClean="0">
                <a:solidFill>
                  <a:schemeClr val="tx1"/>
                </a:solidFill>
                <a:latin typeface="+mn-lt"/>
                <a:ea typeface="+mn-ea"/>
                <a:cs typeface="+mn-cs"/>
              </a:rPr>
              <a:t>Engg</a:t>
            </a:r>
            <a:r>
              <a:rPr lang="en-US" sz="2400" dirty="0" smtClean="0">
                <a:solidFill>
                  <a:schemeClr val="tx1"/>
                </a:solidFill>
                <a:latin typeface="+mn-lt"/>
                <a:ea typeface="+mn-ea"/>
                <a:cs typeface="+mn-cs"/>
              </a:rPr>
              <a:t>. Knowledge, </a:t>
            </a:r>
            <a:r>
              <a:rPr lang="en-US" sz="2400" dirty="0">
                <a:solidFill>
                  <a:schemeClr val="tx1"/>
                </a:solidFill>
                <a:latin typeface="+mn-lt"/>
                <a:ea typeface="+mn-ea"/>
                <a:cs typeface="+mn-cs"/>
              </a:rPr>
              <a:t>2) Problem Analysis, 3) Design/Development of Solutions,  </a:t>
            </a:r>
            <a:r>
              <a:rPr lang="en-US" sz="2400" dirty="0" smtClean="0">
                <a:solidFill>
                  <a:schemeClr val="tx1"/>
                </a:solidFill>
                <a:latin typeface="+mn-lt"/>
                <a:ea typeface="+mn-ea"/>
                <a:cs typeface="+mn-cs"/>
              </a:rPr>
              <a:t> 4</a:t>
            </a:r>
            <a:r>
              <a:rPr lang="en-US" sz="2400" dirty="0">
                <a:solidFill>
                  <a:schemeClr val="tx1"/>
                </a:solidFill>
                <a:latin typeface="+mn-lt"/>
                <a:ea typeface="+mn-ea"/>
                <a:cs typeface="+mn-cs"/>
              </a:rPr>
              <a:t>) Investigation, 5) Modern Tool Usage</a:t>
            </a:r>
            <a:r>
              <a:rPr lang="en-US" sz="2400" dirty="0" smtClean="0">
                <a:solidFill>
                  <a:schemeClr val="tx1"/>
                </a:solidFill>
                <a:latin typeface="+mn-lt"/>
                <a:ea typeface="+mn-ea"/>
                <a:cs typeface="+mn-cs"/>
              </a:rPr>
              <a:t>, 6</a:t>
            </a:r>
            <a:r>
              <a:rPr lang="en-US" sz="2400" dirty="0">
                <a:solidFill>
                  <a:schemeClr val="tx1"/>
                </a:solidFill>
                <a:latin typeface="+mn-lt"/>
                <a:ea typeface="+mn-ea"/>
                <a:cs typeface="+mn-cs"/>
              </a:rPr>
              <a:t>) The Engineer </a:t>
            </a:r>
            <a:r>
              <a:rPr lang="en-US" sz="2400" dirty="0" smtClean="0">
                <a:solidFill>
                  <a:schemeClr val="tx1"/>
                </a:solidFill>
                <a:latin typeface="+mn-lt"/>
                <a:ea typeface="+mn-ea"/>
                <a:cs typeface="+mn-cs"/>
              </a:rPr>
              <a:t>&amp; </a:t>
            </a:r>
            <a:r>
              <a:rPr lang="en-US" sz="2400" dirty="0">
                <a:solidFill>
                  <a:schemeClr val="tx1"/>
                </a:solidFill>
                <a:latin typeface="+mn-lt"/>
                <a:ea typeface="+mn-ea"/>
                <a:cs typeface="+mn-cs"/>
              </a:rPr>
              <a:t>Society, 7) Environment and Sustainability, 8) Ethics, </a:t>
            </a:r>
            <a:r>
              <a:rPr lang="en-US" sz="2400" dirty="0" smtClean="0">
                <a:solidFill>
                  <a:schemeClr val="tx1"/>
                </a:solidFill>
                <a:latin typeface="+mn-lt"/>
                <a:ea typeface="+mn-ea"/>
                <a:cs typeface="+mn-cs"/>
              </a:rPr>
              <a:t>  9</a:t>
            </a:r>
            <a:r>
              <a:rPr lang="en-US" sz="2400" dirty="0">
                <a:solidFill>
                  <a:schemeClr val="tx1"/>
                </a:solidFill>
                <a:latin typeface="+mn-lt"/>
                <a:ea typeface="+mn-ea"/>
                <a:cs typeface="+mn-cs"/>
              </a:rPr>
              <a:t>) Individual and Teamwork, 10) Communication, 11) Project Management, 12) Life-long Learning</a:t>
            </a:r>
            <a:endParaRPr lang="en-IN" sz="2400" dirty="0">
              <a:solidFill>
                <a:schemeClr val="tx1"/>
              </a:solidFill>
              <a:latin typeface="+mn-lt"/>
              <a:ea typeface="+mn-ea"/>
              <a:cs typeface="+mn-cs"/>
            </a:endParaRPr>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572505611"/>
              </p:ext>
            </p:extLst>
          </p:nvPr>
        </p:nvGraphicFramePr>
        <p:xfrm>
          <a:off x="395536" y="2636912"/>
          <a:ext cx="8280919" cy="3194934"/>
        </p:xfrm>
        <a:graphic>
          <a:graphicData uri="http://schemas.openxmlformats.org/drawingml/2006/table">
            <a:tbl>
              <a:tblPr firstRow="1" firstCol="1" lastRow="1" lastCol="1" bandRow="1" bandCol="1">
                <a:tableStyleId>{F2DE63D5-997A-4646-A377-4702673A728D}</a:tableStyleId>
              </a:tblPr>
              <a:tblGrid>
                <a:gridCol w="632770"/>
                <a:gridCol w="507656"/>
                <a:gridCol w="513957"/>
                <a:gridCol w="509457"/>
                <a:gridCol w="507656"/>
                <a:gridCol w="512157"/>
                <a:gridCol w="507656"/>
                <a:gridCol w="507656"/>
                <a:gridCol w="507656"/>
                <a:gridCol w="512157"/>
                <a:gridCol w="637271"/>
                <a:gridCol w="637271"/>
                <a:gridCol w="638171"/>
                <a:gridCol w="592266"/>
                <a:gridCol w="557162"/>
              </a:tblGrid>
              <a:tr h="504056">
                <a:tc gridSpan="15">
                  <a:txBody>
                    <a:bodyPr/>
                    <a:lstStyle/>
                    <a:p>
                      <a:pPr marL="0" algn="ctr" rtl="0" eaLnBrk="1" latinLnBrk="0" hangingPunct="1">
                        <a:spcAft>
                          <a:spcPts val="0"/>
                        </a:spcAft>
                      </a:pPr>
                      <a:r>
                        <a:rPr kumimoji="0" lang="en-US" sz="1800" kern="1200" dirty="0">
                          <a:effectLst/>
                        </a:rPr>
                        <a:t>Contribution of Course Outcomes towards achievement of Program Outcomes &amp; Strength of correlations (3:Substantial,2:Moderate,1:Slight)</a:t>
                      </a:r>
                      <a:endParaRPr kumimoji="0" lang="en-IN" sz="1800" b="1" kern="1200" dirty="0">
                        <a:solidFill>
                          <a:schemeClr val="tx1"/>
                        </a:solidFill>
                        <a:effectLst/>
                        <a:latin typeface="+mn-lt"/>
                        <a:ea typeface="+mn-ea"/>
                        <a:cs typeface="+mn-cs"/>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r>
              <a:tr h="441049">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PO1</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PO2</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PO3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PO4</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PO5</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PO6</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PO7</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PO8</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PO9</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PO10</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PO11</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PO12</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PSO1</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PSO2</a:t>
                      </a:r>
                      <a:endParaRPr kumimoji="0" lang="en-IN" sz="1800" b="1" kern="1200">
                        <a:solidFill>
                          <a:schemeClr val="tx1"/>
                        </a:solidFill>
                        <a:effectLst/>
                        <a:latin typeface="+mn-lt"/>
                        <a:ea typeface="+mn-ea"/>
                        <a:cs typeface="+mn-cs"/>
                      </a:endParaRPr>
                    </a:p>
                  </a:txBody>
                  <a:tcPr marL="0" marR="0" marT="0" marB="0"/>
                </a:tc>
              </a:tr>
              <a:tr h="441049">
                <a:tc>
                  <a:txBody>
                    <a:bodyPr/>
                    <a:lstStyle/>
                    <a:p>
                      <a:pPr marL="0" algn="ctr" rtl="0" eaLnBrk="1" latinLnBrk="0" hangingPunct="1">
                        <a:spcAft>
                          <a:spcPts val="0"/>
                        </a:spcAft>
                      </a:pPr>
                      <a:r>
                        <a:rPr kumimoji="0" lang="en-US" sz="1800" kern="1200">
                          <a:effectLst/>
                        </a:rPr>
                        <a:t>CO1</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r>
              <a:tr h="441049">
                <a:tc>
                  <a:txBody>
                    <a:bodyPr/>
                    <a:lstStyle/>
                    <a:p>
                      <a:pPr marL="0" algn="ctr" rtl="0" eaLnBrk="1" latinLnBrk="0" hangingPunct="1">
                        <a:spcAft>
                          <a:spcPts val="0"/>
                        </a:spcAft>
                      </a:pPr>
                      <a:r>
                        <a:rPr kumimoji="0" lang="en-US" sz="1800" kern="1200">
                          <a:effectLst/>
                        </a:rPr>
                        <a:t>CO2</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r>
              <a:tr h="441049">
                <a:tc>
                  <a:txBody>
                    <a:bodyPr/>
                    <a:lstStyle/>
                    <a:p>
                      <a:pPr marL="0" algn="ctr" rtl="0" eaLnBrk="1" latinLnBrk="0" hangingPunct="1">
                        <a:spcAft>
                          <a:spcPts val="0"/>
                        </a:spcAft>
                      </a:pPr>
                      <a:r>
                        <a:rPr kumimoji="0" lang="en-US" sz="1800" kern="1200">
                          <a:effectLst/>
                        </a:rPr>
                        <a:t>CO3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r>
              <a:tr h="441049">
                <a:tc>
                  <a:txBody>
                    <a:bodyPr/>
                    <a:lstStyle/>
                    <a:p>
                      <a:pPr marL="0" algn="ctr" rtl="0" eaLnBrk="1" latinLnBrk="0" hangingPunct="1">
                        <a:spcAft>
                          <a:spcPts val="0"/>
                        </a:spcAft>
                      </a:pPr>
                      <a:r>
                        <a:rPr kumimoji="0" lang="en-US" sz="1800" kern="1200">
                          <a:effectLst/>
                        </a:rPr>
                        <a:t>CO4</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 </a:t>
                      </a: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endParaRPr kumimoji="0" lang="en-IN" sz="1800" b="1" kern="120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a:effectLst/>
                        </a:rPr>
                        <a:t>3</a:t>
                      </a:r>
                      <a:endParaRPr kumimoji="0" lang="en-IN" sz="1800" b="1" kern="1200">
                        <a:solidFill>
                          <a:schemeClr val="tx1"/>
                        </a:solidFill>
                        <a:effectLst/>
                        <a:latin typeface="+mn-lt"/>
                        <a:ea typeface="+mn-ea"/>
                        <a:cs typeface="+mn-cs"/>
                      </a:endParaRPr>
                    </a:p>
                  </a:txBody>
                  <a:tcPr marL="0" marR="0" marT="0" marB="0"/>
                </a:tc>
              </a:tr>
              <a:tr h="441049">
                <a:tc>
                  <a:txBody>
                    <a:bodyPr/>
                    <a:lstStyle/>
                    <a:p>
                      <a:pPr marL="0" algn="ctr" rtl="0" eaLnBrk="1" latinLnBrk="0" hangingPunct="1">
                        <a:spcAft>
                          <a:spcPts val="0"/>
                        </a:spcAft>
                      </a:pPr>
                      <a:r>
                        <a:rPr kumimoji="0" lang="en-US" sz="1800" kern="1200" dirty="0">
                          <a:effectLst/>
                        </a:rPr>
                        <a:t>Avg.</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 </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c>
                  <a:txBody>
                    <a:bodyPr/>
                    <a:lstStyle/>
                    <a:p>
                      <a:pPr marL="0" algn="ctr" rtl="0" eaLnBrk="1" latinLnBrk="0" hangingPunct="1">
                        <a:spcAft>
                          <a:spcPts val="0"/>
                        </a:spcAft>
                      </a:pPr>
                      <a:r>
                        <a:rPr kumimoji="0" lang="en-US" sz="1800" kern="1200" dirty="0">
                          <a:effectLst/>
                        </a:rPr>
                        <a:t>3</a:t>
                      </a:r>
                      <a:endParaRPr kumimoji="0" lang="en-IN" sz="1800" b="1" kern="1200" dirty="0">
                        <a:solidFill>
                          <a:schemeClr val="tx1"/>
                        </a:solidFill>
                        <a:effectLst/>
                        <a:latin typeface="+mn-lt"/>
                        <a:ea typeface="+mn-ea"/>
                        <a:cs typeface="+mn-cs"/>
                      </a:endParaRPr>
                    </a:p>
                  </a:txBody>
                  <a:tcPr marL="0" marR="0" marT="0" marB="0"/>
                </a:tc>
              </a:tr>
            </a:tbl>
          </a:graphicData>
        </a:graphic>
      </p:graphicFrame>
    </p:spTree>
    <p:extLst>
      <p:ext uri="{BB962C8B-B14F-4D97-AF65-F5344CB8AC3E}">
        <p14:creationId xmlns:p14="http://schemas.microsoft.com/office/powerpoint/2010/main" val="42055727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dirty="0" smtClean="0"/>
              <a:t>Syllabus</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980728"/>
            <a:ext cx="7772400" cy="4572000"/>
          </a:xfrm>
        </p:spPr>
        <p:txBody>
          <a:bodyPr>
            <a:normAutofit fontScale="92500" lnSpcReduction="10000"/>
          </a:bodyPr>
          <a:lstStyle/>
          <a:p>
            <a:pPr algn="just"/>
            <a:r>
              <a:rPr lang="en-US" sz="2400" b="1" dirty="0" smtClean="0"/>
              <a:t>UNIT 1 :   JDBC </a:t>
            </a:r>
            <a:r>
              <a:rPr lang="en-US" sz="2400" b="1" dirty="0"/>
              <a:t>Programming: </a:t>
            </a:r>
            <a:r>
              <a:rPr lang="en-US" sz="2400" dirty="0"/>
              <a:t>JDBC Architecture, Exploring JDBC Drivers</a:t>
            </a:r>
            <a:r>
              <a:rPr lang="en-US" sz="2400" b="1" dirty="0"/>
              <a:t>, </a:t>
            </a:r>
            <a:r>
              <a:rPr lang="en-US" sz="2400" dirty="0"/>
              <a:t>Exploring major JDBC Classes and Interfaces, Understanding basic JDBC steps, Creating simple JDBC Application, Working with </a:t>
            </a:r>
            <a:r>
              <a:rPr lang="en-US" sz="2400" dirty="0" err="1"/>
              <a:t>PreparedStatement</a:t>
            </a:r>
            <a:r>
              <a:rPr lang="en-US" sz="2400" dirty="0"/>
              <a:t>, working with </a:t>
            </a:r>
            <a:r>
              <a:rPr lang="en-US" sz="2400" dirty="0" err="1"/>
              <a:t>CallableStatement</a:t>
            </a:r>
            <a:r>
              <a:rPr lang="en-US" sz="2400" dirty="0"/>
              <a:t>, Working with </a:t>
            </a:r>
            <a:r>
              <a:rPr lang="en-US" sz="2400" dirty="0" err="1"/>
              <a:t>ResultSet</a:t>
            </a:r>
            <a:r>
              <a:rPr lang="en-US" sz="2400" dirty="0"/>
              <a:t>, Working with Batch updates: Using batch updates with the Statement object, Working with transactions: ACID properties, Types of transactions, Transaction Management. </a:t>
            </a:r>
            <a:r>
              <a:rPr lang="en-US" sz="2400" b="1" dirty="0" smtClean="0"/>
              <a:t> </a:t>
            </a:r>
          </a:p>
          <a:p>
            <a:pPr algn="just"/>
            <a:r>
              <a:rPr lang="en-US" sz="2400" b="1" dirty="0" smtClean="0"/>
              <a:t>UNIT 2: </a:t>
            </a:r>
            <a:r>
              <a:rPr lang="en-US" sz="2400" b="1" dirty="0"/>
              <a:t>J2EE and Web Development: </a:t>
            </a:r>
            <a:r>
              <a:rPr lang="en-US" sz="2400" dirty="0"/>
              <a:t>Exploring enterprise architecture types, Describing EE6 containers, Types of Servers in J2EE Applications, Exploring the HTTP protocol: Describing HTTP requests, Introducing web applications: Describing components of a web application, Describing structure, Describing web containers,  Exploring web architecture models: Model-1 architecture, Model-2 architecture and MVC architecture. </a:t>
            </a:r>
            <a:endParaRPr lang="en-IN" sz="2400" dirty="0"/>
          </a:p>
        </p:txBody>
      </p:sp>
    </p:spTree>
    <p:extLst>
      <p:ext uri="{BB962C8B-B14F-4D97-AF65-F5344CB8AC3E}">
        <p14:creationId xmlns:p14="http://schemas.microsoft.com/office/powerpoint/2010/main" val="5511517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95536" y="476672"/>
            <a:ext cx="7772400" cy="4572000"/>
          </a:xfrm>
        </p:spPr>
        <p:txBody>
          <a:bodyPr>
            <a:normAutofit fontScale="85000" lnSpcReduction="10000"/>
          </a:bodyPr>
          <a:lstStyle/>
          <a:p>
            <a:pPr algn="just"/>
            <a:r>
              <a:rPr lang="en-US" b="1" dirty="0" smtClean="0"/>
              <a:t>UNIT 3: Servlet </a:t>
            </a:r>
            <a:r>
              <a:rPr lang="en-US" b="1" dirty="0"/>
              <a:t>API and Overview:</a:t>
            </a:r>
            <a:r>
              <a:rPr lang="en-US" dirty="0"/>
              <a:t> Exploring the features of JAVA servlet: Servlet a request-response model, servlet and environment state, Security features, HTML-aware servlets, HTML-specific servlets, Performance features, 3-tier applications, Exploring the Servlet API,  Explaining the Servlet Life Cycle(SLC), Creating a sample servlet: Exploring directory structure, configuring the servlet, packaging, deploying and running the Web application, Working with </a:t>
            </a:r>
            <a:r>
              <a:rPr lang="en-US" dirty="0" err="1"/>
              <a:t>ServletContext</a:t>
            </a:r>
            <a:r>
              <a:rPr lang="en-US" dirty="0"/>
              <a:t> and </a:t>
            </a:r>
            <a:r>
              <a:rPr lang="en-US" dirty="0" err="1"/>
              <a:t>ServletConfig</a:t>
            </a:r>
            <a:r>
              <a:rPr lang="en-US" dirty="0"/>
              <a:t> Objects, Working with the </a:t>
            </a:r>
            <a:r>
              <a:rPr lang="en-US" dirty="0" err="1"/>
              <a:t>HttpServletRequest</a:t>
            </a:r>
            <a:r>
              <a:rPr lang="en-US" dirty="0"/>
              <a:t> and </a:t>
            </a:r>
            <a:r>
              <a:rPr lang="en-US" dirty="0" err="1"/>
              <a:t>HttpServletResponse</a:t>
            </a:r>
            <a:r>
              <a:rPr lang="en-US" dirty="0"/>
              <a:t> interfaces: Using the </a:t>
            </a:r>
            <a:r>
              <a:rPr lang="en-US" dirty="0" err="1"/>
              <a:t>HttpServletRequest</a:t>
            </a:r>
            <a:r>
              <a:rPr lang="en-US" dirty="0"/>
              <a:t> interfaces(the role of form data, form data and parameters, headers, File uploads), Using </a:t>
            </a:r>
            <a:r>
              <a:rPr lang="en-US" dirty="0" err="1"/>
              <a:t>HttpServletResponse</a:t>
            </a:r>
            <a:r>
              <a:rPr lang="en-US" dirty="0"/>
              <a:t> interface(Response header, response redirection), Exploring session tracking mechanisms: using Cookies, Hidden Form Fields and URL Rewriting,  Creating a session using </a:t>
            </a:r>
            <a:r>
              <a:rPr lang="en-US" dirty="0" err="1"/>
              <a:t>HTTPSession</a:t>
            </a:r>
            <a:r>
              <a:rPr lang="en-US" dirty="0"/>
              <a:t> interface. </a:t>
            </a:r>
            <a:endParaRPr lang="en-IN" dirty="0"/>
          </a:p>
        </p:txBody>
      </p:sp>
    </p:spTree>
    <p:extLst>
      <p:ext uri="{BB962C8B-B14F-4D97-AF65-F5344CB8AC3E}">
        <p14:creationId xmlns:p14="http://schemas.microsoft.com/office/powerpoint/2010/main" val="8904434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95536" y="260648"/>
            <a:ext cx="8424936" cy="5904656"/>
          </a:xfrm>
        </p:spPr>
        <p:txBody>
          <a:bodyPr>
            <a:normAutofit fontScale="92500" lnSpcReduction="10000"/>
          </a:bodyPr>
          <a:lstStyle/>
          <a:p>
            <a:pPr algn="just"/>
            <a:r>
              <a:rPr lang="en-US" b="1" dirty="0" smtClean="0"/>
              <a:t>UNIT 4: </a:t>
            </a:r>
            <a:r>
              <a:rPr lang="en-US" b="1" dirty="0"/>
              <a:t>Java Server Pages(JSP):</a:t>
            </a:r>
            <a:r>
              <a:rPr lang="en-US" dirty="0"/>
              <a:t>  Introduction to JSP technology, advantages of JSP over JAVA servlet, JSP Architecture, JSP: Life Cycle, Working with JSP basic tags and implicit objects: Exploring scripting tags (</a:t>
            </a:r>
            <a:r>
              <a:rPr lang="en-US" dirty="0" err="1"/>
              <a:t>scriptlet</a:t>
            </a:r>
            <a:r>
              <a:rPr lang="en-US" dirty="0"/>
              <a:t>, declarative, expression), Exploring implicit objects(request, response, out, page, </a:t>
            </a:r>
            <a:r>
              <a:rPr lang="en-US" dirty="0" err="1"/>
              <a:t>pageContext</a:t>
            </a:r>
            <a:r>
              <a:rPr lang="en-US" dirty="0"/>
              <a:t>, application, session, </a:t>
            </a:r>
            <a:r>
              <a:rPr lang="en-US" dirty="0" err="1"/>
              <a:t>config</a:t>
            </a:r>
            <a:r>
              <a:rPr lang="en-US" dirty="0"/>
              <a:t>, exception), Exploring directive tags ( page, include, </a:t>
            </a:r>
            <a:r>
              <a:rPr lang="en-US" dirty="0" err="1"/>
              <a:t>taglib</a:t>
            </a:r>
            <a:r>
              <a:rPr lang="en-US" dirty="0"/>
              <a:t>), Working with JSP action tags: Exploring action tags(&lt;</a:t>
            </a:r>
            <a:r>
              <a:rPr lang="en-US" dirty="0" err="1"/>
              <a:t>jsp:include</a:t>
            </a:r>
            <a:r>
              <a:rPr lang="en-US" dirty="0"/>
              <a:t>&gt;, &lt;</a:t>
            </a:r>
            <a:r>
              <a:rPr lang="en-US" dirty="0" err="1"/>
              <a:t>jsp:forward</a:t>
            </a:r>
            <a:r>
              <a:rPr lang="en-US" dirty="0"/>
              <a:t>&gt;,  &lt;</a:t>
            </a:r>
            <a:r>
              <a:rPr lang="en-US" dirty="0" err="1"/>
              <a:t>jsp:param</a:t>
            </a:r>
            <a:r>
              <a:rPr lang="en-US" dirty="0"/>
              <a:t>&gt;, &lt;</a:t>
            </a:r>
            <a:r>
              <a:rPr lang="en-US" dirty="0" err="1"/>
              <a:t>jsp:plugin</a:t>
            </a:r>
            <a:r>
              <a:rPr lang="en-US" dirty="0"/>
              <a:t>&gt;,&lt;</a:t>
            </a:r>
            <a:r>
              <a:rPr lang="en-US" dirty="0" err="1"/>
              <a:t>jsp:useBean</a:t>
            </a:r>
            <a:r>
              <a:rPr lang="en-US" dirty="0"/>
              <a:t>&gt;, &lt;</a:t>
            </a:r>
            <a:r>
              <a:rPr lang="en-US" dirty="0" err="1"/>
              <a:t>jsp:setProperty</a:t>
            </a:r>
            <a:r>
              <a:rPr lang="en-US" dirty="0"/>
              <a:t>&gt;, &lt;</a:t>
            </a:r>
            <a:r>
              <a:rPr lang="en-US" dirty="0" err="1"/>
              <a:t>jsp:getProperty</a:t>
            </a:r>
            <a:r>
              <a:rPr lang="en-US" dirty="0"/>
              <a:t>&gt;), JSP Standard Tag Libraries(JSTL): Working with core tag library. CRUD application with JSP. </a:t>
            </a:r>
            <a:endParaRPr lang="en-US" dirty="0" smtClean="0"/>
          </a:p>
          <a:p>
            <a:pPr algn="just"/>
            <a:r>
              <a:rPr lang="en-US" b="1" dirty="0" smtClean="0"/>
              <a:t>UNIT 5: </a:t>
            </a:r>
            <a:r>
              <a:rPr lang="en-US" b="1" dirty="0"/>
              <a:t>Java Web Frameworks:</a:t>
            </a:r>
            <a:r>
              <a:rPr lang="en-US" dirty="0"/>
              <a:t> Working with Spring: Introducing the features of the Spring framework, Exploring the Spring Framework Architecture, Sprint Container, Exploring Dependency Injection, Constructor Injection, Setter Injection, Inversion of Control, and Spring annotation based Configurations, Spring MVC life cycle. </a:t>
            </a:r>
            <a:endParaRPr lang="en-IN" dirty="0"/>
          </a:p>
        </p:txBody>
      </p:sp>
    </p:spTree>
    <p:extLst>
      <p:ext uri="{BB962C8B-B14F-4D97-AF65-F5344CB8AC3E}">
        <p14:creationId xmlns:p14="http://schemas.microsoft.com/office/powerpoint/2010/main" val="1139226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539552" y="620688"/>
            <a:ext cx="7772400" cy="4572000"/>
          </a:xfrm>
        </p:spPr>
        <p:txBody>
          <a:bodyPr/>
          <a:lstStyle/>
          <a:p>
            <a:r>
              <a:rPr lang="en-US" b="1" dirty="0"/>
              <a:t>Text </a:t>
            </a:r>
            <a:r>
              <a:rPr lang="en-US" b="1" dirty="0" smtClean="0"/>
              <a:t>Books: </a:t>
            </a:r>
          </a:p>
          <a:p>
            <a:pPr marL="0" indent="0">
              <a:buNone/>
            </a:pPr>
            <a:r>
              <a:rPr lang="en-US" dirty="0" smtClean="0"/>
              <a:t>Black </a:t>
            </a:r>
            <a:r>
              <a:rPr lang="en-US" dirty="0"/>
              <a:t>Book “Java Server Programming Java EE6”, Dream Tech </a:t>
            </a:r>
            <a:r>
              <a:rPr lang="en-US" dirty="0" smtClean="0"/>
              <a:t>  Publishers</a:t>
            </a:r>
            <a:r>
              <a:rPr lang="en-US" dirty="0"/>
              <a:t>, 2012.</a:t>
            </a:r>
            <a:endParaRPr lang="en-US" b="1" dirty="0" smtClean="0"/>
          </a:p>
        </p:txBody>
      </p:sp>
      <p:pic>
        <p:nvPicPr>
          <p:cNvPr id="6146" name="Picture 2" descr="https://m.media-amazon.com/images/I/71vRBrLjCUL._SL1500_.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1700808"/>
            <a:ext cx="1909213" cy="2490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8067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467544" y="1124744"/>
            <a:ext cx="7992888" cy="4608512"/>
          </a:xfrm>
        </p:spPr>
        <p:txBody>
          <a:bodyPr>
            <a:normAutofit/>
          </a:bodyPr>
          <a:lstStyle/>
          <a:p>
            <a:r>
              <a:rPr lang="en-IN" sz="2400" b="1" dirty="0"/>
              <a:t>JDBC (Java Database Connectivity)</a:t>
            </a:r>
            <a:r>
              <a:rPr lang="en-IN" sz="2400" dirty="0"/>
              <a:t> is a </a:t>
            </a:r>
            <a:r>
              <a:rPr lang="en-IN" sz="2400" b="1" dirty="0"/>
              <a:t>Java API</a:t>
            </a:r>
            <a:r>
              <a:rPr lang="en-IN" sz="2400" dirty="0"/>
              <a:t> that enables </a:t>
            </a:r>
            <a:r>
              <a:rPr lang="en-IN" sz="2400" b="1" dirty="0"/>
              <a:t>Java applications to connect and interact with databases</a:t>
            </a:r>
            <a:r>
              <a:rPr lang="en-IN" sz="2400" dirty="0"/>
              <a:t>. </a:t>
            </a:r>
            <a:endParaRPr lang="en-IN" sz="2400" dirty="0" smtClean="0"/>
          </a:p>
          <a:p>
            <a:r>
              <a:rPr lang="en-IN" sz="2400" dirty="0" smtClean="0"/>
              <a:t>It </a:t>
            </a:r>
            <a:r>
              <a:rPr lang="en-IN" sz="2400" dirty="0"/>
              <a:t>provides a </a:t>
            </a:r>
            <a:r>
              <a:rPr lang="en-IN" sz="2400" b="1" dirty="0"/>
              <a:t>standard interface</a:t>
            </a:r>
            <a:r>
              <a:rPr lang="en-IN" sz="2400" dirty="0"/>
              <a:t> for accessing relational databases (such as MySQL, Oracle, </a:t>
            </a:r>
            <a:r>
              <a:rPr lang="en-IN" sz="2400" dirty="0" err="1"/>
              <a:t>PostgreSQL</a:t>
            </a:r>
            <a:r>
              <a:rPr lang="en-IN" sz="2400" dirty="0"/>
              <a:t>, SQL Server, etc.) </a:t>
            </a:r>
            <a:r>
              <a:rPr lang="en-IN" sz="2400" dirty="0" smtClean="0"/>
              <a:t>using </a:t>
            </a:r>
            <a:r>
              <a:rPr lang="en-IN" sz="2400" dirty="0"/>
              <a:t>SQL queries</a:t>
            </a:r>
            <a:r>
              <a:rPr lang="en-IN" sz="2400" dirty="0" smtClean="0"/>
              <a:t>.</a:t>
            </a:r>
          </a:p>
          <a:p>
            <a:r>
              <a:rPr lang="en-US" sz="2400" dirty="0" smtClean="0"/>
              <a:t>Key Characteristics:</a:t>
            </a:r>
          </a:p>
          <a:p>
            <a:pPr lvl="1"/>
            <a:r>
              <a:rPr lang="en-US" sz="2200" dirty="0" smtClean="0"/>
              <a:t>Supports portability</a:t>
            </a:r>
            <a:endParaRPr lang="en-IN" sz="2200" dirty="0" smtClean="0"/>
          </a:p>
          <a:p>
            <a:pPr lvl="1"/>
            <a:r>
              <a:rPr lang="en-US" sz="2200" dirty="0"/>
              <a:t>Connect to a database</a:t>
            </a:r>
          </a:p>
          <a:p>
            <a:pPr lvl="1"/>
            <a:r>
              <a:rPr lang="en-US" sz="2200" dirty="0"/>
              <a:t>Send SQL queries (like SELECT, INSERT, UPDATE, DELETE)</a:t>
            </a:r>
          </a:p>
          <a:p>
            <a:pPr lvl="1"/>
            <a:r>
              <a:rPr lang="en-US" sz="2200" dirty="0"/>
              <a:t>Retrieve and process the results</a:t>
            </a:r>
          </a:p>
          <a:p>
            <a:pPr lvl="1"/>
            <a:r>
              <a:rPr lang="en-US" sz="2200" dirty="0"/>
              <a:t>Handle database transactions</a:t>
            </a:r>
          </a:p>
          <a:p>
            <a:endParaRPr lang="en-IN" sz="2400" dirty="0"/>
          </a:p>
        </p:txBody>
      </p:sp>
    </p:spTree>
    <p:extLst>
      <p:ext uri="{BB962C8B-B14F-4D97-AF65-F5344CB8AC3E}">
        <p14:creationId xmlns:p14="http://schemas.microsoft.com/office/powerpoint/2010/main" val="2449407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Components of JDBC  </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467544" y="1124744"/>
            <a:ext cx="7992888" cy="4608512"/>
          </a:xfrm>
        </p:spPr>
        <p:txBody>
          <a:bodyPr>
            <a:normAutofit/>
          </a:bodyPr>
          <a:lstStyle/>
          <a:p>
            <a:r>
              <a:rPr lang="en-US" sz="2400" b="1" dirty="0" smtClean="0"/>
              <a:t> </a:t>
            </a:r>
            <a:r>
              <a:rPr lang="en-IN" sz="2400" dirty="0"/>
              <a:t>4 Main </a:t>
            </a:r>
            <a:r>
              <a:rPr lang="en-IN" sz="2400" dirty="0" smtClean="0"/>
              <a:t>Components</a:t>
            </a:r>
          </a:p>
          <a:p>
            <a:pPr marL="0" indent="0">
              <a:buNone/>
            </a:pPr>
            <a:endParaRPr lang="en-IN" sz="200" dirty="0" smtClean="0"/>
          </a:p>
          <a:p>
            <a:pPr lvl="1"/>
            <a:r>
              <a:rPr lang="en-IN" sz="2200" b="1" dirty="0" smtClean="0"/>
              <a:t>The </a:t>
            </a:r>
            <a:r>
              <a:rPr lang="en-IN" sz="2200" b="1" dirty="0"/>
              <a:t>JDBC API</a:t>
            </a:r>
            <a:r>
              <a:rPr lang="en-IN" sz="2200" dirty="0"/>
              <a:t> – </a:t>
            </a:r>
            <a:r>
              <a:rPr lang="en-IN" sz="2200" dirty="0" smtClean="0"/>
              <a:t>The </a:t>
            </a:r>
            <a:r>
              <a:rPr lang="en-IN" sz="2200" dirty="0"/>
              <a:t>JDBC </a:t>
            </a:r>
            <a:r>
              <a:rPr lang="en-IN" sz="2200" dirty="0" smtClean="0"/>
              <a:t>API </a:t>
            </a:r>
            <a:r>
              <a:rPr lang="en-IN" dirty="0"/>
              <a:t>Provides various methods and interfaces for easy and effective communication with databases. (</a:t>
            </a:r>
            <a:r>
              <a:rPr lang="en-IN" dirty="0" err="1"/>
              <a:t>java.sql</a:t>
            </a:r>
            <a:r>
              <a:rPr lang="en-IN" dirty="0"/>
              <a:t>.*,</a:t>
            </a:r>
            <a:r>
              <a:rPr lang="en-IN" dirty="0" err="1"/>
              <a:t>javax.sql</a:t>
            </a:r>
            <a:r>
              <a:rPr lang="en-IN" dirty="0" smtClean="0"/>
              <a:t>.*) – </a:t>
            </a:r>
            <a:r>
              <a:rPr lang="en-IN" dirty="0" err="1" smtClean="0"/>
              <a:t>DriverManager</a:t>
            </a:r>
            <a:r>
              <a:rPr lang="en-IN" dirty="0" smtClean="0"/>
              <a:t>, </a:t>
            </a:r>
            <a:r>
              <a:rPr lang="en-IN" dirty="0"/>
              <a:t>	</a:t>
            </a:r>
            <a:r>
              <a:rPr lang="en-IN" dirty="0" smtClean="0"/>
              <a:t>Driver, Connection</a:t>
            </a:r>
            <a:endParaRPr lang="en-IN" dirty="0"/>
          </a:p>
          <a:p>
            <a:pPr lvl="2" algn="just">
              <a:buNone/>
            </a:pPr>
            <a:r>
              <a:rPr lang="en-IN" sz="2400" dirty="0" smtClean="0"/>
              <a:t>Statement, </a:t>
            </a:r>
            <a:r>
              <a:rPr lang="en-IN" sz="2400" dirty="0" err="1" smtClean="0"/>
              <a:t>PreapredStatement</a:t>
            </a:r>
            <a:r>
              <a:rPr lang="en-IN" sz="2400" dirty="0" smtClean="0"/>
              <a:t>, </a:t>
            </a:r>
            <a:r>
              <a:rPr lang="en-IN" sz="2400" dirty="0" err="1" smtClean="0"/>
              <a:t>CallableStatement</a:t>
            </a:r>
            <a:r>
              <a:rPr lang="en-IN" sz="2400" dirty="0" smtClean="0"/>
              <a:t>, </a:t>
            </a:r>
            <a:r>
              <a:rPr lang="en-IN" sz="2400" dirty="0" err="1" smtClean="0"/>
              <a:t>ResultSet</a:t>
            </a:r>
            <a:r>
              <a:rPr lang="en-IN" sz="2400" dirty="0" smtClean="0"/>
              <a:t>.</a:t>
            </a:r>
          </a:p>
          <a:p>
            <a:pPr lvl="2" algn="just">
              <a:buNone/>
            </a:pPr>
            <a:endParaRPr lang="en-IN" sz="400" dirty="0" smtClean="0"/>
          </a:p>
          <a:p>
            <a:pPr lvl="1"/>
            <a:r>
              <a:rPr lang="en-IN" sz="2200" dirty="0"/>
              <a:t>JDBC </a:t>
            </a:r>
            <a:r>
              <a:rPr lang="en-IN" sz="2200" dirty="0" err="1" smtClean="0"/>
              <a:t>DriverManager</a:t>
            </a:r>
            <a:r>
              <a:rPr lang="en-IN" sz="2200" dirty="0" smtClean="0"/>
              <a:t> - </a:t>
            </a:r>
            <a:r>
              <a:rPr lang="en-IN" dirty="0"/>
              <a:t>JDBC </a:t>
            </a:r>
            <a:r>
              <a:rPr lang="en-IN" dirty="0" err="1" smtClean="0"/>
              <a:t>DriverManager</a:t>
            </a:r>
            <a:r>
              <a:rPr lang="en-IN" dirty="0" smtClean="0"/>
              <a:t> JDBC </a:t>
            </a:r>
            <a:r>
              <a:rPr lang="en-IN" dirty="0"/>
              <a:t>Driver manager loads the database-specific driver into an application in order to establish the connection with the database</a:t>
            </a:r>
            <a:r>
              <a:rPr lang="en-IN" dirty="0" smtClean="0"/>
              <a:t>.</a:t>
            </a:r>
            <a:endParaRPr lang="en-US" sz="2200" dirty="0"/>
          </a:p>
          <a:p>
            <a:endParaRPr lang="en-IN" sz="2400" dirty="0"/>
          </a:p>
        </p:txBody>
      </p:sp>
    </p:spTree>
    <p:extLst>
      <p:ext uri="{BB962C8B-B14F-4D97-AF65-F5344CB8AC3E}">
        <p14:creationId xmlns:p14="http://schemas.microsoft.com/office/powerpoint/2010/main" val="21300556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908720"/>
            <a:ext cx="7772400" cy="4572000"/>
          </a:xfrm>
        </p:spPr>
        <p:txBody>
          <a:bodyPr/>
          <a:lstStyle/>
          <a:p>
            <a:pPr lvl="1" algn="just"/>
            <a:r>
              <a:rPr lang="en-IN" sz="2800" b="1" dirty="0"/>
              <a:t> JDBC Test suite:</a:t>
            </a:r>
            <a:r>
              <a:rPr lang="en-IN" sz="2800" dirty="0"/>
              <a:t> JDBC Test suite facilitates the programmer to test the various operations such as deletion, </a:t>
            </a:r>
            <a:r>
              <a:rPr lang="en-IN" sz="2800" dirty="0" err="1"/>
              <a:t>updation</a:t>
            </a:r>
            <a:r>
              <a:rPr lang="en-IN" sz="2800" dirty="0"/>
              <a:t>, insertion that are being executed by the JDBC Drivers or </a:t>
            </a:r>
            <a:r>
              <a:rPr lang="en-IN" sz="2800" dirty="0" smtClean="0"/>
              <a:t>not</a:t>
            </a:r>
          </a:p>
          <a:p>
            <a:pPr marL="320040" lvl="1" indent="0" algn="just">
              <a:buNone/>
            </a:pPr>
            <a:endParaRPr lang="en-IN" sz="2800" b="1" dirty="0"/>
          </a:p>
          <a:p>
            <a:pPr lvl="1" algn="just"/>
            <a:r>
              <a:rPr lang="en-IN" b="1" dirty="0" smtClean="0"/>
              <a:t>JDBC-ODBC </a:t>
            </a:r>
            <a:r>
              <a:rPr lang="en-IN" b="1" dirty="0"/>
              <a:t>Bridge Drivers:</a:t>
            </a:r>
            <a:r>
              <a:rPr lang="en-IN" dirty="0"/>
              <a:t> </a:t>
            </a:r>
            <a:r>
              <a:rPr lang="en-IN" sz="2800" dirty="0"/>
              <a:t>JDBC-ODBC Bridge Drivers are used to connect the database drivers to the database. The bridge does the translation of the JDBC method calls into the ODBC method call.</a:t>
            </a:r>
          </a:p>
          <a:p>
            <a:endParaRPr lang="en-IN" dirty="0"/>
          </a:p>
        </p:txBody>
      </p:sp>
    </p:spTree>
    <p:extLst>
      <p:ext uri="{BB962C8B-B14F-4D97-AF65-F5344CB8AC3E}">
        <p14:creationId xmlns:p14="http://schemas.microsoft.com/office/powerpoint/2010/main" val="1315458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Architecture</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995936" y="1124744"/>
            <a:ext cx="5040560" cy="2264498"/>
          </a:xfrm>
        </p:spPr>
        <p:txBody>
          <a:bodyPr>
            <a:normAutofit lnSpcReduction="10000"/>
          </a:bodyPr>
          <a:lstStyle/>
          <a:p>
            <a:r>
              <a:rPr lang="en-US" sz="2400" b="1" dirty="0"/>
              <a:t>JDBC API: </a:t>
            </a:r>
            <a:r>
              <a:rPr lang="en-US" sz="2400" b="1" dirty="0" smtClean="0"/>
              <a:t> </a:t>
            </a:r>
            <a:r>
              <a:rPr lang="en-US" sz="2400" dirty="0" smtClean="0"/>
              <a:t>Provides classes </a:t>
            </a:r>
            <a:r>
              <a:rPr lang="en-US" sz="2400" dirty="0"/>
              <a:t>and interfaces to connect with databases. Some of the important classes and interfaces defined in JDBC architecture in </a:t>
            </a:r>
            <a:r>
              <a:rPr lang="en-US" sz="2400" dirty="0" smtClean="0"/>
              <a:t>Java are </a:t>
            </a:r>
            <a:r>
              <a:rPr lang="en-US" sz="2400" b="1" dirty="0" err="1" smtClean="0"/>
              <a:t>DriverManager</a:t>
            </a:r>
            <a:r>
              <a:rPr lang="en-US" sz="2400" b="1" dirty="0" smtClean="0"/>
              <a:t> </a:t>
            </a:r>
            <a:r>
              <a:rPr lang="en-US" sz="2400" dirty="0"/>
              <a:t>class,</a:t>
            </a:r>
            <a:r>
              <a:rPr lang="en-US" sz="2400" b="1" dirty="0"/>
              <a:t> Connection </a:t>
            </a:r>
            <a:r>
              <a:rPr lang="en-US" sz="2400" dirty="0"/>
              <a:t>Interface, etc.</a:t>
            </a:r>
          </a:p>
          <a:p>
            <a:endParaRPr lang="en-IN" sz="2400" dirty="0"/>
          </a:p>
        </p:txBody>
      </p:sp>
      <p:pic>
        <p:nvPicPr>
          <p:cNvPr id="5" name="Picture 2" descr="Design of JDBC"/>
          <p:cNvPicPr>
            <a:picLocks noChangeAspect="1" noChangeArrowheads="1"/>
          </p:cNvPicPr>
          <p:nvPr/>
        </p:nvPicPr>
        <p:blipFill>
          <a:blip r:embed="rId2"/>
          <a:srcRect/>
          <a:stretch>
            <a:fillRect/>
          </a:stretch>
        </p:blipFill>
        <p:spPr bwMode="auto">
          <a:xfrm>
            <a:off x="-468560" y="1312167"/>
            <a:ext cx="6601952" cy="4154151"/>
          </a:xfrm>
          <a:prstGeom prst="rect">
            <a:avLst/>
          </a:prstGeom>
          <a:noFill/>
        </p:spPr>
      </p:pic>
    </p:spTree>
    <p:extLst>
      <p:ext uri="{BB962C8B-B14F-4D97-AF65-F5344CB8AC3E}">
        <p14:creationId xmlns:p14="http://schemas.microsoft.com/office/powerpoint/2010/main" val="35356406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Architecture</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1124744"/>
            <a:ext cx="7772400" cy="4572000"/>
          </a:xfrm>
        </p:spPr>
        <p:txBody>
          <a:bodyPr>
            <a:normAutofit/>
          </a:bodyPr>
          <a:lstStyle/>
          <a:p>
            <a:endParaRPr lang="en-IN" sz="2400" dirty="0"/>
          </a:p>
        </p:txBody>
      </p:sp>
      <p:pic>
        <p:nvPicPr>
          <p:cNvPr id="5" name="Picture 2" descr="Design of JDBC"/>
          <p:cNvPicPr>
            <a:picLocks noChangeAspect="1" noChangeArrowheads="1"/>
          </p:cNvPicPr>
          <p:nvPr/>
        </p:nvPicPr>
        <p:blipFill>
          <a:blip r:embed="rId2"/>
          <a:srcRect/>
          <a:stretch>
            <a:fillRect/>
          </a:stretch>
        </p:blipFill>
        <p:spPr bwMode="auto">
          <a:xfrm>
            <a:off x="-396552" y="1772816"/>
            <a:ext cx="6601952" cy="4154151"/>
          </a:xfrm>
          <a:prstGeom prst="rect">
            <a:avLst/>
          </a:prstGeom>
          <a:noFill/>
        </p:spPr>
      </p:pic>
      <p:sp>
        <p:nvSpPr>
          <p:cNvPr id="6" name="Rectangle 5"/>
          <p:cNvSpPr/>
          <p:nvPr/>
        </p:nvSpPr>
        <p:spPr>
          <a:xfrm>
            <a:off x="4067944" y="1052736"/>
            <a:ext cx="4968552" cy="2554545"/>
          </a:xfrm>
          <a:prstGeom prst="rect">
            <a:avLst/>
          </a:prstGeom>
        </p:spPr>
        <p:txBody>
          <a:bodyPr wrap="square">
            <a:spAutoFit/>
          </a:bodyPr>
          <a:lstStyle/>
          <a:p>
            <a:pPr algn="just"/>
            <a:r>
              <a:rPr lang="en-US" sz="2000" b="1" dirty="0" err="1" smtClean="0"/>
              <a:t>DriverManager</a:t>
            </a:r>
            <a:r>
              <a:rPr lang="en-US" sz="2000" b="1" dirty="0" smtClean="0"/>
              <a:t> : </a:t>
            </a:r>
            <a:r>
              <a:rPr lang="en-US" sz="2000" dirty="0" err="1" smtClean="0"/>
              <a:t>DriverManager</a:t>
            </a:r>
            <a:r>
              <a:rPr lang="en-US" sz="2000" dirty="0" smtClean="0"/>
              <a:t> class in the JDBC architecture is used to </a:t>
            </a:r>
            <a:r>
              <a:rPr lang="en-US" sz="2000" b="1" dirty="0" smtClean="0"/>
              <a:t>establish a connection</a:t>
            </a:r>
            <a:r>
              <a:rPr lang="en-US" sz="2000" dirty="0" smtClean="0"/>
              <a:t> between Java applications and databases. </a:t>
            </a:r>
          </a:p>
          <a:p>
            <a:pPr algn="just"/>
            <a:endParaRPr lang="en-US" sz="2000" dirty="0"/>
          </a:p>
          <a:p>
            <a:pPr algn="just"/>
            <a:r>
              <a:rPr lang="en-US" sz="2000" dirty="0" smtClean="0"/>
              <a:t>Using the </a:t>
            </a:r>
            <a:r>
              <a:rPr lang="en-US" sz="2000" b="1" dirty="0" err="1" smtClean="0"/>
              <a:t>getConnection</a:t>
            </a:r>
            <a:r>
              <a:rPr lang="en-US" sz="2000" b="1" dirty="0" smtClean="0"/>
              <a:t>()</a:t>
            </a:r>
            <a:r>
              <a:rPr lang="en-US" sz="2000" dirty="0" smtClean="0"/>
              <a:t> method of this class a connection is established between the Java application and data sources</a:t>
            </a:r>
            <a:endParaRPr lang="en-IN" sz="2000" dirty="0"/>
          </a:p>
        </p:txBody>
      </p:sp>
    </p:spTree>
    <p:extLst>
      <p:ext uri="{BB962C8B-B14F-4D97-AF65-F5344CB8AC3E}">
        <p14:creationId xmlns:p14="http://schemas.microsoft.com/office/powerpoint/2010/main" val="27773528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Architecture</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499992" y="476672"/>
            <a:ext cx="4536504" cy="3672408"/>
          </a:xfrm>
        </p:spPr>
        <p:txBody>
          <a:bodyPr>
            <a:normAutofit fontScale="92500"/>
          </a:bodyPr>
          <a:lstStyle/>
          <a:p>
            <a:r>
              <a:rPr lang="en-US" sz="2400" b="1" dirty="0"/>
              <a:t>JDBC Drivers : </a:t>
            </a:r>
            <a:r>
              <a:rPr lang="en-US" sz="2400" dirty="0"/>
              <a:t>JDBC drivers are used to connecting with data sources. </a:t>
            </a:r>
            <a:endParaRPr lang="en-US" sz="2400" dirty="0" smtClean="0"/>
          </a:p>
          <a:p>
            <a:r>
              <a:rPr lang="en-US" sz="2400" dirty="0" smtClean="0"/>
              <a:t>All </a:t>
            </a:r>
            <a:r>
              <a:rPr lang="en-US" sz="2400" dirty="0"/>
              <a:t>databases like Oracle, MSSQL, MYSQL, etc. have their drivers, to connect with these databases we need to load their specific drivers. </a:t>
            </a:r>
            <a:endParaRPr lang="en-US" sz="2400" dirty="0" smtClean="0"/>
          </a:p>
          <a:p>
            <a:r>
              <a:rPr lang="en-US" sz="2400" b="1" i="1" dirty="0" smtClean="0"/>
              <a:t>Class</a:t>
            </a:r>
            <a:r>
              <a:rPr lang="en-US" sz="2400" dirty="0"/>
              <a:t> is a </a:t>
            </a:r>
            <a:r>
              <a:rPr lang="en-US" sz="2400" dirty="0" smtClean="0"/>
              <a:t>Java </a:t>
            </a:r>
            <a:r>
              <a:rPr lang="en-US" sz="2400" dirty="0"/>
              <a:t>class used to load drivers. </a:t>
            </a:r>
            <a:r>
              <a:rPr lang="en-US" sz="2400" b="1" dirty="0" err="1"/>
              <a:t>Class.forName</a:t>
            </a:r>
            <a:r>
              <a:rPr lang="en-US" sz="2400" b="1" dirty="0"/>
              <a:t>()</a:t>
            </a:r>
            <a:r>
              <a:rPr lang="en-US" sz="2400" dirty="0"/>
              <a:t> method is used to load drivers in JDBC architecture</a:t>
            </a:r>
            <a:endParaRPr lang="en-IN" sz="2400" dirty="0"/>
          </a:p>
        </p:txBody>
      </p:sp>
      <p:pic>
        <p:nvPicPr>
          <p:cNvPr id="5" name="Picture 2" descr="Design of JDBC"/>
          <p:cNvPicPr>
            <a:picLocks noChangeAspect="1" noChangeArrowheads="1"/>
          </p:cNvPicPr>
          <p:nvPr/>
        </p:nvPicPr>
        <p:blipFill>
          <a:blip r:embed="rId2"/>
          <a:srcRect/>
          <a:stretch>
            <a:fillRect/>
          </a:stretch>
        </p:blipFill>
        <p:spPr bwMode="auto">
          <a:xfrm>
            <a:off x="-556552" y="1932832"/>
            <a:ext cx="6601952" cy="4154151"/>
          </a:xfrm>
          <a:prstGeom prst="rect">
            <a:avLst/>
          </a:prstGeom>
          <a:noFill/>
        </p:spPr>
      </p:pic>
    </p:spTree>
    <p:extLst>
      <p:ext uri="{BB962C8B-B14F-4D97-AF65-F5344CB8AC3E}">
        <p14:creationId xmlns:p14="http://schemas.microsoft.com/office/powerpoint/2010/main" val="27773528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Architecture</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1124744"/>
            <a:ext cx="7772400" cy="4572000"/>
          </a:xfrm>
        </p:spPr>
        <p:txBody>
          <a:bodyPr>
            <a:normAutofit/>
          </a:bodyPr>
          <a:lstStyle/>
          <a:p>
            <a:endParaRPr lang="en-IN" sz="2400" dirty="0"/>
          </a:p>
        </p:txBody>
      </p:sp>
      <p:pic>
        <p:nvPicPr>
          <p:cNvPr id="5" name="Picture 2" descr="Design of JDBC"/>
          <p:cNvPicPr>
            <a:picLocks noChangeAspect="1" noChangeArrowheads="1"/>
          </p:cNvPicPr>
          <p:nvPr/>
        </p:nvPicPr>
        <p:blipFill>
          <a:blip r:embed="rId2"/>
          <a:srcRect/>
          <a:stretch>
            <a:fillRect/>
          </a:stretch>
        </p:blipFill>
        <p:spPr bwMode="auto">
          <a:xfrm>
            <a:off x="-684584" y="2204580"/>
            <a:ext cx="6601952" cy="4154151"/>
          </a:xfrm>
          <a:prstGeom prst="rect">
            <a:avLst/>
          </a:prstGeom>
          <a:noFill/>
        </p:spPr>
      </p:pic>
      <p:sp>
        <p:nvSpPr>
          <p:cNvPr id="6" name="Rectangle 5"/>
          <p:cNvSpPr/>
          <p:nvPr/>
        </p:nvSpPr>
        <p:spPr>
          <a:xfrm>
            <a:off x="3563888" y="1124744"/>
            <a:ext cx="5472608" cy="1938992"/>
          </a:xfrm>
          <a:prstGeom prst="rect">
            <a:avLst/>
          </a:prstGeom>
        </p:spPr>
        <p:txBody>
          <a:bodyPr wrap="square">
            <a:spAutoFit/>
          </a:bodyPr>
          <a:lstStyle/>
          <a:p>
            <a:r>
              <a:rPr lang="en-US" sz="2000" b="1" dirty="0" smtClean="0"/>
              <a:t>Data Sources : </a:t>
            </a:r>
            <a:r>
              <a:rPr lang="en-US" sz="2000" dirty="0" smtClean="0"/>
              <a:t>Data Sources in the JDBC architecture are the databases that we can connect using this API. </a:t>
            </a:r>
          </a:p>
          <a:p>
            <a:pPr marL="285750" indent="-285750">
              <a:buFont typeface="Arial" pitchFamily="34" charset="0"/>
              <a:buChar char="•"/>
            </a:pPr>
            <a:r>
              <a:rPr lang="en-US" sz="2000" dirty="0" smtClean="0"/>
              <a:t>These are the sources where data is stored and used by Java applications.</a:t>
            </a:r>
          </a:p>
          <a:p>
            <a:pPr marL="285750" indent="-285750">
              <a:buFont typeface="Arial" pitchFamily="34" charset="0"/>
              <a:buChar char="•"/>
            </a:pPr>
            <a:r>
              <a:rPr lang="en-US" sz="2000" dirty="0" smtClean="0"/>
              <a:t> JDBC API helps to connect various databases like Oracle, MYSQL, MSSQL, </a:t>
            </a:r>
            <a:r>
              <a:rPr lang="en-US" sz="2000" dirty="0" err="1" smtClean="0"/>
              <a:t>PostgreSQL</a:t>
            </a:r>
            <a:r>
              <a:rPr lang="en-US" sz="2000" dirty="0" smtClean="0"/>
              <a:t>, etc.</a:t>
            </a:r>
          </a:p>
        </p:txBody>
      </p:sp>
    </p:spTree>
    <p:extLst>
      <p:ext uri="{BB962C8B-B14F-4D97-AF65-F5344CB8AC3E}">
        <p14:creationId xmlns:p14="http://schemas.microsoft.com/office/powerpoint/2010/main" val="27773528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274638"/>
            <a:ext cx="7772400" cy="706090"/>
          </a:xfrm>
        </p:spPr>
        <p:txBody>
          <a:bodyPr>
            <a:normAutofit fontScale="90000"/>
          </a:bodyPr>
          <a:lstStyle/>
          <a:p>
            <a:r>
              <a:rPr lang="en-US" b="1" dirty="0" smtClean="0">
                <a:solidFill>
                  <a:schemeClr val="tx1"/>
                </a:solidFill>
              </a:rPr>
              <a:t>JDBC Architecture</a:t>
            </a:r>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283968" y="1124744"/>
            <a:ext cx="4536504" cy="3024336"/>
          </a:xfrm>
        </p:spPr>
        <p:txBody>
          <a:bodyPr>
            <a:normAutofit/>
          </a:bodyPr>
          <a:lstStyle/>
          <a:p>
            <a:r>
              <a:rPr lang="en-IN" sz="2400" dirty="0" smtClean="0"/>
              <a:t>Summary:</a:t>
            </a:r>
          </a:p>
          <a:p>
            <a:r>
              <a:rPr lang="en-IN" sz="2200" dirty="0"/>
              <a:t>JDBC API simplifies database connection.</a:t>
            </a:r>
          </a:p>
          <a:p>
            <a:r>
              <a:rPr lang="en-IN" sz="2200" dirty="0" err="1"/>
              <a:t>DriverManager</a:t>
            </a:r>
            <a:r>
              <a:rPr lang="en-IN" sz="2200" dirty="0"/>
              <a:t> </a:t>
            </a:r>
            <a:r>
              <a:rPr lang="en-IN" sz="2200" dirty="0" smtClean="0"/>
              <a:t>class manages database connections</a:t>
            </a:r>
            <a:r>
              <a:rPr lang="en-IN" sz="2200" dirty="0"/>
              <a:t>.</a:t>
            </a:r>
          </a:p>
          <a:p>
            <a:r>
              <a:rPr lang="en-IN" sz="2200" dirty="0"/>
              <a:t>JDBC Drivers link Java with databases.</a:t>
            </a:r>
          </a:p>
          <a:p>
            <a:r>
              <a:rPr lang="en-IN" sz="2200" dirty="0"/>
              <a:t>Data Sources are the actual databases.</a:t>
            </a:r>
          </a:p>
          <a:p>
            <a:endParaRPr lang="en-IN" sz="2400" dirty="0"/>
          </a:p>
        </p:txBody>
      </p:sp>
      <p:pic>
        <p:nvPicPr>
          <p:cNvPr id="5" name="Picture 2" descr="Design of JDBC"/>
          <p:cNvPicPr>
            <a:picLocks noChangeAspect="1" noChangeArrowheads="1"/>
          </p:cNvPicPr>
          <p:nvPr/>
        </p:nvPicPr>
        <p:blipFill>
          <a:blip r:embed="rId2"/>
          <a:srcRect/>
          <a:stretch>
            <a:fillRect/>
          </a:stretch>
        </p:blipFill>
        <p:spPr bwMode="auto">
          <a:xfrm>
            <a:off x="-324544" y="1916832"/>
            <a:ext cx="6601952" cy="4154151"/>
          </a:xfrm>
          <a:prstGeom prst="rect">
            <a:avLst/>
          </a:prstGeom>
          <a:noFill/>
        </p:spPr>
      </p:pic>
    </p:spTree>
    <p:extLst>
      <p:ext uri="{BB962C8B-B14F-4D97-AF65-F5344CB8AC3E}">
        <p14:creationId xmlns:p14="http://schemas.microsoft.com/office/powerpoint/2010/main" val="27773528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850106"/>
          </a:xfrm>
        </p:spPr>
        <p:txBody>
          <a:bodyPr>
            <a:normAutofit/>
          </a:bodyPr>
          <a:lstStyle/>
          <a:p>
            <a:r>
              <a:rPr lang="en-IN" dirty="0" smtClean="0"/>
              <a:t>Types of Drivers</a:t>
            </a:r>
            <a:endParaRPr lang="en-IN" dirty="0"/>
          </a:p>
        </p:txBody>
      </p:sp>
      <p:sp>
        <p:nvSpPr>
          <p:cNvPr id="3" name="Content Placeholder 2"/>
          <p:cNvSpPr>
            <a:spLocks noGrp="1"/>
          </p:cNvSpPr>
          <p:nvPr>
            <p:ph sz="quarter" idx="1"/>
          </p:nvPr>
        </p:nvSpPr>
        <p:spPr>
          <a:xfrm>
            <a:off x="467544" y="1124744"/>
            <a:ext cx="8329642" cy="4572000"/>
          </a:xfrm>
        </p:spPr>
        <p:txBody>
          <a:bodyPr/>
          <a:lstStyle/>
          <a:p>
            <a:r>
              <a:rPr lang="en-IN" dirty="0" smtClean="0"/>
              <a:t>There are 4 different types of Drivers available in JDBC. They are classified based on the techniques which are used to access a Database.</a:t>
            </a:r>
          </a:p>
          <a:p>
            <a:r>
              <a:rPr lang="en-IN" b="1" dirty="0" smtClean="0"/>
              <a:t>They are as follows:</a:t>
            </a:r>
            <a:endParaRPr lang="en-IN" dirty="0" smtClean="0"/>
          </a:p>
          <a:p>
            <a:pPr lvl="1"/>
            <a:r>
              <a:rPr lang="en-IN" dirty="0" smtClean="0"/>
              <a:t>Type I : JDBC- ODBC Bridge or Bridge Driver</a:t>
            </a:r>
          </a:p>
          <a:p>
            <a:pPr lvl="1"/>
            <a:r>
              <a:rPr lang="en-IN" dirty="0" smtClean="0"/>
              <a:t>Type II: Partly Java and Partly Native Code Driver (Native – API partly JAVA Driver)</a:t>
            </a:r>
          </a:p>
          <a:p>
            <a:pPr lvl="1"/>
            <a:r>
              <a:rPr lang="en-IN" dirty="0" smtClean="0"/>
              <a:t>Type III: Pure JAVA driver that uses middleware driver to connect to database (Network Protocol Driver)</a:t>
            </a:r>
          </a:p>
          <a:p>
            <a:pPr lvl="1"/>
            <a:r>
              <a:rPr lang="en-IN" dirty="0" smtClean="0"/>
              <a:t>Type IV: Thin Driver- Pure Java Driver which is directly connected to database. </a:t>
            </a:r>
          </a:p>
          <a:p>
            <a:endParaRPr lang="en-IN" dirty="0"/>
          </a:p>
        </p:txBody>
      </p:sp>
      <p:sp>
        <p:nvSpPr>
          <p:cNvPr id="4" name="Footer Placeholder 3"/>
          <p:cNvSpPr>
            <a:spLocks noGrp="1"/>
          </p:cNvSpPr>
          <p:nvPr>
            <p:ph type="ftr" sz="quarter" idx="11"/>
          </p:nvPr>
        </p:nvSpPr>
        <p:spPr/>
        <p:txBody>
          <a:bodyPr/>
          <a:lstStyle/>
          <a:p>
            <a:r>
              <a:rPr lang="en-IN" dirty="0" smtClean="0"/>
              <a:t>Dr Suresh </a:t>
            </a:r>
            <a:r>
              <a:rPr lang="en-IN" dirty="0" err="1" smtClean="0"/>
              <a:t>Yadlapati</a:t>
            </a:r>
            <a:endParaRPr lang="en-IN" dirty="0"/>
          </a:p>
        </p:txBody>
      </p:sp>
    </p:spTree>
    <p:extLst>
      <p:ext uri="{BB962C8B-B14F-4D97-AF65-F5344CB8AC3E}">
        <p14:creationId xmlns:p14="http://schemas.microsoft.com/office/powerpoint/2010/main" val="12860513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725470"/>
          </a:xfrm>
        </p:spPr>
        <p:txBody>
          <a:bodyPr>
            <a:normAutofit fontScale="90000"/>
          </a:bodyPr>
          <a:lstStyle/>
          <a:p>
            <a:r>
              <a:rPr lang="en-IN" dirty="0" smtClean="0"/>
              <a:t>Type -1 Driver	 - JDBC ODBC Bridge Driver</a:t>
            </a:r>
            <a:endParaRPr lang="en-IN" dirty="0"/>
          </a:p>
        </p:txBody>
      </p:sp>
      <p:sp>
        <p:nvSpPr>
          <p:cNvPr id="3" name="Content Placeholder 2"/>
          <p:cNvSpPr>
            <a:spLocks noGrp="1"/>
          </p:cNvSpPr>
          <p:nvPr>
            <p:ph sz="quarter" idx="1"/>
          </p:nvPr>
        </p:nvSpPr>
        <p:spPr>
          <a:xfrm>
            <a:off x="214282" y="1071546"/>
            <a:ext cx="8472518" cy="4572000"/>
          </a:xfrm>
        </p:spPr>
        <p:txBody>
          <a:bodyPr/>
          <a:lstStyle/>
          <a:p>
            <a:endParaRPr lang="en-IN" dirty="0"/>
          </a:p>
        </p:txBody>
      </p:sp>
      <p:pic>
        <p:nvPicPr>
          <p:cNvPr id="1026" name="Picture 2" descr="bridge driver"/>
          <p:cNvPicPr>
            <a:picLocks noChangeAspect="1" noChangeArrowheads="1"/>
          </p:cNvPicPr>
          <p:nvPr/>
        </p:nvPicPr>
        <p:blipFill>
          <a:blip r:embed="rId2"/>
          <a:srcRect/>
          <a:stretch>
            <a:fillRect/>
          </a:stretch>
        </p:blipFill>
        <p:spPr bwMode="auto">
          <a:xfrm>
            <a:off x="500034" y="1357298"/>
            <a:ext cx="8639161" cy="4429156"/>
          </a:xfrm>
          <a:prstGeom prst="rect">
            <a:avLst/>
          </a:prstGeom>
          <a:noFill/>
        </p:spPr>
      </p:pic>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9858996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725470"/>
          </a:xfrm>
        </p:spPr>
        <p:txBody>
          <a:bodyPr>
            <a:normAutofit fontScale="90000"/>
          </a:bodyPr>
          <a:lstStyle/>
          <a:p>
            <a:r>
              <a:rPr lang="en-IN" dirty="0" smtClean="0"/>
              <a:t>Type -2 Driver	- Native API Driver</a:t>
            </a:r>
            <a:endParaRPr lang="en-IN" dirty="0"/>
          </a:p>
        </p:txBody>
      </p:sp>
      <p:sp>
        <p:nvSpPr>
          <p:cNvPr id="3" name="Content Placeholder 2"/>
          <p:cNvSpPr>
            <a:spLocks noGrp="1"/>
          </p:cNvSpPr>
          <p:nvPr>
            <p:ph sz="quarter" idx="1"/>
          </p:nvPr>
        </p:nvSpPr>
        <p:spPr>
          <a:xfrm>
            <a:off x="214282" y="1071546"/>
            <a:ext cx="8472518" cy="4572000"/>
          </a:xfrm>
        </p:spPr>
        <p:txBody>
          <a:bodyPr/>
          <a:lstStyle/>
          <a:p>
            <a:endParaRPr lang="en-IN" dirty="0"/>
          </a:p>
        </p:txBody>
      </p:sp>
      <p:pic>
        <p:nvPicPr>
          <p:cNvPr id="21506" name="Picture 2" descr="Native-API driver"/>
          <p:cNvPicPr>
            <a:picLocks noChangeAspect="1" noChangeArrowheads="1"/>
          </p:cNvPicPr>
          <p:nvPr/>
        </p:nvPicPr>
        <p:blipFill>
          <a:blip r:embed="rId2"/>
          <a:srcRect/>
          <a:stretch>
            <a:fillRect/>
          </a:stretch>
        </p:blipFill>
        <p:spPr bwMode="auto">
          <a:xfrm>
            <a:off x="357158" y="1000107"/>
            <a:ext cx="8643998" cy="5173199"/>
          </a:xfrm>
          <a:prstGeom prst="rect">
            <a:avLst/>
          </a:prstGeom>
          <a:noFill/>
        </p:spPr>
      </p:pic>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32812345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725470"/>
          </a:xfrm>
        </p:spPr>
        <p:txBody>
          <a:bodyPr>
            <a:normAutofit fontScale="90000"/>
          </a:bodyPr>
          <a:lstStyle/>
          <a:p>
            <a:r>
              <a:rPr lang="en-IN" dirty="0" smtClean="0"/>
              <a:t>Type -3 Driver	- Network Protocol Driver</a:t>
            </a:r>
            <a:endParaRPr lang="en-IN" dirty="0"/>
          </a:p>
        </p:txBody>
      </p:sp>
      <p:sp>
        <p:nvSpPr>
          <p:cNvPr id="3" name="Content Placeholder 2"/>
          <p:cNvSpPr>
            <a:spLocks noGrp="1"/>
          </p:cNvSpPr>
          <p:nvPr>
            <p:ph sz="quarter" idx="1"/>
          </p:nvPr>
        </p:nvSpPr>
        <p:spPr>
          <a:xfrm>
            <a:off x="214282" y="1071546"/>
            <a:ext cx="8472518" cy="4572000"/>
          </a:xfrm>
        </p:spPr>
        <p:txBody>
          <a:bodyPr/>
          <a:lstStyle/>
          <a:p>
            <a:endParaRPr lang="en-IN" dirty="0"/>
          </a:p>
        </p:txBody>
      </p:sp>
      <p:pic>
        <p:nvPicPr>
          <p:cNvPr id="22530" name="Picture 2" descr="Network Protocol driver"/>
          <p:cNvPicPr>
            <a:picLocks noChangeAspect="1" noChangeArrowheads="1"/>
          </p:cNvPicPr>
          <p:nvPr/>
        </p:nvPicPr>
        <p:blipFill>
          <a:blip r:embed="rId2"/>
          <a:srcRect/>
          <a:stretch>
            <a:fillRect/>
          </a:stretch>
        </p:blipFill>
        <p:spPr bwMode="auto">
          <a:xfrm>
            <a:off x="611560" y="980728"/>
            <a:ext cx="7771524" cy="4714259"/>
          </a:xfrm>
          <a:prstGeom prst="rect">
            <a:avLst/>
          </a:prstGeom>
          <a:noFill/>
        </p:spPr>
      </p:pic>
      <p:sp>
        <p:nvSpPr>
          <p:cNvPr id="4" name="Footer Placeholder 3"/>
          <p:cNvSpPr>
            <a:spLocks noGrp="1"/>
          </p:cNvSpPr>
          <p:nvPr>
            <p:ph type="ftr" sz="quarter" idx="11"/>
          </p:nvPr>
        </p:nvSpPr>
        <p:spPr/>
        <p:txBody>
          <a:bodyPr/>
          <a:lstStyle/>
          <a:p>
            <a:r>
              <a:rPr lang="en-IN" smtClean="0"/>
              <a:t>Dr Suresh Yadlapati</a:t>
            </a:r>
            <a:endParaRPr lang="en-IN"/>
          </a:p>
        </p:txBody>
      </p:sp>
      <p:sp>
        <p:nvSpPr>
          <p:cNvPr id="5" name="TextBox 4"/>
          <p:cNvSpPr txBox="1"/>
          <p:nvPr/>
        </p:nvSpPr>
        <p:spPr>
          <a:xfrm>
            <a:off x="3419872" y="6021288"/>
            <a:ext cx="5256584" cy="369332"/>
          </a:xfrm>
          <a:prstGeom prst="rect">
            <a:avLst/>
          </a:prstGeom>
          <a:noFill/>
        </p:spPr>
        <p:txBody>
          <a:bodyPr wrap="square" rtlCol="0">
            <a:spAutoFit/>
          </a:bodyPr>
          <a:lstStyle/>
          <a:p>
            <a:r>
              <a:rPr lang="en-US" dirty="0" smtClean="0"/>
              <a:t>Only one driver for accessing all databases. </a:t>
            </a:r>
            <a:endParaRPr lang="en-IN" dirty="0"/>
          </a:p>
        </p:txBody>
      </p:sp>
    </p:spTree>
    <p:extLst>
      <p:ext uri="{BB962C8B-B14F-4D97-AF65-F5344CB8AC3E}">
        <p14:creationId xmlns:p14="http://schemas.microsoft.com/office/powerpoint/2010/main" val="22927260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399274"/>
            <a:ext cx="8472518" cy="725470"/>
          </a:xfrm>
        </p:spPr>
        <p:txBody>
          <a:bodyPr>
            <a:noAutofit/>
          </a:bodyPr>
          <a:lstStyle/>
          <a:p>
            <a:r>
              <a:rPr lang="en-IN" sz="2800" dirty="0" smtClean="0"/>
              <a:t>Type -4 Driver – Thin Driver	</a:t>
            </a:r>
            <a:endParaRPr lang="en-IN" sz="2800" dirty="0"/>
          </a:p>
        </p:txBody>
      </p:sp>
      <p:sp>
        <p:nvSpPr>
          <p:cNvPr id="3" name="Content Placeholder 2"/>
          <p:cNvSpPr>
            <a:spLocks noGrp="1"/>
          </p:cNvSpPr>
          <p:nvPr>
            <p:ph sz="quarter" idx="1"/>
          </p:nvPr>
        </p:nvSpPr>
        <p:spPr>
          <a:xfrm>
            <a:off x="214282" y="1071546"/>
            <a:ext cx="8472518" cy="4572000"/>
          </a:xfrm>
        </p:spPr>
        <p:txBody>
          <a:bodyPr/>
          <a:lstStyle/>
          <a:p>
            <a:endParaRPr lang="en-IN" dirty="0"/>
          </a:p>
        </p:txBody>
      </p:sp>
      <p:pic>
        <p:nvPicPr>
          <p:cNvPr id="23554" name="Picture 2" descr="Thin driver"/>
          <p:cNvPicPr>
            <a:picLocks noChangeAspect="1" noChangeArrowheads="1"/>
          </p:cNvPicPr>
          <p:nvPr/>
        </p:nvPicPr>
        <p:blipFill>
          <a:blip r:embed="rId2"/>
          <a:srcRect/>
          <a:stretch>
            <a:fillRect/>
          </a:stretch>
        </p:blipFill>
        <p:spPr bwMode="auto">
          <a:xfrm>
            <a:off x="1214414" y="1214421"/>
            <a:ext cx="6072230" cy="4957407"/>
          </a:xfrm>
          <a:prstGeom prst="rect">
            <a:avLst/>
          </a:prstGeom>
          <a:noFill/>
        </p:spPr>
      </p:pic>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31545205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lstStyle/>
          <a:p>
            <a:r>
              <a:rPr lang="en-IN" dirty="0" smtClean="0"/>
              <a:t>Pros &amp; Cons</a:t>
            </a:r>
            <a:endParaRPr lang="en-IN" dirty="0"/>
          </a:p>
        </p:txBody>
      </p:sp>
      <p:sp>
        <p:nvSpPr>
          <p:cNvPr id="3" name="Content Placeholder 2"/>
          <p:cNvSpPr>
            <a:spLocks noGrp="1"/>
          </p:cNvSpPr>
          <p:nvPr>
            <p:ph sz="quarter" idx="1"/>
          </p:nvPr>
        </p:nvSpPr>
        <p:spPr>
          <a:xfrm>
            <a:off x="285720" y="1447800"/>
            <a:ext cx="8401080" cy="4572000"/>
          </a:xfrm>
        </p:spPr>
        <p:txBody>
          <a:bodyPr>
            <a:normAutofit/>
          </a:bodyPr>
          <a:lstStyle/>
          <a:p>
            <a:pPr>
              <a:buNone/>
            </a:pPr>
            <a:r>
              <a:rPr lang="en-IN" dirty="0" smtClean="0">
                <a:solidFill>
                  <a:schemeClr val="accent1"/>
                </a:solidFill>
              </a:rPr>
              <a:t>1. JDBC-ODBC bridge driver:</a:t>
            </a:r>
          </a:p>
          <a:p>
            <a:pPr lvl="2"/>
            <a:r>
              <a:rPr lang="en-IN" dirty="0" smtClean="0"/>
              <a:t>JDBC-ODBC bridge driver is a native driver which uses ODBC driver to connect with the database.</a:t>
            </a:r>
          </a:p>
          <a:p>
            <a:pPr lvl="2"/>
            <a:r>
              <a:rPr lang="en-IN" dirty="0" smtClean="0"/>
              <a:t> It converts JDBC method calls into ODBC calls.</a:t>
            </a:r>
          </a:p>
          <a:p>
            <a:pPr lvl="2"/>
            <a:r>
              <a:rPr lang="en-IN" dirty="0" smtClean="0"/>
              <a:t> It is also known as Type 1 driver.</a:t>
            </a:r>
          </a:p>
          <a:p>
            <a:pPr lvl="1"/>
            <a:r>
              <a:rPr lang="en-IN" dirty="0" smtClean="0">
                <a:solidFill>
                  <a:schemeClr val="accent1"/>
                </a:solidFill>
              </a:rPr>
              <a:t>Advantages:</a:t>
            </a:r>
          </a:p>
          <a:p>
            <a:pPr lvl="2"/>
            <a:r>
              <a:rPr lang="en-IN" dirty="0" smtClean="0"/>
              <a:t>It can be used with any database for which an ODBC driver is installed.</a:t>
            </a:r>
          </a:p>
          <a:p>
            <a:pPr lvl="2"/>
            <a:r>
              <a:rPr lang="en-US" dirty="0" smtClean="0"/>
              <a:t>Easy to use</a:t>
            </a:r>
            <a:endParaRPr lang="en-IN" dirty="0" smtClean="0"/>
          </a:p>
          <a:p>
            <a:pPr lvl="1"/>
            <a:r>
              <a:rPr lang="en-IN" dirty="0" smtClean="0">
                <a:solidFill>
                  <a:schemeClr val="accent1"/>
                </a:solidFill>
              </a:rPr>
              <a:t>Disadvantages: </a:t>
            </a:r>
            <a:endParaRPr lang="en-IN" dirty="0" smtClean="0"/>
          </a:p>
          <a:p>
            <a:pPr lvl="2"/>
            <a:r>
              <a:rPr lang="en-IN" dirty="0" smtClean="0"/>
              <a:t>Performance is not good as it converts JDBC method calls into ODBC  calls. </a:t>
            </a:r>
          </a:p>
          <a:p>
            <a:pPr lvl="2"/>
            <a:r>
              <a:rPr lang="en-IN" dirty="0" smtClean="0"/>
              <a:t>Platform dependent because ODBC is mainly supported by Windows and different ODBC drivers are there for different databases.</a:t>
            </a:r>
          </a:p>
          <a:p>
            <a:endParaRPr lang="en-IN" dirty="0"/>
          </a:p>
        </p:txBody>
      </p:sp>
      <p:sp>
        <p:nvSpPr>
          <p:cNvPr id="4" name="Footer Placeholder 3"/>
          <p:cNvSpPr>
            <a:spLocks noGrp="1"/>
          </p:cNvSpPr>
          <p:nvPr>
            <p:ph type="ftr" sz="quarter" idx="11"/>
          </p:nvPr>
        </p:nvSpPr>
        <p:spPr/>
        <p:txBody>
          <a:bodyPr/>
          <a:lstStyle/>
          <a:p>
            <a:r>
              <a:rPr lang="en-IN" dirty="0" smtClean="0"/>
              <a:t>Dr Suresh </a:t>
            </a:r>
            <a:r>
              <a:rPr lang="en-IN" dirty="0" err="1" smtClean="0"/>
              <a:t>Yadlapati</a:t>
            </a:r>
            <a:endParaRPr lang="en-IN" dirty="0"/>
          </a:p>
        </p:txBody>
      </p:sp>
      <p:pic>
        <p:nvPicPr>
          <p:cNvPr id="1026" name="Picture 2" descr="Open Database Connectiv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34320"/>
            <a:ext cx="2995533"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8151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9512" y="692696"/>
            <a:ext cx="8258204" cy="5400600"/>
          </a:xfrm>
        </p:spPr>
        <p:txBody>
          <a:bodyPr>
            <a:normAutofit fontScale="92500"/>
          </a:bodyPr>
          <a:lstStyle/>
          <a:p>
            <a:pPr>
              <a:buNone/>
            </a:pPr>
            <a:r>
              <a:rPr lang="en-IN" dirty="0" smtClean="0"/>
              <a:t>2. </a:t>
            </a:r>
            <a:r>
              <a:rPr lang="en-IN" b="1" dirty="0" smtClean="0">
                <a:solidFill>
                  <a:schemeClr val="accent1"/>
                </a:solidFill>
              </a:rPr>
              <a:t>Native-API driver:</a:t>
            </a:r>
          </a:p>
          <a:p>
            <a:pPr lvl="1"/>
            <a:r>
              <a:rPr lang="en-IN" dirty="0" smtClean="0"/>
              <a:t>Native-API driver uses the client-side libraries of the database. It converts JDBC method calls into native calls(Calls understood by the database)  of the database API.</a:t>
            </a:r>
          </a:p>
          <a:p>
            <a:pPr lvl="1"/>
            <a:r>
              <a:rPr lang="en-IN" dirty="0" smtClean="0"/>
              <a:t> It is partially written in Java. It is also known as Type 2 driver.</a:t>
            </a:r>
          </a:p>
          <a:p>
            <a:r>
              <a:rPr lang="en-IN" b="1" dirty="0" smtClean="0">
                <a:solidFill>
                  <a:schemeClr val="accent1"/>
                </a:solidFill>
              </a:rPr>
              <a:t>Advantages:</a:t>
            </a:r>
          </a:p>
          <a:p>
            <a:pPr lvl="1"/>
            <a:r>
              <a:rPr lang="en-IN" dirty="0" smtClean="0"/>
              <a:t>It is faster than a JDBC-ODBC bridge driver. Because JDBC calls are directly into database specific calls.</a:t>
            </a:r>
          </a:p>
          <a:p>
            <a:pPr lvl="1"/>
            <a:r>
              <a:rPr lang="en-US" dirty="0" smtClean="0"/>
              <a:t>Portability is more compared to Type-1  </a:t>
            </a:r>
            <a:endParaRPr lang="en-IN" dirty="0" smtClean="0"/>
          </a:p>
          <a:p>
            <a:r>
              <a:rPr lang="en-IN" b="1" dirty="0" smtClean="0">
                <a:solidFill>
                  <a:schemeClr val="accent1"/>
                </a:solidFill>
              </a:rPr>
              <a:t>Disadvantages:</a:t>
            </a:r>
          </a:p>
          <a:p>
            <a:pPr lvl="1"/>
            <a:r>
              <a:rPr lang="en-US" dirty="0"/>
              <a:t>Type 2 drivers are different for different platforms. </a:t>
            </a:r>
            <a:r>
              <a:rPr lang="en-IN" dirty="0" smtClean="0"/>
              <a:t> (</a:t>
            </a:r>
            <a:r>
              <a:rPr lang="en-IN" dirty="0"/>
              <a:t>may be today Oracle, next day I use DB2… compulsory we have to change driver</a:t>
            </a:r>
            <a:r>
              <a:rPr lang="en-IN" dirty="0" smtClean="0"/>
              <a:t>)</a:t>
            </a:r>
          </a:p>
          <a:p>
            <a:pPr lvl="1"/>
            <a:r>
              <a:rPr lang="en-IN" dirty="0" smtClean="0"/>
              <a:t>Platform dependent(because it use native library).</a:t>
            </a:r>
          </a:p>
          <a:p>
            <a:pPr lvl="1"/>
            <a:r>
              <a:rPr lang="en-IN" dirty="0" smtClean="0"/>
              <a:t>The vendor client library needs to be installed on the client machine.</a:t>
            </a:r>
          </a:p>
          <a:p>
            <a:endParaRPr lang="en-IN" dirty="0"/>
          </a:p>
        </p:txBody>
      </p:sp>
      <p:sp>
        <p:nvSpPr>
          <p:cNvPr id="4" name="Footer Placeholder 3"/>
          <p:cNvSpPr>
            <a:spLocks noGrp="1"/>
          </p:cNvSpPr>
          <p:nvPr>
            <p:ph type="ftr" sz="quarter" idx="11"/>
          </p:nvPr>
        </p:nvSpPr>
        <p:spPr/>
        <p:txBody>
          <a:bodyPr/>
          <a:lstStyle/>
          <a:p>
            <a:r>
              <a:rPr lang="en-IN" dirty="0" smtClean="0"/>
              <a:t>Dr Suresh Yadlapati </a:t>
            </a:r>
            <a:endParaRPr lang="en-IN" dirty="0"/>
          </a:p>
        </p:txBody>
      </p:sp>
    </p:spTree>
    <p:extLst>
      <p:ext uri="{BB962C8B-B14F-4D97-AF65-F5344CB8AC3E}">
        <p14:creationId xmlns:p14="http://schemas.microsoft.com/office/powerpoint/2010/main" val="5133009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428604"/>
            <a:ext cx="8329642" cy="5591196"/>
          </a:xfrm>
        </p:spPr>
        <p:txBody>
          <a:bodyPr>
            <a:normAutofit lnSpcReduction="10000"/>
          </a:bodyPr>
          <a:lstStyle/>
          <a:p>
            <a:pPr>
              <a:buNone/>
            </a:pPr>
            <a:r>
              <a:rPr lang="en-IN" dirty="0" smtClean="0">
                <a:solidFill>
                  <a:schemeClr val="accent1"/>
                </a:solidFill>
              </a:rPr>
              <a:t>3</a:t>
            </a:r>
            <a:r>
              <a:rPr lang="en-IN" b="1" dirty="0" smtClean="0"/>
              <a:t>. </a:t>
            </a:r>
            <a:r>
              <a:rPr lang="en-IN" b="1" dirty="0" smtClean="0">
                <a:solidFill>
                  <a:schemeClr val="accent1"/>
                </a:solidFill>
              </a:rPr>
              <a:t>Network-Protocol driver:</a:t>
            </a:r>
          </a:p>
          <a:p>
            <a:pPr lvl="1"/>
            <a:r>
              <a:rPr lang="en-IN" dirty="0"/>
              <a:t> </a:t>
            </a:r>
            <a:r>
              <a:rPr lang="en-IN" dirty="0" smtClean="0"/>
              <a:t>Network-Protocol driver is a pure Java driver which uses a middle-tier to converts JDBC calls directly or indirectly into database specific calls. </a:t>
            </a:r>
          </a:p>
          <a:p>
            <a:pPr lvl="1"/>
            <a:r>
              <a:rPr lang="en-IN" dirty="0" smtClean="0"/>
              <a:t>Multiple types of databases can be accessed at the same time. It is a platform independent driver. It is also known as Type 3 or Middle-Ware driver.</a:t>
            </a:r>
          </a:p>
          <a:p>
            <a:r>
              <a:rPr lang="en-IN" b="1" dirty="0" smtClean="0">
                <a:solidFill>
                  <a:schemeClr val="accent1"/>
                </a:solidFill>
              </a:rPr>
              <a:t>Advantages:</a:t>
            </a:r>
          </a:p>
          <a:p>
            <a:pPr lvl="1"/>
            <a:r>
              <a:rPr lang="en-IN" dirty="0" smtClean="0"/>
              <a:t>Platform independent(One driver is sufficient for all databases).</a:t>
            </a:r>
          </a:p>
          <a:p>
            <a:pPr lvl="1"/>
            <a:r>
              <a:rPr lang="en-IN" dirty="0" smtClean="0"/>
              <a:t>Faster than Type1 and Type2 drivers.</a:t>
            </a:r>
          </a:p>
          <a:p>
            <a:pPr lvl="1"/>
            <a:r>
              <a:rPr lang="en-IN" dirty="0" smtClean="0"/>
              <a:t>It follows a three tier communication approach.</a:t>
            </a:r>
          </a:p>
          <a:p>
            <a:pPr lvl="1"/>
            <a:r>
              <a:rPr lang="en-IN" dirty="0" smtClean="0"/>
              <a:t>Multiple types of databases can be accessed at the same time.</a:t>
            </a:r>
          </a:p>
          <a:p>
            <a:r>
              <a:rPr lang="en-IN" b="1" dirty="0" smtClean="0">
                <a:solidFill>
                  <a:schemeClr val="accent1"/>
                </a:solidFill>
              </a:rPr>
              <a:t>Disadvantages:</a:t>
            </a:r>
          </a:p>
          <a:p>
            <a:pPr lvl="1"/>
            <a:r>
              <a:rPr lang="en-IN" dirty="0" smtClean="0"/>
              <a:t>It requires database-specific coding to be done in the middle tier.</a:t>
            </a:r>
          </a:p>
          <a:p>
            <a:endParaRPr lang="en-IN" dirty="0"/>
          </a:p>
        </p:txBody>
      </p:sp>
      <p:sp>
        <p:nvSpPr>
          <p:cNvPr id="2" name="Footer Placeholder 1"/>
          <p:cNvSpPr>
            <a:spLocks noGrp="1"/>
          </p:cNvSpPr>
          <p:nvPr>
            <p:ph type="ftr" sz="quarter" idx="11"/>
          </p:nvPr>
        </p:nvSpPr>
        <p:spPr/>
        <p:txBody>
          <a:bodyPr/>
          <a:lstStyle/>
          <a:p>
            <a:r>
              <a:rPr lang="en-IN" dirty="0" smtClean="0"/>
              <a:t>Dr Suresh </a:t>
            </a:r>
            <a:r>
              <a:rPr lang="en-IN" dirty="0" err="1" smtClean="0"/>
              <a:t>Yadlapati</a:t>
            </a:r>
            <a:endParaRPr lang="en-IN" dirty="0"/>
          </a:p>
        </p:txBody>
      </p:sp>
    </p:spTree>
    <p:extLst>
      <p:ext uri="{BB962C8B-B14F-4D97-AF65-F5344CB8AC3E}">
        <p14:creationId xmlns:p14="http://schemas.microsoft.com/office/powerpoint/2010/main" val="7974189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51520" y="692696"/>
            <a:ext cx="8186766" cy="4572000"/>
          </a:xfrm>
        </p:spPr>
        <p:txBody>
          <a:bodyPr>
            <a:normAutofit/>
          </a:bodyPr>
          <a:lstStyle/>
          <a:p>
            <a:pPr>
              <a:buNone/>
            </a:pPr>
            <a:r>
              <a:rPr lang="en-IN" b="1" dirty="0" smtClean="0">
                <a:solidFill>
                  <a:schemeClr val="accent1"/>
                </a:solidFill>
              </a:rPr>
              <a:t>4. Thin driver:</a:t>
            </a:r>
          </a:p>
          <a:p>
            <a:pPr lvl="1"/>
            <a:r>
              <a:rPr lang="en-IN" dirty="0" smtClean="0"/>
              <a:t>Thin driver is a pure Java driver which converts JDBC calls directly into the database specific calls. </a:t>
            </a:r>
          </a:p>
          <a:p>
            <a:pPr lvl="1"/>
            <a:r>
              <a:rPr lang="en-IN" dirty="0" smtClean="0"/>
              <a:t>It is a platform independent driver. It is also known as Type 4 or Database-Protocol driver.</a:t>
            </a:r>
          </a:p>
          <a:p>
            <a:r>
              <a:rPr lang="en-IN" b="1" dirty="0" smtClean="0">
                <a:solidFill>
                  <a:schemeClr val="accent1"/>
                </a:solidFill>
              </a:rPr>
              <a:t>Advantages:</a:t>
            </a:r>
          </a:p>
          <a:p>
            <a:pPr lvl="1"/>
            <a:r>
              <a:rPr lang="en-IN" dirty="0" smtClean="0"/>
              <a:t>Platform independent.</a:t>
            </a:r>
          </a:p>
          <a:p>
            <a:pPr lvl="1"/>
            <a:r>
              <a:rPr lang="en-IN" dirty="0" smtClean="0"/>
              <a:t>Faster than all other drivers.</a:t>
            </a:r>
          </a:p>
          <a:p>
            <a:r>
              <a:rPr lang="en-IN" b="1" dirty="0" smtClean="0">
                <a:solidFill>
                  <a:schemeClr val="accent1"/>
                </a:solidFill>
              </a:rPr>
              <a:t>Disadvantages: </a:t>
            </a:r>
            <a:endParaRPr lang="en-IN" dirty="0" smtClean="0"/>
          </a:p>
          <a:p>
            <a:pPr lvl="1"/>
            <a:r>
              <a:rPr lang="en-IN" dirty="0" smtClean="0"/>
              <a:t>Multiple types of databases can’t be accessed at the same time.</a:t>
            </a:r>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7145400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Steps</a:t>
            </a:r>
            <a:endParaRPr lang="en-IN" dirty="0"/>
          </a:p>
        </p:txBody>
      </p:sp>
      <p:sp>
        <p:nvSpPr>
          <p:cNvPr id="3" name="Content Placeholder 2"/>
          <p:cNvSpPr>
            <a:spLocks noGrp="1"/>
          </p:cNvSpPr>
          <p:nvPr>
            <p:ph sz="quarter" idx="1"/>
          </p:nvPr>
        </p:nvSpPr>
        <p:spPr>
          <a:xfrm>
            <a:off x="914400" y="1447800"/>
            <a:ext cx="7300938" cy="2624142"/>
          </a:xfrm>
        </p:spPr>
        <p:txBody>
          <a:bodyPr/>
          <a:lstStyle/>
          <a:p>
            <a:pPr>
              <a:buNone/>
            </a:pPr>
            <a:r>
              <a:rPr lang="en-IN" dirty="0" smtClean="0"/>
              <a:t>1. Load and Register the Driver</a:t>
            </a:r>
          </a:p>
          <a:p>
            <a:pPr>
              <a:buNone/>
            </a:pPr>
            <a:r>
              <a:rPr lang="en-IN" dirty="0" smtClean="0"/>
              <a:t>2. Establish a connection</a:t>
            </a:r>
          </a:p>
          <a:p>
            <a:pPr>
              <a:buNone/>
            </a:pPr>
            <a:r>
              <a:rPr lang="en-IN" dirty="0" smtClean="0"/>
              <a:t>3. Create the statement and execute the statement</a:t>
            </a:r>
          </a:p>
          <a:p>
            <a:pPr>
              <a:buNone/>
            </a:pPr>
            <a:r>
              <a:rPr lang="en-IN" dirty="0" smtClean="0"/>
              <a:t>4. Process the results</a:t>
            </a:r>
          </a:p>
          <a:p>
            <a:pPr>
              <a:buNone/>
            </a:pPr>
            <a:r>
              <a:rPr lang="en-IN" dirty="0" smtClean="0"/>
              <a:t>5. Close the connection</a:t>
            </a:r>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34364342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511156"/>
          </a:xfrm>
        </p:spPr>
        <p:txBody>
          <a:bodyPr>
            <a:normAutofit fontScale="90000"/>
          </a:bodyPr>
          <a:lstStyle/>
          <a:p>
            <a:r>
              <a:rPr lang="en-IN" dirty="0" smtClean="0"/>
              <a:t> Connection	(using NOTEPAD)</a:t>
            </a:r>
            <a:endParaRPr lang="en-IN" dirty="0"/>
          </a:p>
        </p:txBody>
      </p:sp>
      <p:sp>
        <p:nvSpPr>
          <p:cNvPr id="3" name="Content Placeholder 2"/>
          <p:cNvSpPr>
            <a:spLocks noGrp="1"/>
          </p:cNvSpPr>
          <p:nvPr>
            <p:ph sz="quarter" idx="1"/>
          </p:nvPr>
        </p:nvSpPr>
        <p:spPr>
          <a:xfrm>
            <a:off x="539552" y="738296"/>
            <a:ext cx="8215370" cy="5715040"/>
          </a:xfrm>
        </p:spPr>
        <p:txBody>
          <a:bodyPr>
            <a:normAutofit fontScale="92500" lnSpcReduction="10000"/>
          </a:bodyPr>
          <a:lstStyle/>
          <a:p>
            <a:r>
              <a:rPr lang="en-IN" dirty="0" smtClean="0"/>
              <a:t>Installation</a:t>
            </a:r>
          </a:p>
          <a:p>
            <a:r>
              <a:rPr lang="en-IN" dirty="0" smtClean="0"/>
              <a:t>To connect Java application with the </a:t>
            </a:r>
            <a:r>
              <a:rPr lang="en-IN" dirty="0" err="1" smtClean="0"/>
              <a:t>mysql</a:t>
            </a:r>
            <a:r>
              <a:rPr lang="en-IN" dirty="0"/>
              <a:t> </a:t>
            </a:r>
            <a:r>
              <a:rPr lang="en-IN" dirty="0" smtClean="0"/>
              <a:t>database,  </a:t>
            </a:r>
            <a:r>
              <a:rPr lang="en-IN" b="1" dirty="0" smtClean="0"/>
              <a:t>mysqlconnector.jar</a:t>
            </a:r>
            <a:r>
              <a:rPr lang="en-IN" dirty="0" smtClean="0"/>
              <a:t> file is required to be loaded.</a:t>
            </a:r>
          </a:p>
          <a:p>
            <a:pPr lvl="1"/>
            <a:r>
              <a:rPr lang="en-IN" dirty="0" smtClean="0">
                <a:hlinkClick r:id="rId2"/>
              </a:rPr>
              <a:t>download the jar file mysql-connector.jar</a:t>
            </a:r>
            <a:endParaRPr lang="en-IN" dirty="0" smtClean="0"/>
          </a:p>
          <a:p>
            <a:r>
              <a:rPr lang="en-IN" dirty="0" smtClean="0"/>
              <a:t>Procedure to load the jar file:</a:t>
            </a:r>
          </a:p>
          <a:p>
            <a:pPr lvl="1"/>
            <a:r>
              <a:rPr lang="en-IN" dirty="0" smtClean="0"/>
              <a:t>Paste the mysqlconnector.jar file in </a:t>
            </a:r>
            <a:r>
              <a:rPr lang="en-IN" dirty="0" err="1" smtClean="0"/>
              <a:t>jre</a:t>
            </a:r>
            <a:r>
              <a:rPr lang="en-IN" dirty="0" smtClean="0"/>
              <a:t>/lib/ext folder</a:t>
            </a:r>
          </a:p>
          <a:p>
            <a:pPr lvl="2"/>
            <a:r>
              <a:rPr lang="en-IN" dirty="0" smtClean="0"/>
              <a:t>Download the mysqlconnector.jar file. Go to </a:t>
            </a:r>
            <a:r>
              <a:rPr lang="en-IN" dirty="0" err="1" smtClean="0"/>
              <a:t>jre</a:t>
            </a:r>
            <a:r>
              <a:rPr lang="en-IN" dirty="0" smtClean="0"/>
              <a:t>/lib/ext folder and paste the jar file here. (if JRE is not available paste in JAVA folder)</a:t>
            </a:r>
          </a:p>
          <a:p>
            <a:pPr lvl="1"/>
            <a:r>
              <a:rPr lang="en-IN" dirty="0" smtClean="0"/>
              <a:t>Set </a:t>
            </a:r>
            <a:r>
              <a:rPr lang="en-IN" dirty="0" err="1" smtClean="0"/>
              <a:t>classpath</a:t>
            </a:r>
            <a:endParaRPr lang="en-IN" dirty="0" smtClean="0"/>
          </a:p>
          <a:p>
            <a:r>
              <a:rPr lang="en-IN" dirty="0" smtClean="0"/>
              <a:t>There are two ways to set the </a:t>
            </a:r>
            <a:r>
              <a:rPr lang="en-IN" dirty="0" err="1" smtClean="0"/>
              <a:t>classpath</a:t>
            </a:r>
            <a:r>
              <a:rPr lang="en-IN" dirty="0" smtClean="0"/>
              <a:t>:</a:t>
            </a:r>
          </a:p>
          <a:p>
            <a:pPr lvl="1"/>
            <a:r>
              <a:rPr lang="en-IN" dirty="0" smtClean="0"/>
              <a:t>Temporary</a:t>
            </a:r>
          </a:p>
          <a:p>
            <a:pPr lvl="2"/>
            <a:r>
              <a:rPr lang="en-IN" dirty="0" smtClean="0"/>
              <a:t>C:&gt;set </a:t>
            </a:r>
            <a:r>
              <a:rPr lang="en-IN" dirty="0" err="1" smtClean="0"/>
              <a:t>classpath</a:t>
            </a:r>
            <a:r>
              <a:rPr lang="en-IN" dirty="0" smtClean="0"/>
              <a:t>=c:\folder\mysql-connector;.;  </a:t>
            </a:r>
          </a:p>
          <a:p>
            <a:pPr lvl="1"/>
            <a:r>
              <a:rPr lang="en-IN" dirty="0" smtClean="0"/>
              <a:t>Permanent</a:t>
            </a:r>
          </a:p>
          <a:p>
            <a:pPr lvl="2"/>
            <a:r>
              <a:rPr lang="en-IN" dirty="0" smtClean="0"/>
              <a:t>Go to environment variable then click on new tab. In variable name write </a:t>
            </a:r>
            <a:r>
              <a:rPr lang="en-IN" b="1" dirty="0" err="1" smtClean="0"/>
              <a:t>classpath</a:t>
            </a:r>
            <a:r>
              <a:rPr lang="en-IN" dirty="0" smtClean="0"/>
              <a:t> and in variable value paste the path to the mysqlconnector.jar file by appending mysqlconnector.jar;.; as C:\folder\mysql-connector.jar;.;</a:t>
            </a:r>
          </a:p>
          <a:p>
            <a:pPr lvl="2"/>
            <a:endParaRPr lang="en-IN" dirty="0" smtClean="0"/>
          </a:p>
          <a:p>
            <a:endParaRPr lang="en-IN" dirty="0" smtClean="0"/>
          </a:p>
          <a:p>
            <a:pPr lvl="1"/>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40737146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51520" y="332656"/>
            <a:ext cx="7916416" cy="5652120"/>
          </a:xfrm>
        </p:spPr>
        <p:txBody>
          <a:bodyPr/>
          <a:lstStyle/>
          <a:p>
            <a:r>
              <a:rPr lang="en-US" dirty="0" smtClean="0"/>
              <a:t>ECLIPSE</a:t>
            </a:r>
          </a:p>
          <a:p>
            <a:pPr lvl="1"/>
            <a:r>
              <a:rPr lang="en-US" dirty="0" smtClean="0"/>
              <a:t>Store connector.jar file in some location</a:t>
            </a:r>
          </a:p>
          <a:p>
            <a:pPr lvl="1"/>
            <a:r>
              <a:rPr lang="en-US" dirty="0" smtClean="0"/>
              <a:t>Click right click on Project folder, </a:t>
            </a:r>
          </a:p>
          <a:p>
            <a:pPr lvl="2"/>
            <a:r>
              <a:rPr lang="en-US" dirty="0" smtClean="0"/>
              <a:t>Chose Build Path</a:t>
            </a:r>
          </a:p>
          <a:p>
            <a:pPr lvl="3"/>
            <a:r>
              <a:rPr lang="en-US" dirty="0" smtClean="0"/>
              <a:t>Chose</a:t>
            </a:r>
          </a:p>
          <a:p>
            <a:pPr lvl="4"/>
            <a:r>
              <a:rPr lang="en-US" dirty="0" smtClean="0"/>
              <a:t>Add External Archives /Configure Build Path</a:t>
            </a:r>
          </a:p>
          <a:p>
            <a:pPr lvl="4"/>
            <a:r>
              <a:rPr lang="en-US" dirty="0" smtClean="0"/>
              <a:t>Configure </a:t>
            </a:r>
            <a:r>
              <a:rPr lang="en-US" dirty="0"/>
              <a:t>Build </a:t>
            </a:r>
            <a:r>
              <a:rPr lang="en-US" dirty="0" smtClean="0"/>
              <a:t>Path</a:t>
            </a:r>
          </a:p>
          <a:p>
            <a:pPr lvl="5"/>
            <a:r>
              <a:rPr lang="en-US" dirty="0" smtClean="0"/>
              <a:t>In Libraries, click on </a:t>
            </a:r>
            <a:r>
              <a:rPr lang="en-US" dirty="0" err="1" smtClean="0"/>
              <a:t>Classpath</a:t>
            </a:r>
            <a:r>
              <a:rPr lang="en-US" dirty="0" smtClean="0"/>
              <a:t>, Add External JARs</a:t>
            </a:r>
          </a:p>
          <a:p>
            <a:r>
              <a:rPr lang="en-US" dirty="0" smtClean="0"/>
              <a:t>Visual Studio Code</a:t>
            </a:r>
          </a:p>
          <a:p>
            <a:pPr lvl="1"/>
            <a:r>
              <a:rPr lang="en-US" dirty="0" smtClean="0"/>
              <a:t>Download and Install</a:t>
            </a:r>
          </a:p>
          <a:p>
            <a:pPr lvl="1"/>
            <a:r>
              <a:rPr lang="en-US" dirty="0" smtClean="0"/>
              <a:t>Add JAVA extension pack</a:t>
            </a:r>
          </a:p>
          <a:p>
            <a:pPr lvl="1"/>
            <a:r>
              <a:rPr lang="en-US" dirty="0" smtClean="0"/>
              <a:t>Chose Explorer</a:t>
            </a:r>
          </a:p>
          <a:p>
            <a:pPr lvl="2"/>
            <a:r>
              <a:rPr lang="en-US" dirty="0" smtClean="0"/>
              <a:t>Chose Create JAVA Project</a:t>
            </a:r>
            <a:endParaRPr lang="en-IN"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3470259"/>
            <a:ext cx="3923928" cy="2799759"/>
          </a:xfrm>
          <a:prstGeom prst="rect">
            <a:avLst/>
          </a:prstGeom>
        </p:spPr>
      </p:pic>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39652997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5004048" y="3933056"/>
            <a:ext cx="3628192" cy="2675617"/>
          </a:xfrm>
        </p:spPr>
      </p:pic>
      <p:sp>
        <p:nvSpPr>
          <p:cNvPr id="5" name="TextBox 4"/>
          <p:cNvSpPr txBox="1"/>
          <p:nvPr/>
        </p:nvSpPr>
        <p:spPr>
          <a:xfrm>
            <a:off x="251520" y="2996952"/>
            <a:ext cx="7344816" cy="1477328"/>
          </a:xfrm>
          <a:prstGeom prst="rect">
            <a:avLst/>
          </a:prstGeom>
          <a:noFill/>
        </p:spPr>
        <p:txBody>
          <a:bodyPr wrap="square" rtlCol="0">
            <a:spAutoFit/>
          </a:bodyPr>
          <a:lstStyle/>
          <a:p>
            <a:pPr marL="285750" indent="-285750">
              <a:buFont typeface="Arial" pitchFamily="34" charset="0"/>
              <a:buChar char="•"/>
            </a:pPr>
            <a:r>
              <a:rPr lang="en-US" dirty="0" smtClean="0"/>
              <a:t>Create JAVA Project</a:t>
            </a:r>
          </a:p>
          <a:p>
            <a:pPr marL="285750" indent="-285750">
              <a:buFont typeface="Arial" pitchFamily="34" charset="0"/>
              <a:buChar char="•"/>
            </a:pPr>
            <a:r>
              <a:rPr lang="en-US" dirty="0" smtClean="0"/>
              <a:t>Then Chose the type of Project and Location</a:t>
            </a:r>
          </a:p>
          <a:p>
            <a:pPr marL="285750" indent="-285750">
              <a:buFont typeface="Arial" pitchFamily="34" charset="0"/>
              <a:buChar char="•"/>
            </a:pPr>
            <a:r>
              <a:rPr lang="en-US" dirty="0" smtClean="0"/>
              <a:t>Once the location is selected, Specify the name of the Project, then JAVA project will be created and by default APP.java file will be created, Next Add jar file in referenced libraries.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4606206"/>
            <a:ext cx="2808312" cy="2099142"/>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052" y="317932"/>
            <a:ext cx="3960440" cy="2533688"/>
          </a:xfrm>
          <a:prstGeom prst="rect">
            <a:avLst/>
          </a:prstGeom>
        </p:spPr>
      </p:pic>
      <p:sp>
        <p:nvSpPr>
          <p:cNvPr id="2" name="Footer Placeholder 1"/>
          <p:cNvSpPr>
            <a:spLocks noGrp="1"/>
          </p:cNvSpPr>
          <p:nvPr>
            <p:ph type="ftr" sz="quarter" idx="11"/>
          </p:nvPr>
        </p:nvSpPr>
        <p:spPr/>
        <p:txBody>
          <a:bodyPr/>
          <a:lstStyle/>
          <a:p>
            <a:r>
              <a:rPr lang="en-IN" smtClean="0"/>
              <a:t>Dr Suresh Yadlapati</a:t>
            </a:r>
            <a:endParaRPr lang="en-IN"/>
          </a:p>
        </p:txBody>
      </p:sp>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86492" y="28584"/>
            <a:ext cx="4157419" cy="3112384"/>
          </a:xfrm>
          <a:prstGeom prst="rect">
            <a:avLst/>
          </a:prstGeom>
        </p:spPr>
      </p:pic>
    </p:spTree>
    <p:extLst>
      <p:ext uri="{BB962C8B-B14F-4D97-AF65-F5344CB8AC3E}">
        <p14:creationId xmlns:p14="http://schemas.microsoft.com/office/powerpoint/2010/main" val="18896112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357166"/>
            <a:ext cx="8401080" cy="642942"/>
          </a:xfrm>
        </p:spPr>
        <p:txBody>
          <a:bodyPr>
            <a:noAutofit/>
          </a:bodyPr>
          <a:lstStyle/>
          <a:p>
            <a:r>
              <a:rPr lang="en-IN" b="1" dirty="0" smtClean="0">
                <a:solidFill>
                  <a:schemeClr val="tx1"/>
                </a:solidFill>
              </a:rPr>
              <a:t>JDBC API</a:t>
            </a:r>
            <a:endParaRPr lang="en-IN" b="1" dirty="0">
              <a:solidFill>
                <a:schemeClr val="tx1"/>
              </a:solidFill>
            </a:endParaRPr>
          </a:p>
        </p:txBody>
      </p:sp>
      <p:sp>
        <p:nvSpPr>
          <p:cNvPr id="3" name="Content Placeholder 2"/>
          <p:cNvSpPr>
            <a:spLocks noGrp="1"/>
          </p:cNvSpPr>
          <p:nvPr>
            <p:ph sz="quarter" idx="1"/>
          </p:nvPr>
        </p:nvSpPr>
        <p:spPr>
          <a:xfrm>
            <a:off x="214282" y="1142984"/>
            <a:ext cx="8501122" cy="5267348"/>
          </a:xfrm>
        </p:spPr>
        <p:txBody>
          <a:bodyPr>
            <a:noAutofit/>
          </a:bodyPr>
          <a:lstStyle/>
          <a:p>
            <a:r>
              <a:rPr lang="en-IN" sz="2400" dirty="0" smtClean="0"/>
              <a:t>Provides classes and interfaces that are used by Java Applications to communicate with databases. </a:t>
            </a:r>
          </a:p>
          <a:p>
            <a:r>
              <a:rPr lang="en-IN" sz="2400" dirty="0" smtClean="0"/>
              <a:t>The </a:t>
            </a:r>
            <a:r>
              <a:rPr lang="en-IN" sz="2400" b="1" dirty="0" smtClean="0"/>
              <a:t>JDBC driver communicates </a:t>
            </a:r>
            <a:r>
              <a:rPr lang="en-IN" sz="2400" dirty="0" smtClean="0"/>
              <a:t>with a  database for any requests made by a Java application by using the JDBC API.</a:t>
            </a:r>
          </a:p>
          <a:p>
            <a:r>
              <a:rPr lang="en-IN" sz="2400" dirty="0" smtClean="0"/>
              <a:t>The JDBC driver not only process SQL commands, but also sends back the result of processing of these SQL commands. </a:t>
            </a:r>
          </a:p>
          <a:p>
            <a:r>
              <a:rPr lang="en-IN" sz="2400" dirty="0" smtClean="0"/>
              <a:t>JDBC follows </a:t>
            </a:r>
            <a:r>
              <a:rPr lang="en-IN" sz="2400" b="1" i="1" dirty="0" smtClean="0"/>
              <a:t>write once run anywhere </a:t>
            </a:r>
            <a:r>
              <a:rPr lang="en-IN" sz="2400" dirty="0" smtClean="0"/>
              <a:t>behaviour of JAVA.</a:t>
            </a:r>
          </a:p>
          <a:p>
            <a:r>
              <a:rPr lang="en-IN" sz="2400" dirty="0" smtClean="0"/>
              <a:t>The JDBC API is part of Java SE and is available to Java Platform EE.</a:t>
            </a:r>
          </a:p>
          <a:p>
            <a:r>
              <a:rPr lang="en-IN" sz="2400" dirty="0" smtClean="0"/>
              <a:t> Textbook    -     JDBC 4.0</a:t>
            </a:r>
          </a:p>
          <a:p>
            <a:r>
              <a:rPr lang="en-IN" sz="2400" dirty="0" smtClean="0"/>
              <a:t>JDBC 4.0 mainly uses two packages:</a:t>
            </a:r>
          </a:p>
          <a:p>
            <a:pPr lvl="1"/>
            <a:r>
              <a:rPr lang="en-IN" b="1" i="1" dirty="0" err="1" smtClean="0"/>
              <a:t>java.sql</a:t>
            </a:r>
            <a:endParaRPr lang="en-IN" b="1" i="1" dirty="0" smtClean="0"/>
          </a:p>
          <a:p>
            <a:pPr lvl="1"/>
            <a:r>
              <a:rPr lang="en-IN" b="1" i="1" dirty="0" err="1" smtClean="0"/>
              <a:t>javax.sql</a:t>
            </a:r>
            <a:endParaRPr lang="en-IN" b="1" i="1" dirty="0"/>
          </a:p>
        </p:txBody>
      </p:sp>
      <p:sp>
        <p:nvSpPr>
          <p:cNvPr id="4" name="Footer Placeholder 3"/>
          <p:cNvSpPr>
            <a:spLocks noGrp="1"/>
          </p:cNvSpPr>
          <p:nvPr>
            <p:ph type="ftr" sz="quarter" idx="11"/>
          </p:nvPr>
        </p:nvSpPr>
        <p:spPr/>
        <p:txBody>
          <a:bodyPr/>
          <a:lstStyle/>
          <a:p>
            <a:r>
              <a:rPr lang="en-IN" dirty="0" smtClean="0"/>
              <a:t>Dr Suresh </a:t>
            </a:r>
            <a:r>
              <a:rPr lang="en-IN" dirty="0" err="1" smtClean="0"/>
              <a:t>Yadlapati</a:t>
            </a:r>
            <a:endParaRPr lang="en-IN" dirty="0"/>
          </a:p>
        </p:txBody>
      </p:sp>
    </p:spTree>
    <p:extLst>
      <p:ext uri="{BB962C8B-B14F-4D97-AF65-F5344CB8AC3E}">
        <p14:creationId xmlns:p14="http://schemas.microsoft.com/office/powerpoint/2010/main" val="997040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96908"/>
          </a:xfrm>
        </p:spPr>
        <p:txBody>
          <a:bodyPr/>
          <a:lstStyle/>
          <a:p>
            <a:r>
              <a:rPr lang="en-IN" dirty="0" smtClean="0">
                <a:solidFill>
                  <a:schemeClr val="tx1"/>
                </a:solidFill>
                <a:latin typeface="Times New Roman" pitchFamily="18" charset="0"/>
                <a:cs typeface="Times New Roman" pitchFamily="18" charset="0"/>
              </a:rPr>
              <a:t>java.sql package</a:t>
            </a:r>
            <a:endParaRPr lang="en-IN"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23528" y="1124744"/>
            <a:ext cx="8401080" cy="4572000"/>
          </a:xfrm>
        </p:spPr>
        <p:txBody>
          <a:bodyPr>
            <a:normAutofit fontScale="92500" lnSpcReduction="20000"/>
          </a:bodyPr>
          <a:lstStyle/>
          <a:p>
            <a:r>
              <a:rPr lang="en-IN" sz="2800" dirty="0" smtClean="0"/>
              <a:t>Also called as JDBC Core API.</a:t>
            </a:r>
          </a:p>
          <a:p>
            <a:r>
              <a:rPr lang="en-IN" sz="2800" dirty="0" smtClean="0"/>
              <a:t>Package contains classes and interfaces to perform JDBC operations such as creating and executing SQL queries. </a:t>
            </a:r>
          </a:p>
          <a:p>
            <a:r>
              <a:rPr lang="en-IN" sz="2800" dirty="0" smtClean="0"/>
              <a:t>These classes and interfaces further classified into:</a:t>
            </a:r>
          </a:p>
          <a:p>
            <a:pPr lvl="1"/>
            <a:r>
              <a:rPr lang="en-IN" sz="2800" dirty="0" smtClean="0">
                <a:solidFill>
                  <a:srgbClr val="C00000"/>
                </a:solidFill>
              </a:rPr>
              <a:t>Connection management </a:t>
            </a:r>
            <a:r>
              <a:rPr lang="en-IN" sz="2800" dirty="0" smtClean="0"/>
              <a:t>– establish a connection with database</a:t>
            </a:r>
          </a:p>
          <a:p>
            <a:pPr lvl="1"/>
            <a:r>
              <a:rPr lang="en-IN" sz="2800" dirty="0" smtClean="0">
                <a:solidFill>
                  <a:srgbClr val="C00000"/>
                </a:solidFill>
              </a:rPr>
              <a:t>Database access </a:t>
            </a:r>
            <a:r>
              <a:rPr lang="en-IN" sz="2800" dirty="0" smtClean="0"/>
              <a:t>– Execution of SQL Queries- after connection is established</a:t>
            </a:r>
          </a:p>
          <a:p>
            <a:pPr lvl="1"/>
            <a:r>
              <a:rPr lang="en-IN" sz="2800" dirty="0" smtClean="0">
                <a:solidFill>
                  <a:srgbClr val="C00000"/>
                </a:solidFill>
              </a:rPr>
              <a:t>Data types- </a:t>
            </a:r>
            <a:r>
              <a:rPr lang="en-IN" sz="2800" dirty="0" smtClean="0"/>
              <a:t>SQL </a:t>
            </a:r>
            <a:r>
              <a:rPr lang="en-IN" sz="2800" dirty="0" err="1" smtClean="0"/>
              <a:t>Datatypes</a:t>
            </a:r>
            <a:r>
              <a:rPr lang="en-IN" sz="2800" dirty="0" smtClean="0"/>
              <a:t> (Ex: BLOB,CLOB, UDT – User Defined </a:t>
            </a:r>
            <a:r>
              <a:rPr lang="en-IN" sz="2800" dirty="0" err="1" smtClean="0"/>
              <a:t>Datatype</a:t>
            </a:r>
            <a:r>
              <a:rPr lang="en-IN" sz="2800" dirty="0" smtClean="0"/>
              <a:t>....)</a:t>
            </a:r>
          </a:p>
          <a:p>
            <a:pPr lvl="1"/>
            <a:r>
              <a:rPr lang="en-IN" sz="2800" dirty="0" smtClean="0">
                <a:solidFill>
                  <a:srgbClr val="C00000"/>
                </a:solidFill>
              </a:rPr>
              <a:t>Database metadata </a:t>
            </a:r>
            <a:r>
              <a:rPr lang="en-IN" sz="2800" dirty="0" smtClean="0"/>
              <a:t>– is used to retrieve info about Database</a:t>
            </a:r>
          </a:p>
          <a:p>
            <a:pPr lvl="1"/>
            <a:r>
              <a:rPr lang="en-IN" sz="2800" dirty="0" smtClean="0">
                <a:solidFill>
                  <a:srgbClr val="C00000"/>
                </a:solidFill>
              </a:rPr>
              <a:t>Exceptions and warnings </a:t>
            </a:r>
            <a:r>
              <a:rPr lang="en-IN" sz="2800" dirty="0" smtClean="0"/>
              <a:t>– handle unwanted exceptions raised by the application</a:t>
            </a:r>
          </a:p>
          <a:p>
            <a:endParaRPr lang="en-IN" dirty="0" smtClean="0"/>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6183834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96908"/>
          </a:xfrm>
        </p:spPr>
        <p:txBody>
          <a:bodyPr/>
          <a:lstStyle/>
          <a:p>
            <a:r>
              <a:rPr lang="en-IN" dirty="0" smtClean="0">
                <a:solidFill>
                  <a:schemeClr val="tx1"/>
                </a:solidFill>
                <a:latin typeface="Times New Roman" pitchFamily="18" charset="0"/>
                <a:cs typeface="Times New Roman" pitchFamily="18" charset="0"/>
              </a:rPr>
              <a:t>javax.sql package</a:t>
            </a:r>
            <a:endParaRPr lang="en-IN"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323528" y="1196752"/>
            <a:ext cx="8568952" cy="5184576"/>
          </a:xfrm>
        </p:spPr>
        <p:txBody>
          <a:bodyPr>
            <a:normAutofit fontScale="92500"/>
          </a:bodyPr>
          <a:lstStyle/>
          <a:p>
            <a:r>
              <a:rPr lang="en-IN" sz="2800" dirty="0" smtClean="0"/>
              <a:t>Also called as JDBC Extension API (supplement of java.sql package).</a:t>
            </a:r>
          </a:p>
          <a:p>
            <a:r>
              <a:rPr lang="en-US" sz="2800" dirty="0"/>
              <a:t>primarily focusing on advanced data source </a:t>
            </a:r>
            <a:r>
              <a:rPr lang="en-US" sz="2800" dirty="0" smtClean="0"/>
              <a:t>management , </a:t>
            </a:r>
            <a:r>
              <a:rPr lang="en-US" sz="2800" dirty="0"/>
              <a:t>connection pooling, and distributed transaction support. </a:t>
            </a:r>
            <a:endParaRPr lang="en-US" sz="2800" dirty="0" smtClean="0"/>
          </a:p>
          <a:p>
            <a:r>
              <a:rPr lang="en-US" sz="2800" dirty="0" smtClean="0"/>
              <a:t>This </a:t>
            </a:r>
            <a:r>
              <a:rPr lang="en-US" sz="2800" dirty="0"/>
              <a:t>package is especially useful in enterprise applications where performance, scalability, and manageability of database connections are crucial.</a:t>
            </a:r>
          </a:p>
          <a:p>
            <a:r>
              <a:rPr lang="en-IN" sz="2800" dirty="0" smtClean="0"/>
              <a:t> Classified into </a:t>
            </a:r>
            <a:endParaRPr lang="en-IN" dirty="0" smtClean="0">
              <a:solidFill>
                <a:srgbClr val="C00000"/>
              </a:solidFill>
            </a:endParaRPr>
          </a:p>
          <a:p>
            <a:pPr lvl="1"/>
            <a:r>
              <a:rPr lang="en-IN" dirty="0" smtClean="0">
                <a:solidFill>
                  <a:srgbClr val="C00000"/>
                </a:solidFill>
              </a:rPr>
              <a:t>Connection and statement pooling </a:t>
            </a:r>
            <a:r>
              <a:rPr lang="en-IN" dirty="0" smtClean="0"/>
              <a:t>– establish number of connections </a:t>
            </a:r>
          </a:p>
          <a:p>
            <a:pPr lvl="1"/>
            <a:r>
              <a:rPr lang="en-IN" dirty="0" smtClean="0">
                <a:solidFill>
                  <a:srgbClr val="C00000"/>
                </a:solidFill>
              </a:rPr>
              <a:t>Distributed transaction </a:t>
            </a:r>
            <a:r>
              <a:rPr lang="en-IN" dirty="0" smtClean="0"/>
              <a:t>– supports accessing of data from multiple servers</a:t>
            </a:r>
          </a:p>
          <a:p>
            <a:pPr lvl="1"/>
            <a:r>
              <a:rPr lang="en-IN" dirty="0" err="1" smtClean="0">
                <a:solidFill>
                  <a:srgbClr val="C00000"/>
                </a:solidFill>
              </a:rPr>
              <a:t>Rowsets</a:t>
            </a:r>
            <a:r>
              <a:rPr lang="en-IN" dirty="0" smtClean="0">
                <a:solidFill>
                  <a:srgbClr val="C00000"/>
                </a:solidFill>
              </a:rPr>
              <a:t> </a:t>
            </a:r>
            <a:r>
              <a:rPr lang="en-IN" dirty="0" smtClean="0"/>
              <a:t>– Alternative </a:t>
            </a:r>
            <a:r>
              <a:rPr lang="en-IN" dirty="0"/>
              <a:t>to </a:t>
            </a:r>
            <a:r>
              <a:rPr lang="en-IN" b="1" dirty="0" err="1"/>
              <a:t>ResultSet</a:t>
            </a:r>
            <a:r>
              <a:rPr lang="en-IN" dirty="0"/>
              <a:t> </a:t>
            </a:r>
            <a:r>
              <a:rPr lang="en-IN" dirty="0" smtClean="0"/>
              <a:t>in SQL package - </a:t>
            </a:r>
            <a:r>
              <a:rPr lang="en-US" dirty="0"/>
              <a:t>Useful in distributed systems, where you fetch data once, disconnect, and later work with the data.</a:t>
            </a:r>
            <a:endParaRPr lang="en-IN" dirty="0" smtClean="0"/>
          </a:p>
          <a:p>
            <a:endParaRPr lang="en-IN" dirty="0" smtClean="0"/>
          </a:p>
          <a:p>
            <a:endParaRPr lang="en-IN" dirty="0"/>
          </a:p>
        </p:txBody>
      </p:sp>
      <p:sp>
        <p:nvSpPr>
          <p:cNvPr id="4" name="Footer Placeholder 3"/>
          <p:cNvSpPr>
            <a:spLocks noGrp="1"/>
          </p:cNvSpPr>
          <p:nvPr>
            <p:ph type="ftr" sz="quarter" idx="11"/>
          </p:nvPr>
        </p:nvSpPr>
        <p:spPr/>
        <p:txBody>
          <a:bodyPr/>
          <a:lstStyle/>
          <a:p>
            <a:r>
              <a:rPr lang="en-IN" dirty="0" smtClean="0"/>
              <a:t>Dr Suresh </a:t>
            </a:r>
            <a:r>
              <a:rPr lang="en-IN" dirty="0" err="1" smtClean="0"/>
              <a:t>Yadlapati</a:t>
            </a:r>
            <a:endParaRPr lang="en-IN" dirty="0"/>
          </a:p>
        </p:txBody>
      </p:sp>
    </p:spTree>
    <p:extLst>
      <p:ext uri="{BB962C8B-B14F-4D97-AF65-F5344CB8AC3E}">
        <p14:creationId xmlns:p14="http://schemas.microsoft.com/office/powerpoint/2010/main" val="35435256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922114"/>
          </a:xfrm>
        </p:spPr>
        <p:txBody>
          <a:bodyPr>
            <a:normAutofit/>
          </a:bodyPr>
          <a:lstStyle/>
          <a:p>
            <a:r>
              <a:rPr lang="en-IN" dirty="0" smtClean="0">
                <a:solidFill>
                  <a:schemeClr val="tx1"/>
                </a:solidFill>
                <a:latin typeface="Times New Roman" pitchFamily="18" charset="0"/>
                <a:cs typeface="Times New Roman" pitchFamily="18" charset="0"/>
              </a:rPr>
              <a:t>Exploring Major Classes and Interfaces</a:t>
            </a:r>
            <a:endParaRPr lang="en-IN"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285720" y="1447800"/>
            <a:ext cx="8401080" cy="4572000"/>
          </a:xfrm>
        </p:spPr>
        <p:txBody>
          <a:bodyPr/>
          <a:lstStyle/>
          <a:p>
            <a:r>
              <a:rPr lang="en-IN" dirty="0" smtClean="0"/>
              <a:t>Major classes and interfaces:</a:t>
            </a:r>
          </a:p>
          <a:p>
            <a:pPr lvl="1"/>
            <a:r>
              <a:rPr lang="en-IN" dirty="0" err="1" smtClean="0"/>
              <a:t>DriverManager</a:t>
            </a:r>
            <a:r>
              <a:rPr lang="en-IN" dirty="0" smtClean="0"/>
              <a:t> Class</a:t>
            </a:r>
          </a:p>
          <a:p>
            <a:pPr lvl="1"/>
            <a:r>
              <a:rPr lang="en-IN" dirty="0" smtClean="0"/>
              <a:t>Driver Interface</a:t>
            </a:r>
          </a:p>
          <a:p>
            <a:pPr lvl="1"/>
            <a:r>
              <a:rPr lang="en-IN" dirty="0" smtClean="0"/>
              <a:t>Connection Interface</a:t>
            </a:r>
          </a:p>
          <a:p>
            <a:pPr lvl="1"/>
            <a:r>
              <a:rPr lang="en-IN" dirty="0" smtClean="0"/>
              <a:t>Statement Interface</a:t>
            </a:r>
          </a:p>
          <a:p>
            <a:pPr lvl="1"/>
            <a:r>
              <a:rPr lang="en-IN" dirty="0" err="1" smtClean="0"/>
              <a:t>ResultSet</a:t>
            </a:r>
            <a:r>
              <a:rPr lang="en-IN" dirty="0" smtClean="0"/>
              <a:t> Interface</a:t>
            </a:r>
          </a:p>
          <a:p>
            <a:r>
              <a:rPr lang="en-US" dirty="0" smtClean="0"/>
              <a:t>These classes and interfaces allows us to load a driver, establish a connection, and retrieve or update data in a database. </a:t>
            </a:r>
            <a:endParaRPr lang="en-IN" dirty="0"/>
          </a:p>
        </p:txBody>
      </p:sp>
      <p:sp>
        <p:nvSpPr>
          <p:cNvPr id="4" name="Footer Placeholder 3"/>
          <p:cNvSpPr>
            <a:spLocks noGrp="1"/>
          </p:cNvSpPr>
          <p:nvPr>
            <p:ph type="ftr" sz="quarter" idx="11"/>
          </p:nvPr>
        </p:nvSpPr>
        <p:spPr/>
        <p:txBody>
          <a:bodyPr/>
          <a:lstStyle/>
          <a:p>
            <a:r>
              <a:rPr lang="en-IN" dirty="0" smtClean="0"/>
              <a:t>Dr Suresh </a:t>
            </a:r>
            <a:r>
              <a:rPr lang="en-IN" dirty="0" err="1" smtClean="0"/>
              <a:t>Yadlapati</a:t>
            </a:r>
            <a:endParaRPr lang="en-IN" dirty="0"/>
          </a:p>
        </p:txBody>
      </p:sp>
    </p:spTree>
    <p:extLst>
      <p:ext uri="{BB962C8B-B14F-4D97-AF65-F5344CB8AC3E}">
        <p14:creationId xmlns:p14="http://schemas.microsoft.com/office/powerpoint/2010/main" val="31631454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22" name="Rectangle 2"/>
          <p:cNvSpPr>
            <a:spLocks noGrp="1" noChangeArrowheads="1"/>
          </p:cNvSpPr>
          <p:nvPr>
            <p:ph type="title"/>
          </p:nvPr>
        </p:nvSpPr>
        <p:spPr/>
        <p:txBody>
          <a:bodyPr/>
          <a:lstStyle/>
          <a:p>
            <a:r>
              <a:rPr lang="en-US" altLang="zh-TW" sz="4400">
                <a:ea typeface="PMingLiU" pitchFamily="18" charset="-120"/>
              </a:rPr>
              <a:t>JDBC Application Architecture</a:t>
            </a:r>
          </a:p>
        </p:txBody>
      </p:sp>
      <p:sp>
        <p:nvSpPr>
          <p:cNvPr id="1464323" name="Rectangle 3"/>
          <p:cNvSpPr>
            <a:spLocks noChangeArrowheads="1"/>
          </p:cNvSpPr>
          <p:nvPr/>
        </p:nvSpPr>
        <p:spPr bwMode="auto">
          <a:xfrm>
            <a:off x="2628900" y="1760747"/>
            <a:ext cx="5486400" cy="1295400"/>
          </a:xfrm>
          <a:prstGeom prst="rect">
            <a:avLst/>
          </a:prstGeom>
          <a:noFill/>
          <a:ln w="9525">
            <a:solidFill>
              <a:schemeClr val="tx1"/>
            </a:solidFill>
            <a:miter lim="800000"/>
            <a:headEnd/>
            <a:tailEnd/>
          </a:ln>
          <a:effectLst/>
        </p:spPr>
        <p:txBody>
          <a:bodyPr wrap="none" anchor="ctr"/>
          <a:lstStyle/>
          <a:p>
            <a:endParaRPr lang="en-IN"/>
          </a:p>
        </p:txBody>
      </p:sp>
      <p:sp>
        <p:nvSpPr>
          <p:cNvPr id="1464324" name="Text Box 4"/>
          <p:cNvSpPr txBox="1">
            <a:spLocks noChangeArrowheads="1"/>
          </p:cNvSpPr>
          <p:nvPr/>
        </p:nvSpPr>
        <p:spPr bwMode="auto">
          <a:xfrm>
            <a:off x="3717925" y="1793875"/>
            <a:ext cx="1620838" cy="457200"/>
          </a:xfrm>
          <a:prstGeom prst="rect">
            <a:avLst/>
          </a:prstGeom>
          <a:noFill/>
          <a:ln w="9525">
            <a:noFill/>
            <a:miter lim="800000"/>
            <a:headEnd/>
            <a:tailEnd/>
          </a:ln>
          <a:effectLst/>
        </p:spPr>
        <p:txBody>
          <a:bodyPr wrap="none">
            <a:spAutoFit/>
          </a:bodyPr>
          <a:lstStyle/>
          <a:p>
            <a:r>
              <a:rPr kumimoji="0" lang="en-US" altLang="zh-TW" sz="2400" b="0">
                <a:latin typeface="Times New Roman" pitchFamily="18" charset="0"/>
                <a:ea typeface="PMingLiU" pitchFamily="18" charset="-120"/>
              </a:rPr>
              <a:t>Application</a:t>
            </a:r>
          </a:p>
        </p:txBody>
      </p:sp>
      <p:sp>
        <p:nvSpPr>
          <p:cNvPr id="1464325" name="Rectangle 5"/>
          <p:cNvSpPr>
            <a:spLocks noChangeArrowheads="1"/>
          </p:cNvSpPr>
          <p:nvPr/>
        </p:nvSpPr>
        <p:spPr bwMode="auto">
          <a:xfrm>
            <a:off x="2971800" y="2438400"/>
            <a:ext cx="1524000" cy="457200"/>
          </a:xfrm>
          <a:prstGeom prst="rect">
            <a:avLst/>
          </a:prstGeom>
          <a:noFill/>
          <a:ln w="9525">
            <a:solidFill>
              <a:schemeClr val="tx1"/>
            </a:solidFill>
            <a:miter lim="800000"/>
            <a:headEnd/>
            <a:tailEnd/>
          </a:ln>
          <a:effectLst/>
        </p:spPr>
        <p:txBody>
          <a:bodyPr wrap="none" anchor="ctr"/>
          <a:lstStyle/>
          <a:p>
            <a:pPr algn="ctr"/>
            <a:r>
              <a:rPr kumimoji="0" lang="en-US" altLang="zh-TW" sz="2400" b="0" dirty="0">
                <a:latin typeface="Times New Roman" pitchFamily="18" charset="0"/>
                <a:ea typeface="PMingLiU" pitchFamily="18" charset="-120"/>
              </a:rPr>
              <a:t>Connection</a:t>
            </a:r>
          </a:p>
        </p:txBody>
      </p:sp>
      <p:sp>
        <p:nvSpPr>
          <p:cNvPr id="1464326" name="Rectangle 6"/>
          <p:cNvSpPr>
            <a:spLocks noChangeArrowheads="1"/>
          </p:cNvSpPr>
          <p:nvPr/>
        </p:nvSpPr>
        <p:spPr bwMode="auto">
          <a:xfrm>
            <a:off x="2411413" y="3408363"/>
            <a:ext cx="4572000" cy="1371600"/>
          </a:xfrm>
          <a:prstGeom prst="rect">
            <a:avLst/>
          </a:prstGeom>
          <a:noFill/>
          <a:ln w="9525">
            <a:solidFill>
              <a:schemeClr val="tx1"/>
            </a:solidFill>
            <a:miter lim="800000"/>
            <a:headEnd/>
            <a:tailEnd/>
          </a:ln>
          <a:effectLst/>
        </p:spPr>
        <p:txBody>
          <a:bodyPr wrap="none" anchor="ctr"/>
          <a:lstStyle/>
          <a:p>
            <a:endParaRPr lang="en-IN"/>
          </a:p>
        </p:txBody>
      </p:sp>
      <p:sp>
        <p:nvSpPr>
          <p:cNvPr id="1464327" name="Line 7"/>
          <p:cNvSpPr>
            <a:spLocks noChangeShapeType="1"/>
          </p:cNvSpPr>
          <p:nvPr/>
        </p:nvSpPr>
        <p:spPr bwMode="auto">
          <a:xfrm>
            <a:off x="3581400" y="2895600"/>
            <a:ext cx="457200" cy="7620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64328" name="Line 8"/>
          <p:cNvSpPr>
            <a:spLocks noChangeShapeType="1"/>
          </p:cNvSpPr>
          <p:nvPr/>
        </p:nvSpPr>
        <p:spPr bwMode="auto">
          <a:xfrm flipH="1">
            <a:off x="4500562" y="2895600"/>
            <a:ext cx="909638" cy="676276"/>
          </a:xfrm>
          <a:prstGeom prst="line">
            <a:avLst/>
          </a:prstGeom>
          <a:noFill/>
          <a:ln w="9525">
            <a:solidFill>
              <a:schemeClr val="tx1"/>
            </a:solidFill>
            <a:round/>
            <a:headEnd/>
            <a:tailEnd type="triangle" w="med" len="med"/>
          </a:ln>
          <a:effectLst/>
        </p:spPr>
        <p:txBody>
          <a:bodyPr wrap="none" anchor="ctr"/>
          <a:lstStyle/>
          <a:p>
            <a:endParaRPr lang="en-IN"/>
          </a:p>
        </p:txBody>
      </p:sp>
      <p:sp>
        <p:nvSpPr>
          <p:cNvPr id="1464329" name="Rectangle 9"/>
          <p:cNvSpPr>
            <a:spLocks noChangeArrowheads="1"/>
          </p:cNvSpPr>
          <p:nvPr/>
        </p:nvSpPr>
        <p:spPr bwMode="auto">
          <a:xfrm>
            <a:off x="3657600" y="3581400"/>
            <a:ext cx="2286000" cy="457200"/>
          </a:xfrm>
          <a:prstGeom prst="rect">
            <a:avLst/>
          </a:prstGeom>
          <a:noFill/>
          <a:ln w="9525">
            <a:solidFill>
              <a:schemeClr val="tx1"/>
            </a:solidFill>
            <a:miter lim="800000"/>
            <a:headEnd/>
            <a:tailEnd/>
          </a:ln>
          <a:effectLst/>
        </p:spPr>
        <p:txBody>
          <a:bodyPr wrap="none" anchor="ctr"/>
          <a:lstStyle/>
          <a:p>
            <a:endParaRPr lang="en-IN"/>
          </a:p>
        </p:txBody>
      </p:sp>
      <p:sp>
        <p:nvSpPr>
          <p:cNvPr id="1464330" name="Text Box 10"/>
          <p:cNvSpPr txBox="1">
            <a:spLocks noChangeArrowheads="1"/>
          </p:cNvSpPr>
          <p:nvPr/>
        </p:nvSpPr>
        <p:spPr bwMode="auto">
          <a:xfrm>
            <a:off x="3657600" y="3581400"/>
            <a:ext cx="2138363" cy="457200"/>
          </a:xfrm>
          <a:prstGeom prst="rect">
            <a:avLst/>
          </a:prstGeom>
          <a:noFill/>
          <a:ln w="9525">
            <a:noFill/>
            <a:miter lim="800000"/>
            <a:headEnd/>
            <a:tailEnd/>
          </a:ln>
          <a:effectLst/>
        </p:spPr>
        <p:txBody>
          <a:bodyPr wrap="none">
            <a:spAutoFit/>
          </a:bodyPr>
          <a:lstStyle/>
          <a:p>
            <a:r>
              <a:rPr kumimoji="0" lang="en-US" altLang="zh-TW" sz="2400" b="0" dirty="0">
                <a:latin typeface="Times New Roman" pitchFamily="18" charset="0"/>
                <a:ea typeface="PMingLiU" pitchFamily="18" charset="-120"/>
              </a:rPr>
              <a:t>Driver Manager</a:t>
            </a:r>
          </a:p>
        </p:txBody>
      </p:sp>
      <p:grpSp>
        <p:nvGrpSpPr>
          <p:cNvPr id="2" name="Group 11"/>
          <p:cNvGrpSpPr>
            <a:grpSpLocks/>
          </p:cNvGrpSpPr>
          <p:nvPr/>
        </p:nvGrpSpPr>
        <p:grpSpPr bwMode="auto">
          <a:xfrm>
            <a:off x="2819400" y="4156075"/>
            <a:ext cx="1219200" cy="457200"/>
            <a:chOff x="1776" y="2618"/>
            <a:chExt cx="768" cy="288"/>
          </a:xfrm>
        </p:grpSpPr>
        <p:sp>
          <p:nvSpPr>
            <p:cNvPr id="1464332" name="Rectangle 12"/>
            <p:cNvSpPr>
              <a:spLocks noChangeArrowheads="1"/>
            </p:cNvSpPr>
            <p:nvPr/>
          </p:nvSpPr>
          <p:spPr bwMode="auto">
            <a:xfrm>
              <a:off x="1776" y="2640"/>
              <a:ext cx="768" cy="240"/>
            </a:xfrm>
            <a:prstGeom prst="rect">
              <a:avLst/>
            </a:prstGeom>
            <a:noFill/>
            <a:ln w="9525">
              <a:solidFill>
                <a:schemeClr val="tx1"/>
              </a:solidFill>
              <a:miter lim="800000"/>
              <a:headEnd/>
              <a:tailEnd/>
            </a:ln>
            <a:effectLst/>
          </p:spPr>
          <p:txBody>
            <a:bodyPr wrap="none" anchor="ctr"/>
            <a:lstStyle/>
            <a:p>
              <a:endParaRPr lang="en-IN"/>
            </a:p>
          </p:txBody>
        </p:sp>
        <p:sp>
          <p:nvSpPr>
            <p:cNvPr id="1464333" name="Text Box 13"/>
            <p:cNvSpPr txBox="1">
              <a:spLocks noChangeArrowheads="1"/>
            </p:cNvSpPr>
            <p:nvPr/>
          </p:nvSpPr>
          <p:spPr bwMode="auto">
            <a:xfrm>
              <a:off x="1814" y="2618"/>
              <a:ext cx="617" cy="288"/>
            </a:xfrm>
            <a:prstGeom prst="rect">
              <a:avLst/>
            </a:prstGeom>
            <a:noFill/>
            <a:ln w="9525">
              <a:noFill/>
              <a:miter lim="800000"/>
              <a:headEnd/>
              <a:tailEnd/>
            </a:ln>
            <a:effectLst/>
          </p:spPr>
          <p:txBody>
            <a:bodyPr wrap="none">
              <a:spAutoFit/>
            </a:bodyPr>
            <a:lstStyle/>
            <a:p>
              <a:r>
                <a:rPr kumimoji="0" lang="en-US" altLang="zh-TW" sz="2400" b="0">
                  <a:latin typeface="Times New Roman" pitchFamily="18" charset="0"/>
                  <a:ea typeface="PMingLiU" pitchFamily="18" charset="-120"/>
                </a:rPr>
                <a:t>Driver</a:t>
              </a:r>
            </a:p>
          </p:txBody>
        </p:sp>
      </p:grpSp>
      <p:grpSp>
        <p:nvGrpSpPr>
          <p:cNvPr id="3" name="Group 14"/>
          <p:cNvGrpSpPr>
            <a:grpSpLocks/>
          </p:cNvGrpSpPr>
          <p:nvPr/>
        </p:nvGrpSpPr>
        <p:grpSpPr bwMode="auto">
          <a:xfrm>
            <a:off x="4191000" y="4191000"/>
            <a:ext cx="1219200" cy="457200"/>
            <a:chOff x="1776" y="2618"/>
            <a:chExt cx="768" cy="288"/>
          </a:xfrm>
        </p:grpSpPr>
        <p:sp>
          <p:nvSpPr>
            <p:cNvPr id="1464335" name="Rectangle 15"/>
            <p:cNvSpPr>
              <a:spLocks noChangeArrowheads="1"/>
            </p:cNvSpPr>
            <p:nvPr/>
          </p:nvSpPr>
          <p:spPr bwMode="auto">
            <a:xfrm>
              <a:off x="1776" y="2640"/>
              <a:ext cx="768" cy="240"/>
            </a:xfrm>
            <a:prstGeom prst="rect">
              <a:avLst/>
            </a:prstGeom>
            <a:noFill/>
            <a:ln w="9525">
              <a:solidFill>
                <a:schemeClr val="tx1"/>
              </a:solidFill>
              <a:miter lim="800000"/>
              <a:headEnd/>
              <a:tailEnd/>
            </a:ln>
            <a:effectLst/>
          </p:spPr>
          <p:txBody>
            <a:bodyPr wrap="none" anchor="ctr"/>
            <a:lstStyle/>
            <a:p>
              <a:endParaRPr lang="en-IN"/>
            </a:p>
          </p:txBody>
        </p:sp>
        <p:sp>
          <p:nvSpPr>
            <p:cNvPr id="1464336" name="Text Box 16"/>
            <p:cNvSpPr txBox="1">
              <a:spLocks noChangeArrowheads="1"/>
            </p:cNvSpPr>
            <p:nvPr/>
          </p:nvSpPr>
          <p:spPr bwMode="auto">
            <a:xfrm>
              <a:off x="1814" y="2618"/>
              <a:ext cx="617" cy="288"/>
            </a:xfrm>
            <a:prstGeom prst="rect">
              <a:avLst/>
            </a:prstGeom>
            <a:noFill/>
            <a:ln w="9525">
              <a:noFill/>
              <a:miter lim="800000"/>
              <a:headEnd/>
              <a:tailEnd/>
            </a:ln>
            <a:effectLst/>
          </p:spPr>
          <p:txBody>
            <a:bodyPr wrap="none">
              <a:spAutoFit/>
            </a:bodyPr>
            <a:lstStyle/>
            <a:p>
              <a:r>
                <a:rPr kumimoji="0" lang="en-US" altLang="zh-TW" sz="2400" b="0">
                  <a:latin typeface="Times New Roman" pitchFamily="18" charset="0"/>
                  <a:ea typeface="PMingLiU" pitchFamily="18" charset="-120"/>
                </a:rPr>
                <a:t>Driver</a:t>
              </a:r>
            </a:p>
          </p:txBody>
        </p:sp>
      </p:grpSp>
      <p:grpSp>
        <p:nvGrpSpPr>
          <p:cNvPr id="4" name="Group 17"/>
          <p:cNvGrpSpPr>
            <a:grpSpLocks/>
          </p:cNvGrpSpPr>
          <p:nvPr/>
        </p:nvGrpSpPr>
        <p:grpSpPr bwMode="auto">
          <a:xfrm>
            <a:off x="5715000" y="4191000"/>
            <a:ext cx="1219200" cy="457200"/>
            <a:chOff x="1776" y="2618"/>
            <a:chExt cx="768" cy="288"/>
          </a:xfrm>
        </p:grpSpPr>
        <p:sp>
          <p:nvSpPr>
            <p:cNvPr id="1464338" name="Rectangle 18"/>
            <p:cNvSpPr>
              <a:spLocks noChangeArrowheads="1"/>
            </p:cNvSpPr>
            <p:nvPr/>
          </p:nvSpPr>
          <p:spPr bwMode="auto">
            <a:xfrm>
              <a:off x="1776" y="2640"/>
              <a:ext cx="768" cy="240"/>
            </a:xfrm>
            <a:prstGeom prst="rect">
              <a:avLst/>
            </a:prstGeom>
            <a:noFill/>
            <a:ln w="9525">
              <a:solidFill>
                <a:schemeClr val="tx1"/>
              </a:solidFill>
              <a:miter lim="800000"/>
              <a:headEnd/>
              <a:tailEnd/>
            </a:ln>
            <a:effectLst/>
          </p:spPr>
          <p:txBody>
            <a:bodyPr wrap="none" anchor="ctr"/>
            <a:lstStyle/>
            <a:p>
              <a:endParaRPr lang="en-IN"/>
            </a:p>
          </p:txBody>
        </p:sp>
        <p:sp>
          <p:nvSpPr>
            <p:cNvPr id="1464339" name="Text Box 19"/>
            <p:cNvSpPr txBox="1">
              <a:spLocks noChangeArrowheads="1"/>
            </p:cNvSpPr>
            <p:nvPr/>
          </p:nvSpPr>
          <p:spPr bwMode="auto">
            <a:xfrm>
              <a:off x="1814" y="2618"/>
              <a:ext cx="617" cy="288"/>
            </a:xfrm>
            <a:prstGeom prst="rect">
              <a:avLst/>
            </a:prstGeom>
            <a:noFill/>
            <a:ln w="9525">
              <a:noFill/>
              <a:miter lim="800000"/>
              <a:headEnd/>
              <a:tailEnd/>
            </a:ln>
            <a:effectLst/>
          </p:spPr>
          <p:txBody>
            <a:bodyPr wrap="none">
              <a:spAutoFit/>
            </a:bodyPr>
            <a:lstStyle/>
            <a:p>
              <a:r>
                <a:rPr kumimoji="0" lang="en-US" altLang="zh-TW" sz="2400" b="0">
                  <a:latin typeface="Times New Roman" pitchFamily="18" charset="0"/>
                  <a:ea typeface="PMingLiU" pitchFamily="18" charset="-120"/>
                </a:rPr>
                <a:t>Driver</a:t>
              </a:r>
            </a:p>
          </p:txBody>
        </p:sp>
      </p:grpSp>
      <p:sp>
        <p:nvSpPr>
          <p:cNvPr id="1464340" name="Oval 20"/>
          <p:cNvSpPr>
            <a:spLocks noChangeArrowheads="1"/>
          </p:cNvSpPr>
          <p:nvPr/>
        </p:nvSpPr>
        <p:spPr bwMode="auto">
          <a:xfrm>
            <a:off x="1676400" y="5257800"/>
            <a:ext cx="1676400" cy="609600"/>
          </a:xfrm>
          <a:prstGeom prst="ellipse">
            <a:avLst/>
          </a:prstGeom>
          <a:noFill/>
          <a:ln w="9525">
            <a:solidFill>
              <a:schemeClr val="tx1"/>
            </a:solidFill>
            <a:round/>
            <a:headEnd/>
            <a:tailEnd/>
          </a:ln>
          <a:effectLst/>
        </p:spPr>
        <p:txBody>
          <a:bodyPr wrap="none" anchor="ctr"/>
          <a:lstStyle/>
          <a:p>
            <a:endParaRPr lang="en-IN"/>
          </a:p>
        </p:txBody>
      </p:sp>
      <p:sp>
        <p:nvSpPr>
          <p:cNvPr id="1464341" name="Oval 21"/>
          <p:cNvSpPr>
            <a:spLocks noChangeArrowheads="1"/>
          </p:cNvSpPr>
          <p:nvPr/>
        </p:nvSpPr>
        <p:spPr bwMode="auto">
          <a:xfrm>
            <a:off x="4419600" y="5257800"/>
            <a:ext cx="1828800" cy="533400"/>
          </a:xfrm>
          <a:prstGeom prst="ellipse">
            <a:avLst/>
          </a:prstGeom>
          <a:noFill/>
          <a:ln w="9525">
            <a:solidFill>
              <a:schemeClr val="tx1"/>
            </a:solidFill>
            <a:round/>
            <a:headEnd/>
            <a:tailEnd/>
          </a:ln>
          <a:effectLst/>
        </p:spPr>
        <p:txBody>
          <a:bodyPr wrap="none" anchor="ctr"/>
          <a:lstStyle/>
          <a:p>
            <a:endParaRPr lang="en-IN"/>
          </a:p>
        </p:txBody>
      </p:sp>
      <p:sp>
        <p:nvSpPr>
          <p:cNvPr id="1464342" name="Oval 22"/>
          <p:cNvSpPr>
            <a:spLocks noChangeArrowheads="1"/>
          </p:cNvSpPr>
          <p:nvPr/>
        </p:nvSpPr>
        <p:spPr bwMode="auto">
          <a:xfrm>
            <a:off x="7315200" y="5181600"/>
            <a:ext cx="1600200" cy="533400"/>
          </a:xfrm>
          <a:prstGeom prst="ellipse">
            <a:avLst/>
          </a:prstGeom>
          <a:noFill/>
          <a:ln w="9525">
            <a:solidFill>
              <a:schemeClr val="tx1"/>
            </a:solidFill>
            <a:round/>
            <a:headEnd/>
            <a:tailEnd/>
          </a:ln>
          <a:effectLst/>
        </p:spPr>
        <p:txBody>
          <a:bodyPr wrap="none" anchor="ctr"/>
          <a:lstStyle/>
          <a:p>
            <a:endParaRPr lang="en-IN"/>
          </a:p>
        </p:txBody>
      </p:sp>
      <p:sp>
        <p:nvSpPr>
          <p:cNvPr id="1464343" name="Line 23"/>
          <p:cNvSpPr>
            <a:spLocks noChangeShapeType="1"/>
          </p:cNvSpPr>
          <p:nvPr/>
        </p:nvSpPr>
        <p:spPr bwMode="auto">
          <a:xfrm flipH="1">
            <a:off x="2514600" y="4572000"/>
            <a:ext cx="1066800" cy="685800"/>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1464344" name="Line 24"/>
          <p:cNvSpPr>
            <a:spLocks noChangeShapeType="1"/>
          </p:cNvSpPr>
          <p:nvPr/>
        </p:nvSpPr>
        <p:spPr bwMode="auto">
          <a:xfrm>
            <a:off x="4787900" y="4581525"/>
            <a:ext cx="504825" cy="676275"/>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1464345" name="Line 25"/>
          <p:cNvSpPr>
            <a:spLocks noChangeShapeType="1"/>
          </p:cNvSpPr>
          <p:nvPr/>
        </p:nvSpPr>
        <p:spPr bwMode="auto">
          <a:xfrm>
            <a:off x="6324600" y="4572000"/>
            <a:ext cx="1752600" cy="609600"/>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1464346" name="Text Box 26"/>
          <p:cNvSpPr txBox="1">
            <a:spLocks noChangeArrowheads="1"/>
          </p:cNvSpPr>
          <p:nvPr/>
        </p:nvSpPr>
        <p:spPr bwMode="auto">
          <a:xfrm>
            <a:off x="4495800" y="5257800"/>
            <a:ext cx="1665288" cy="457200"/>
          </a:xfrm>
          <a:prstGeom prst="rect">
            <a:avLst/>
          </a:prstGeom>
          <a:noFill/>
          <a:ln w="9525">
            <a:noFill/>
            <a:miter lim="800000"/>
            <a:headEnd/>
            <a:tailEnd/>
          </a:ln>
          <a:effectLst/>
        </p:spPr>
        <p:txBody>
          <a:bodyPr>
            <a:spAutoFit/>
          </a:bodyPr>
          <a:lstStyle/>
          <a:p>
            <a:r>
              <a:rPr kumimoji="0" lang="en-US" altLang="zh-TW" sz="2400" b="0">
                <a:latin typeface="Times New Roman" pitchFamily="18" charset="0"/>
                <a:ea typeface="PMingLiU" pitchFamily="18" charset="-120"/>
              </a:rPr>
              <a:t>DataSource</a:t>
            </a:r>
          </a:p>
        </p:txBody>
      </p:sp>
      <p:sp>
        <p:nvSpPr>
          <p:cNvPr id="1464347" name="Text Box 27"/>
          <p:cNvSpPr txBox="1">
            <a:spLocks noChangeArrowheads="1"/>
          </p:cNvSpPr>
          <p:nvPr/>
        </p:nvSpPr>
        <p:spPr bwMode="auto">
          <a:xfrm>
            <a:off x="1752600" y="5334000"/>
            <a:ext cx="1665288" cy="457200"/>
          </a:xfrm>
          <a:prstGeom prst="rect">
            <a:avLst/>
          </a:prstGeom>
          <a:noFill/>
          <a:ln w="9525">
            <a:noFill/>
            <a:miter lim="800000"/>
            <a:headEnd/>
            <a:tailEnd/>
          </a:ln>
          <a:effectLst/>
        </p:spPr>
        <p:txBody>
          <a:bodyPr>
            <a:spAutoFit/>
          </a:bodyPr>
          <a:lstStyle/>
          <a:p>
            <a:r>
              <a:rPr kumimoji="0" lang="en-US" altLang="zh-TW" sz="2400" b="0">
                <a:latin typeface="Times New Roman" pitchFamily="18" charset="0"/>
                <a:ea typeface="PMingLiU" pitchFamily="18" charset="-120"/>
              </a:rPr>
              <a:t>DataSource</a:t>
            </a:r>
          </a:p>
        </p:txBody>
      </p:sp>
      <p:sp>
        <p:nvSpPr>
          <p:cNvPr id="1464348" name="Text Box 28"/>
          <p:cNvSpPr txBox="1">
            <a:spLocks noChangeArrowheads="1"/>
          </p:cNvSpPr>
          <p:nvPr/>
        </p:nvSpPr>
        <p:spPr bwMode="auto">
          <a:xfrm>
            <a:off x="7239000" y="5181600"/>
            <a:ext cx="1665288" cy="457200"/>
          </a:xfrm>
          <a:prstGeom prst="rect">
            <a:avLst/>
          </a:prstGeom>
          <a:noFill/>
          <a:ln w="9525">
            <a:noFill/>
            <a:miter lim="800000"/>
            <a:headEnd/>
            <a:tailEnd/>
          </a:ln>
          <a:effectLst/>
        </p:spPr>
        <p:txBody>
          <a:bodyPr>
            <a:spAutoFit/>
          </a:bodyPr>
          <a:lstStyle/>
          <a:p>
            <a:r>
              <a:rPr kumimoji="0" lang="en-US" altLang="zh-TW" sz="2400" b="0">
                <a:latin typeface="Times New Roman" pitchFamily="18" charset="0"/>
                <a:ea typeface="PMingLiU" pitchFamily="18" charset="-120"/>
              </a:rPr>
              <a:t>DataSource</a:t>
            </a:r>
          </a:p>
        </p:txBody>
      </p:sp>
      <p:sp>
        <p:nvSpPr>
          <p:cNvPr id="1464349" name="Rectangle 29"/>
          <p:cNvSpPr>
            <a:spLocks noChangeArrowheads="1"/>
          </p:cNvSpPr>
          <p:nvPr/>
        </p:nvSpPr>
        <p:spPr bwMode="auto">
          <a:xfrm>
            <a:off x="4724400" y="2438400"/>
            <a:ext cx="1447800" cy="457200"/>
          </a:xfrm>
          <a:prstGeom prst="rect">
            <a:avLst/>
          </a:prstGeom>
          <a:noFill/>
          <a:ln w="9525">
            <a:solidFill>
              <a:schemeClr val="tx1"/>
            </a:solidFill>
            <a:miter lim="800000"/>
            <a:headEnd/>
            <a:tailEnd/>
          </a:ln>
          <a:effectLst/>
        </p:spPr>
        <p:txBody>
          <a:bodyPr wrap="none" anchor="ctr"/>
          <a:lstStyle/>
          <a:p>
            <a:pPr algn="ctr"/>
            <a:r>
              <a:rPr kumimoji="0" lang="en-US" altLang="zh-TW" sz="2400" b="0">
                <a:latin typeface="Times New Roman" pitchFamily="18" charset="0"/>
                <a:ea typeface="PMingLiU" pitchFamily="18" charset="-120"/>
              </a:rPr>
              <a:t>Statement</a:t>
            </a:r>
          </a:p>
        </p:txBody>
      </p:sp>
      <p:sp>
        <p:nvSpPr>
          <p:cNvPr id="1464350" name="Rectangle 30"/>
          <p:cNvSpPr>
            <a:spLocks noChangeArrowheads="1"/>
          </p:cNvSpPr>
          <p:nvPr/>
        </p:nvSpPr>
        <p:spPr bwMode="auto">
          <a:xfrm>
            <a:off x="6286500" y="2423160"/>
            <a:ext cx="1447800" cy="457200"/>
          </a:xfrm>
          <a:prstGeom prst="rect">
            <a:avLst/>
          </a:prstGeom>
          <a:noFill/>
          <a:ln w="9525">
            <a:solidFill>
              <a:schemeClr val="tx1"/>
            </a:solidFill>
            <a:miter lim="800000"/>
            <a:headEnd/>
            <a:tailEnd/>
          </a:ln>
          <a:effectLst/>
        </p:spPr>
        <p:txBody>
          <a:bodyPr wrap="none" anchor="ctr"/>
          <a:lstStyle/>
          <a:p>
            <a:pPr algn="ctr"/>
            <a:r>
              <a:rPr kumimoji="0" lang="en-US" altLang="zh-TW" sz="2400" b="0" dirty="0" err="1">
                <a:latin typeface="Times New Roman" pitchFamily="18" charset="0"/>
                <a:ea typeface="PMingLiU" pitchFamily="18" charset="-120"/>
              </a:rPr>
              <a:t>ResultSet</a:t>
            </a:r>
            <a:endParaRPr kumimoji="0" lang="en-US" altLang="zh-TW" sz="2400" b="0" dirty="0">
              <a:latin typeface="Times New Roman" pitchFamily="18" charset="0"/>
              <a:ea typeface="PMingLiU" pitchFamily="18" charset="-120"/>
            </a:endParaRPr>
          </a:p>
        </p:txBody>
      </p:sp>
      <p:sp>
        <p:nvSpPr>
          <p:cNvPr id="1464351" name="Line 31"/>
          <p:cNvSpPr>
            <a:spLocks noChangeShapeType="1"/>
          </p:cNvSpPr>
          <p:nvPr/>
        </p:nvSpPr>
        <p:spPr bwMode="auto">
          <a:xfrm flipV="1">
            <a:off x="5486400" y="2819400"/>
            <a:ext cx="1524000" cy="762000"/>
          </a:xfrm>
          <a:prstGeom prst="line">
            <a:avLst/>
          </a:prstGeom>
          <a:noFill/>
          <a:ln w="9525">
            <a:solidFill>
              <a:schemeClr val="tx1"/>
            </a:solidFill>
            <a:round/>
            <a:headEnd/>
            <a:tailEnd type="triangle" w="med" len="med"/>
          </a:ln>
          <a:effectLst/>
        </p:spPr>
        <p:txBody>
          <a:bodyPr wrap="none" anchor="ctr"/>
          <a:lstStyle/>
          <a:p>
            <a:endParaRPr lang="en-IN"/>
          </a:p>
        </p:txBody>
      </p:sp>
      <p:sp>
        <p:nvSpPr>
          <p:cNvPr id="1464352" name="Line 32"/>
          <p:cNvSpPr>
            <a:spLocks noChangeShapeType="1"/>
          </p:cNvSpPr>
          <p:nvPr/>
        </p:nvSpPr>
        <p:spPr bwMode="auto">
          <a:xfrm flipH="1">
            <a:off x="3886200" y="4038600"/>
            <a:ext cx="685800" cy="152400"/>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1464353" name="Line 33"/>
          <p:cNvSpPr>
            <a:spLocks noChangeShapeType="1"/>
          </p:cNvSpPr>
          <p:nvPr/>
        </p:nvSpPr>
        <p:spPr bwMode="auto">
          <a:xfrm>
            <a:off x="4953000" y="4038600"/>
            <a:ext cx="0" cy="228600"/>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1464354" name="Line 34"/>
          <p:cNvSpPr>
            <a:spLocks noChangeShapeType="1"/>
          </p:cNvSpPr>
          <p:nvPr/>
        </p:nvSpPr>
        <p:spPr bwMode="auto">
          <a:xfrm>
            <a:off x="5410200" y="4038600"/>
            <a:ext cx="838200" cy="228600"/>
          </a:xfrm>
          <a:prstGeom prst="line">
            <a:avLst/>
          </a:prstGeom>
          <a:noFill/>
          <a:ln w="9525">
            <a:solidFill>
              <a:schemeClr val="tx1"/>
            </a:solidFill>
            <a:round/>
            <a:headEnd type="triangle" w="med" len="med"/>
            <a:tailEnd type="triangle" w="med" len="med"/>
          </a:ln>
          <a:effectLst/>
        </p:spPr>
        <p:txBody>
          <a:bodyPr wrap="none" anchor="ctr"/>
          <a:lstStyle/>
          <a:p>
            <a:endParaRPr lang="en-IN"/>
          </a:p>
        </p:txBody>
      </p:sp>
      <p:sp>
        <p:nvSpPr>
          <p:cNvPr id="5" name="Footer Placeholder 4"/>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16778217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25470"/>
          </a:xfrm>
        </p:spPr>
        <p:txBody>
          <a:bodyPr>
            <a:normAutofit fontScale="90000"/>
          </a:bodyPr>
          <a:lstStyle/>
          <a:p>
            <a:r>
              <a:rPr lang="en-IN" dirty="0" err="1" smtClean="0">
                <a:solidFill>
                  <a:schemeClr val="tx1"/>
                </a:solidFill>
              </a:rPr>
              <a:t>DriverManager</a:t>
            </a:r>
            <a:r>
              <a:rPr lang="en-IN" dirty="0" smtClean="0">
                <a:solidFill>
                  <a:schemeClr val="tx1"/>
                </a:solidFill>
              </a:rPr>
              <a:t> Class</a:t>
            </a:r>
            <a:endParaRPr lang="en-IN" dirty="0">
              <a:solidFill>
                <a:schemeClr val="tx1"/>
              </a:solidFill>
            </a:endParaRPr>
          </a:p>
        </p:txBody>
      </p:sp>
      <p:sp>
        <p:nvSpPr>
          <p:cNvPr id="3" name="Content Placeholder 2"/>
          <p:cNvSpPr>
            <a:spLocks noGrp="1"/>
          </p:cNvSpPr>
          <p:nvPr>
            <p:ph sz="quarter" idx="1"/>
          </p:nvPr>
        </p:nvSpPr>
        <p:spPr>
          <a:xfrm>
            <a:off x="285720" y="1000108"/>
            <a:ext cx="8401080" cy="5019692"/>
          </a:xfrm>
        </p:spPr>
        <p:txBody>
          <a:bodyPr/>
          <a:lstStyle/>
          <a:p>
            <a:r>
              <a:rPr lang="en-US" dirty="0" smtClean="0"/>
              <a:t>The </a:t>
            </a:r>
            <a:r>
              <a:rPr lang="en-US" dirty="0" err="1"/>
              <a:t>DriverManager</a:t>
            </a:r>
            <a:r>
              <a:rPr lang="en-US" dirty="0"/>
              <a:t> class is a core component of the JDBC API (</a:t>
            </a:r>
            <a:r>
              <a:rPr lang="en-US" dirty="0" err="1"/>
              <a:t>java.sql</a:t>
            </a:r>
            <a:r>
              <a:rPr lang="en-US" dirty="0"/>
              <a:t> package). </a:t>
            </a:r>
            <a:endParaRPr lang="en-US" dirty="0" smtClean="0"/>
          </a:p>
          <a:p>
            <a:r>
              <a:rPr lang="en-US" dirty="0" smtClean="0"/>
              <a:t>It </a:t>
            </a:r>
            <a:r>
              <a:rPr lang="en-US" dirty="0"/>
              <a:t>manages a list of database drivers and is responsible for establishing a connection to a database. </a:t>
            </a:r>
            <a:endParaRPr lang="en-US" dirty="0" smtClean="0"/>
          </a:p>
          <a:p>
            <a:r>
              <a:rPr lang="en-US" dirty="0" smtClean="0"/>
              <a:t>It </a:t>
            </a:r>
            <a:r>
              <a:rPr lang="en-US" dirty="0"/>
              <a:t>acts as a bridge between Java applications and database drivers</a:t>
            </a:r>
            <a:r>
              <a:rPr lang="en-US" dirty="0" smtClean="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22789551"/>
              </p:ext>
            </p:extLst>
          </p:nvPr>
        </p:nvGraphicFramePr>
        <p:xfrm>
          <a:off x="251520" y="3284984"/>
          <a:ext cx="8715436" cy="2200274"/>
        </p:xfrm>
        <a:graphic>
          <a:graphicData uri="http://schemas.openxmlformats.org/drawingml/2006/table">
            <a:tbl>
              <a:tblPr firstRow="1" bandRow="1">
                <a:tableStyleId>{5940675A-B579-460E-94D1-54222C63F5DA}</a:tableStyleId>
              </a:tblPr>
              <a:tblGrid>
                <a:gridCol w="4687293"/>
                <a:gridCol w="4028143"/>
              </a:tblGrid>
              <a:tr h="360040">
                <a:tc>
                  <a:txBody>
                    <a:bodyPr/>
                    <a:lstStyle/>
                    <a:p>
                      <a:pPr algn="ctr"/>
                      <a:r>
                        <a:rPr lang="en-IN" b="1" dirty="0" smtClean="0"/>
                        <a:t>Method</a:t>
                      </a:r>
                      <a:r>
                        <a:rPr lang="en-IN" b="1" baseline="0" dirty="0" smtClean="0"/>
                        <a:t> Name</a:t>
                      </a:r>
                      <a:endParaRPr lang="en-IN" b="1" dirty="0"/>
                    </a:p>
                  </a:txBody>
                  <a:tcPr/>
                </a:tc>
                <a:tc>
                  <a:txBody>
                    <a:bodyPr/>
                    <a:lstStyle/>
                    <a:p>
                      <a:pPr algn="ctr"/>
                      <a:r>
                        <a:rPr lang="en-IN" b="1" dirty="0" smtClean="0"/>
                        <a:t>Description</a:t>
                      </a:r>
                      <a:endParaRPr lang="en-IN" b="1" dirty="0"/>
                    </a:p>
                  </a:txBody>
                  <a:tcPr/>
                </a:tc>
              </a:tr>
              <a:tr h="917257">
                <a:tc>
                  <a:txBody>
                    <a:bodyPr/>
                    <a:lstStyle/>
                    <a:p>
                      <a:pPr marL="0" marR="0">
                        <a:lnSpc>
                          <a:spcPct val="115000"/>
                        </a:lnSpc>
                        <a:spcBef>
                          <a:spcPts val="0"/>
                        </a:spcBef>
                        <a:spcAft>
                          <a:spcPts val="0"/>
                        </a:spcAft>
                      </a:pPr>
                      <a:r>
                        <a:rPr lang="en-US" sz="2000" dirty="0" smtClean="0">
                          <a:latin typeface="Times New Roman" pitchFamily="18" charset="0"/>
                          <a:ea typeface="Calibri"/>
                          <a:cs typeface="Times New Roman" pitchFamily="18" charset="0"/>
                        </a:rPr>
                        <a:t> </a:t>
                      </a:r>
                      <a:r>
                        <a:rPr kumimoji="0" lang="en-US" sz="2000" kern="1200" dirty="0" smtClean="0">
                          <a:solidFill>
                            <a:schemeClr val="tx1"/>
                          </a:solidFill>
                          <a:latin typeface="Times New Roman" pitchFamily="18" charset="0"/>
                          <a:ea typeface="+mn-ea"/>
                          <a:cs typeface="Times New Roman" pitchFamily="18" charset="0"/>
                        </a:rPr>
                        <a:t>static Connection void </a:t>
                      </a:r>
                      <a:r>
                        <a:rPr lang="en-US" sz="2000" dirty="0" err="1" smtClean="0">
                          <a:latin typeface="Times New Roman" pitchFamily="18" charset="0"/>
                          <a:ea typeface="Calibri"/>
                          <a:cs typeface="Times New Roman" pitchFamily="18" charset="0"/>
                        </a:rPr>
                        <a:t>getConnection</a:t>
                      </a:r>
                      <a:r>
                        <a:rPr lang="en-US" sz="2000" dirty="0" smtClean="0">
                          <a:latin typeface="Times New Roman" pitchFamily="18" charset="0"/>
                          <a:ea typeface="Calibri"/>
                          <a:cs typeface="Times New Roman" pitchFamily="18" charset="0"/>
                        </a:rPr>
                        <a:t> (String </a:t>
                      </a:r>
                      <a:r>
                        <a:rPr lang="en-US" sz="2000" dirty="0" err="1">
                          <a:latin typeface="Times New Roman" pitchFamily="18" charset="0"/>
                          <a:ea typeface="Calibri"/>
                          <a:cs typeface="Times New Roman" pitchFamily="18" charset="0"/>
                        </a:rPr>
                        <a:t>url</a:t>
                      </a:r>
                      <a:r>
                        <a:rPr lang="en-US" sz="2000" dirty="0">
                          <a:latin typeface="Times New Roman" pitchFamily="18" charset="0"/>
                          <a:ea typeface="Calibri"/>
                          <a:cs typeface="Times New Roman" pitchFamily="18" charset="0"/>
                        </a:rPr>
                        <a:t>)</a:t>
                      </a:r>
                      <a:endParaRPr lang="en-IN" sz="2000" dirty="0">
                        <a:latin typeface="Times New Roman" pitchFamily="18" charset="0"/>
                        <a:ea typeface="Calibri"/>
                        <a:cs typeface="Times New Roman" pitchFamily="18" charset="0"/>
                      </a:endParaRPr>
                    </a:p>
                  </a:txBody>
                  <a:tcPr marL="68580" marR="68580" marT="0" marB="0" anchor="ctr"/>
                </a:tc>
                <a:tc>
                  <a:txBody>
                    <a:bodyPr/>
                    <a:lstStyle/>
                    <a:p>
                      <a:pPr marL="0" marR="0" algn="l" rtl="0" eaLnBrk="1" latinLnBrk="0" hangingPunct="1">
                        <a:lnSpc>
                          <a:spcPct val="115000"/>
                        </a:lnSpc>
                        <a:spcBef>
                          <a:spcPts val="0"/>
                        </a:spcBef>
                        <a:spcAft>
                          <a:spcPts val="0"/>
                        </a:spcAft>
                      </a:pPr>
                      <a:r>
                        <a:rPr kumimoji="0" lang="en-US" sz="2000" kern="1200" dirty="0" smtClean="0">
                          <a:solidFill>
                            <a:schemeClr val="tx1"/>
                          </a:solidFill>
                          <a:latin typeface="Times New Roman" pitchFamily="18" charset="0"/>
                          <a:ea typeface="Calibri"/>
                          <a:cs typeface="Times New Roman" pitchFamily="18" charset="0"/>
                        </a:rPr>
                        <a:t>It tries to establish the connection to a given database URL</a:t>
                      </a:r>
                      <a:endParaRPr kumimoji="0" lang="en-IN" sz="2000" kern="1200" dirty="0" smtClean="0">
                        <a:solidFill>
                          <a:schemeClr val="tx1"/>
                        </a:solidFill>
                        <a:latin typeface="Times New Roman" pitchFamily="18" charset="0"/>
                        <a:ea typeface="Calibri"/>
                        <a:cs typeface="Times New Roman" pitchFamily="18" charset="0"/>
                      </a:endParaRPr>
                    </a:p>
                  </a:txBody>
                  <a:tcPr marL="68580" marR="68580" marT="0" marB="0" anchor="ctr"/>
                </a:tc>
              </a:tr>
              <a:tr h="917257">
                <a:tc>
                  <a:txBody>
                    <a:bodyPr/>
                    <a:lstStyle/>
                    <a:p>
                      <a:pPr marL="0" marR="0">
                        <a:lnSpc>
                          <a:spcPct val="115000"/>
                        </a:lnSpc>
                        <a:spcBef>
                          <a:spcPts val="0"/>
                        </a:spcBef>
                        <a:spcAft>
                          <a:spcPts val="0"/>
                        </a:spcAft>
                      </a:pPr>
                      <a:r>
                        <a:rPr lang="en-US" sz="2000" dirty="0" smtClean="0">
                          <a:latin typeface="Times New Roman" pitchFamily="18" charset="0"/>
                          <a:ea typeface="Calibri"/>
                          <a:cs typeface="Times New Roman" pitchFamily="18" charset="0"/>
                        </a:rPr>
                        <a:t> </a:t>
                      </a:r>
                      <a:r>
                        <a:rPr kumimoji="0" lang="en-US" sz="2000" kern="1200" dirty="0" smtClean="0">
                          <a:solidFill>
                            <a:schemeClr val="tx1"/>
                          </a:solidFill>
                          <a:latin typeface="Times New Roman" pitchFamily="18" charset="0"/>
                          <a:ea typeface="+mn-ea"/>
                          <a:cs typeface="Times New Roman" pitchFamily="18" charset="0"/>
                        </a:rPr>
                        <a:t>static Connection  </a:t>
                      </a:r>
                      <a:r>
                        <a:rPr lang="en-US" sz="2000" dirty="0" err="1" smtClean="0">
                          <a:latin typeface="Times New Roman" pitchFamily="18" charset="0"/>
                          <a:ea typeface="Calibri"/>
                          <a:cs typeface="Times New Roman" pitchFamily="18" charset="0"/>
                        </a:rPr>
                        <a:t>getConnection</a:t>
                      </a:r>
                      <a:r>
                        <a:rPr lang="en-US" sz="2000" dirty="0" smtClean="0">
                          <a:latin typeface="Times New Roman" pitchFamily="18" charset="0"/>
                          <a:ea typeface="Calibri"/>
                          <a:cs typeface="Times New Roman" pitchFamily="18" charset="0"/>
                        </a:rPr>
                        <a:t> (String </a:t>
                      </a:r>
                      <a:r>
                        <a:rPr lang="en-US" sz="2000" dirty="0" err="1">
                          <a:latin typeface="Times New Roman" pitchFamily="18" charset="0"/>
                          <a:ea typeface="Calibri"/>
                          <a:cs typeface="Times New Roman" pitchFamily="18" charset="0"/>
                        </a:rPr>
                        <a:t>url</a:t>
                      </a:r>
                      <a:r>
                        <a:rPr lang="en-US" sz="2000" dirty="0">
                          <a:latin typeface="Times New Roman" pitchFamily="18" charset="0"/>
                          <a:ea typeface="Calibri"/>
                          <a:cs typeface="Times New Roman" pitchFamily="18" charset="0"/>
                        </a:rPr>
                        <a:t>, Sting user, String password)</a:t>
                      </a:r>
                      <a:endParaRPr lang="en-IN" sz="2000" dirty="0">
                        <a:latin typeface="Times New Roman" pitchFamily="18" charset="0"/>
                        <a:ea typeface="Calibri"/>
                        <a:cs typeface="Times New Roman" pitchFamily="18" charset="0"/>
                      </a:endParaRPr>
                    </a:p>
                  </a:txBody>
                  <a:tcPr marL="68580" marR="68580" marT="0" marB="0" anchor="ctr"/>
                </a:tc>
                <a:tc>
                  <a:txBody>
                    <a:bodyPr/>
                    <a:lstStyle/>
                    <a:p>
                      <a:pPr marL="0" marR="0" algn="l" rtl="0" eaLnBrk="1" latinLnBrk="0" hangingPunct="1">
                        <a:lnSpc>
                          <a:spcPct val="115000"/>
                        </a:lnSpc>
                        <a:spcBef>
                          <a:spcPts val="0"/>
                        </a:spcBef>
                        <a:spcAft>
                          <a:spcPts val="0"/>
                        </a:spcAft>
                      </a:pPr>
                      <a:r>
                        <a:rPr kumimoji="0" lang="en-US" sz="2000" kern="1200" dirty="0" smtClean="0">
                          <a:solidFill>
                            <a:schemeClr val="tx1"/>
                          </a:solidFill>
                          <a:latin typeface="Times New Roman" pitchFamily="18" charset="0"/>
                          <a:ea typeface="Calibri"/>
                          <a:cs typeface="Times New Roman" pitchFamily="18" charset="0"/>
                        </a:rPr>
                        <a:t>It tries to establish the connection to a given database URL.</a:t>
                      </a:r>
                      <a:endParaRPr kumimoji="0" lang="en-IN" sz="2000" kern="1200" dirty="0" smtClean="0">
                        <a:solidFill>
                          <a:schemeClr val="tx1"/>
                        </a:solidFill>
                        <a:latin typeface="Times New Roman" pitchFamily="18" charset="0"/>
                        <a:ea typeface="Calibri"/>
                        <a:cs typeface="Times New Roman" pitchFamily="18" charset="0"/>
                      </a:endParaRPr>
                    </a:p>
                  </a:txBody>
                  <a:tcPr marL="68580" marR="68580" marT="0" marB="0" anchor="ctr"/>
                </a:tc>
              </a:tr>
            </a:tbl>
          </a:graphicData>
        </a:graphic>
      </p:graphicFrame>
      <p:sp>
        <p:nvSpPr>
          <p:cNvPr id="5" name="Footer Placeholder 4"/>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14234249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3896180085"/>
              </p:ext>
            </p:extLst>
          </p:nvPr>
        </p:nvGraphicFramePr>
        <p:xfrm>
          <a:off x="142844" y="857232"/>
          <a:ext cx="8786874" cy="4750003"/>
        </p:xfrm>
        <a:graphic>
          <a:graphicData uri="http://schemas.openxmlformats.org/drawingml/2006/table">
            <a:tbl>
              <a:tblPr firstRow="1" bandRow="1">
                <a:tableStyleId>{5940675A-B579-460E-94D1-54222C63F5DA}</a:tableStyleId>
              </a:tblPr>
              <a:tblGrid>
                <a:gridCol w="4500594"/>
                <a:gridCol w="4286280"/>
              </a:tblGrid>
              <a:tr h="947132">
                <a:tc>
                  <a:txBody>
                    <a:bodyPr/>
                    <a:lstStyle/>
                    <a:p>
                      <a:pPr marL="0" marR="0">
                        <a:lnSpc>
                          <a:spcPct val="115000"/>
                        </a:lnSpc>
                        <a:spcBef>
                          <a:spcPts val="0"/>
                        </a:spcBef>
                        <a:spcAft>
                          <a:spcPts val="0"/>
                        </a:spcAft>
                      </a:pPr>
                      <a:r>
                        <a:rPr lang="en-US" sz="1800" dirty="0" smtClean="0">
                          <a:latin typeface="Times New Roman" pitchFamily="18" charset="0"/>
                          <a:ea typeface="Calibri"/>
                          <a:cs typeface="Times New Roman" pitchFamily="18" charset="0"/>
                        </a:rPr>
                        <a:t> </a:t>
                      </a:r>
                      <a:r>
                        <a:rPr kumimoji="0" lang="en-US" sz="1800" kern="1200" dirty="0" smtClean="0">
                          <a:solidFill>
                            <a:schemeClr val="tx1"/>
                          </a:solidFill>
                          <a:latin typeface="Times New Roman" pitchFamily="18" charset="0"/>
                          <a:ea typeface="+mn-ea"/>
                          <a:cs typeface="Times New Roman" pitchFamily="18" charset="0"/>
                        </a:rPr>
                        <a:t>static Connection </a:t>
                      </a:r>
                      <a:r>
                        <a:rPr lang="en-US" sz="1800" dirty="0" err="1" smtClean="0">
                          <a:latin typeface="Times New Roman" pitchFamily="18" charset="0"/>
                          <a:ea typeface="Calibri"/>
                          <a:cs typeface="Times New Roman" pitchFamily="18" charset="0"/>
                        </a:rPr>
                        <a:t>getConnection</a:t>
                      </a:r>
                      <a:r>
                        <a:rPr lang="en-US" sz="1800" dirty="0" smtClean="0">
                          <a:latin typeface="Times New Roman" pitchFamily="18" charset="0"/>
                          <a:ea typeface="Calibri"/>
                          <a:cs typeface="Times New Roman" pitchFamily="18" charset="0"/>
                        </a:rPr>
                        <a:t>(String </a:t>
                      </a:r>
                      <a:r>
                        <a:rPr lang="en-US" sz="1800" dirty="0" err="1">
                          <a:latin typeface="Times New Roman" pitchFamily="18" charset="0"/>
                          <a:ea typeface="Calibri"/>
                          <a:cs typeface="Times New Roman" pitchFamily="18" charset="0"/>
                        </a:rPr>
                        <a:t>url</a:t>
                      </a:r>
                      <a:r>
                        <a:rPr lang="en-US" sz="1800" dirty="0">
                          <a:latin typeface="Times New Roman" pitchFamily="18" charset="0"/>
                          <a:ea typeface="Calibri"/>
                          <a:cs typeface="Times New Roman" pitchFamily="18" charset="0"/>
                        </a:rPr>
                        <a:t>, Properties info)</a:t>
                      </a:r>
                      <a:endParaRPr lang="en-IN" sz="1800" dirty="0">
                        <a:latin typeface="Times New Roman" pitchFamily="18" charset="0"/>
                        <a:ea typeface="Calibri"/>
                        <a:cs typeface="Times New Roman" pitchFamily="18" charset="0"/>
                      </a:endParaRPr>
                    </a:p>
                  </a:txBody>
                  <a:tcPr marL="68580" marR="68580" marT="0" marB="0" anchor="ctr"/>
                </a:tc>
                <a:tc>
                  <a:txBody>
                    <a:bodyPr/>
                    <a:lstStyle/>
                    <a:p>
                      <a:pPr marL="0" marR="76200" algn="just">
                        <a:lnSpc>
                          <a:spcPct val="100000"/>
                        </a:lnSpc>
                        <a:spcBef>
                          <a:spcPts val="0"/>
                        </a:spcBef>
                        <a:spcAft>
                          <a:spcPts val="0"/>
                        </a:spcAft>
                      </a:pPr>
                      <a:r>
                        <a:rPr lang="en-US" sz="1600" dirty="0">
                          <a:latin typeface="Times New Roman"/>
                          <a:ea typeface="Calibri"/>
                          <a:cs typeface="Times New Roman"/>
                        </a:rPr>
                        <a:t>It tries to establish the connection to a given database URL. Property is in the form of Object </a:t>
                      </a:r>
                      <a:r>
                        <a:rPr lang="en-US" sz="1600" dirty="0" smtClean="0">
                          <a:latin typeface="Times New Roman"/>
                          <a:ea typeface="Calibri"/>
                          <a:cs typeface="Times New Roman"/>
                        </a:rPr>
                        <a:t>.</a:t>
                      </a:r>
                      <a:r>
                        <a:rPr lang="en-US" sz="1600" baseline="0" dirty="0" smtClean="0">
                          <a:latin typeface="Times New Roman"/>
                          <a:ea typeface="Calibri"/>
                          <a:cs typeface="Times New Roman"/>
                        </a:rPr>
                        <a:t> </a:t>
                      </a:r>
                    </a:p>
                    <a:p>
                      <a:pPr marL="0" marR="76200" algn="just">
                        <a:lnSpc>
                          <a:spcPct val="100000"/>
                        </a:lnSpc>
                        <a:spcBef>
                          <a:spcPts val="0"/>
                        </a:spcBef>
                        <a:spcAft>
                          <a:spcPts val="0"/>
                        </a:spcAft>
                      </a:pPr>
                      <a:endParaRPr lang="en-US" sz="1600" baseline="0" dirty="0" smtClean="0">
                        <a:latin typeface="Times New Roman"/>
                        <a:ea typeface="Calibri"/>
                        <a:cs typeface="Times New Roman"/>
                      </a:endParaRPr>
                    </a:p>
                    <a:p>
                      <a:pPr marL="0" marR="76200" algn="just">
                        <a:lnSpc>
                          <a:spcPct val="100000"/>
                        </a:lnSpc>
                        <a:spcBef>
                          <a:spcPts val="0"/>
                        </a:spcBef>
                        <a:spcAft>
                          <a:spcPts val="0"/>
                        </a:spcAft>
                      </a:pPr>
                      <a:r>
                        <a:rPr lang="en-US" sz="1600" baseline="0" dirty="0" smtClean="0">
                          <a:latin typeface="Times New Roman"/>
                          <a:ea typeface="Calibri"/>
                          <a:cs typeface="Times New Roman"/>
                        </a:rPr>
                        <a:t>Properties p=new Properties();</a:t>
                      </a:r>
                    </a:p>
                    <a:p>
                      <a:pPr marL="0" marR="76200" algn="just">
                        <a:lnSpc>
                          <a:spcPct val="100000"/>
                        </a:lnSpc>
                        <a:spcBef>
                          <a:spcPts val="0"/>
                        </a:spcBef>
                        <a:spcAft>
                          <a:spcPts val="0"/>
                        </a:spcAft>
                      </a:pPr>
                      <a:r>
                        <a:rPr lang="en-US" sz="1600" baseline="0" dirty="0" err="1" smtClean="0">
                          <a:latin typeface="Times New Roman"/>
                          <a:ea typeface="Calibri"/>
                          <a:cs typeface="Times New Roman"/>
                        </a:rPr>
                        <a:t>p.put</a:t>
                      </a:r>
                      <a:r>
                        <a:rPr lang="en-US" sz="1600" baseline="0" dirty="0" smtClean="0">
                          <a:latin typeface="Times New Roman"/>
                          <a:ea typeface="Calibri"/>
                          <a:cs typeface="Times New Roman"/>
                        </a:rPr>
                        <a:t>(“</a:t>
                      </a:r>
                      <a:r>
                        <a:rPr lang="en-US" sz="1600" baseline="0" dirty="0" err="1" smtClean="0">
                          <a:latin typeface="Times New Roman"/>
                          <a:ea typeface="Calibri"/>
                          <a:cs typeface="Times New Roman"/>
                        </a:rPr>
                        <a:t>user”,”root</a:t>
                      </a:r>
                      <a:r>
                        <a:rPr lang="en-US" sz="1600" baseline="0" dirty="0" smtClean="0">
                          <a:latin typeface="Times New Roman"/>
                          <a:ea typeface="Calibri"/>
                          <a:cs typeface="Times New Roman"/>
                        </a:rPr>
                        <a:t>”);</a:t>
                      </a:r>
                    </a:p>
                    <a:p>
                      <a:pPr marL="0" marR="76200" algn="just">
                        <a:lnSpc>
                          <a:spcPct val="100000"/>
                        </a:lnSpc>
                        <a:spcBef>
                          <a:spcPts val="0"/>
                        </a:spcBef>
                        <a:spcAft>
                          <a:spcPts val="0"/>
                        </a:spcAft>
                      </a:pPr>
                      <a:r>
                        <a:rPr lang="en-US" sz="1600" baseline="0" dirty="0" err="1" smtClean="0">
                          <a:latin typeface="Times New Roman"/>
                          <a:ea typeface="Calibri"/>
                          <a:cs typeface="Times New Roman"/>
                        </a:rPr>
                        <a:t>p.put</a:t>
                      </a:r>
                      <a:r>
                        <a:rPr lang="en-US" sz="1600" baseline="0" dirty="0" smtClean="0">
                          <a:latin typeface="Times New Roman"/>
                          <a:ea typeface="Calibri"/>
                          <a:cs typeface="Times New Roman"/>
                        </a:rPr>
                        <a:t>(“</a:t>
                      </a:r>
                      <a:r>
                        <a:rPr lang="en-US" sz="1600" baseline="0" dirty="0" err="1" smtClean="0">
                          <a:latin typeface="Times New Roman"/>
                          <a:ea typeface="Calibri"/>
                          <a:cs typeface="Times New Roman"/>
                        </a:rPr>
                        <a:t>password”,”admin</a:t>
                      </a:r>
                      <a:r>
                        <a:rPr lang="en-US" sz="1600" baseline="0" dirty="0" smtClean="0">
                          <a:latin typeface="Times New Roman"/>
                          <a:ea typeface="Calibri"/>
                          <a:cs typeface="Times New Roman"/>
                        </a:rPr>
                        <a:t>”);</a:t>
                      </a:r>
                    </a:p>
                    <a:p>
                      <a:pPr marL="0" marR="76200" algn="just">
                        <a:lnSpc>
                          <a:spcPct val="100000"/>
                        </a:lnSpc>
                        <a:spcBef>
                          <a:spcPts val="0"/>
                        </a:spcBef>
                        <a:spcAft>
                          <a:spcPts val="0"/>
                        </a:spcAft>
                      </a:pPr>
                      <a:r>
                        <a:rPr lang="en-US" sz="1600" baseline="0" dirty="0" smtClean="0">
                          <a:latin typeface="Times New Roman"/>
                          <a:ea typeface="Calibri"/>
                          <a:cs typeface="Times New Roman"/>
                        </a:rPr>
                        <a:t>Connection </a:t>
                      </a:r>
                      <a:r>
                        <a:rPr lang="en-US" sz="1600" baseline="0" dirty="0" err="1" smtClean="0">
                          <a:latin typeface="Times New Roman"/>
                          <a:ea typeface="Calibri"/>
                          <a:cs typeface="Times New Roman"/>
                        </a:rPr>
                        <a:t>cn</a:t>
                      </a:r>
                      <a:r>
                        <a:rPr lang="en-US" sz="1600" baseline="0" dirty="0" smtClean="0">
                          <a:latin typeface="Times New Roman"/>
                          <a:ea typeface="Calibri"/>
                          <a:cs typeface="Times New Roman"/>
                        </a:rPr>
                        <a:t>=</a:t>
                      </a:r>
                      <a:r>
                        <a:rPr lang="en-US" sz="1600" baseline="0" dirty="0" err="1" smtClean="0">
                          <a:latin typeface="Times New Roman"/>
                          <a:ea typeface="Calibri"/>
                          <a:cs typeface="Times New Roman"/>
                        </a:rPr>
                        <a:t>DriverManager.getConnecton</a:t>
                      </a:r>
                      <a:r>
                        <a:rPr lang="en-US" sz="1600" baseline="0" dirty="0" smtClean="0">
                          <a:latin typeface="Times New Roman"/>
                          <a:ea typeface="Calibri"/>
                          <a:cs typeface="Times New Roman"/>
                        </a:rPr>
                        <a:t>(“</a:t>
                      </a:r>
                      <a:r>
                        <a:rPr lang="en-US" sz="1600" baseline="0" dirty="0" err="1" smtClean="0">
                          <a:latin typeface="Times New Roman"/>
                          <a:ea typeface="Calibri"/>
                          <a:cs typeface="Times New Roman"/>
                        </a:rPr>
                        <a:t>URL”,p</a:t>
                      </a:r>
                      <a:r>
                        <a:rPr lang="en-US" sz="1600" baseline="0" dirty="0" smtClean="0">
                          <a:latin typeface="Times New Roman"/>
                          <a:ea typeface="Calibri"/>
                          <a:cs typeface="Times New Roman"/>
                        </a:rPr>
                        <a:t>);</a:t>
                      </a:r>
                    </a:p>
                    <a:p>
                      <a:pPr marL="0" marR="76200" algn="just">
                        <a:lnSpc>
                          <a:spcPct val="100000"/>
                        </a:lnSpc>
                        <a:spcBef>
                          <a:spcPts val="0"/>
                        </a:spcBef>
                        <a:spcAft>
                          <a:spcPts val="0"/>
                        </a:spcAft>
                      </a:pPr>
                      <a:endParaRPr lang="en-IN" sz="1400" dirty="0">
                        <a:latin typeface="Calibri"/>
                        <a:ea typeface="Calibri"/>
                        <a:cs typeface="Times New Roman"/>
                      </a:endParaRPr>
                    </a:p>
                  </a:txBody>
                  <a:tcPr marL="68580" marR="68580" marT="0" marB="0" anchor="ctr"/>
                </a:tc>
              </a:tr>
              <a:tr h="767728">
                <a:tc>
                  <a:txBody>
                    <a:bodyPr/>
                    <a:lstStyle/>
                    <a:p>
                      <a:pPr marL="0" marR="0">
                        <a:lnSpc>
                          <a:spcPct val="115000"/>
                        </a:lnSpc>
                        <a:spcBef>
                          <a:spcPts val="0"/>
                        </a:spcBef>
                        <a:spcAft>
                          <a:spcPts val="0"/>
                        </a:spcAft>
                      </a:pPr>
                      <a:r>
                        <a:rPr lang="en-US" sz="1800" dirty="0" smtClean="0">
                          <a:latin typeface="Times New Roman" pitchFamily="18" charset="0"/>
                          <a:ea typeface="Calibri"/>
                          <a:cs typeface="Times New Roman" pitchFamily="18" charset="0"/>
                        </a:rPr>
                        <a:t>static Drivers[]</a:t>
                      </a:r>
                      <a:r>
                        <a:rPr lang="en-US" sz="1800" baseline="0" dirty="0" smtClean="0">
                          <a:latin typeface="Times New Roman" pitchFamily="18" charset="0"/>
                          <a:ea typeface="Calibri"/>
                          <a:cs typeface="Times New Roman" pitchFamily="18" charset="0"/>
                        </a:rPr>
                        <a:t> </a:t>
                      </a:r>
                      <a:r>
                        <a:rPr lang="en-US" sz="1800" dirty="0" err="1" smtClean="0">
                          <a:latin typeface="Times New Roman" pitchFamily="18" charset="0"/>
                          <a:ea typeface="Calibri"/>
                          <a:cs typeface="Times New Roman" pitchFamily="18" charset="0"/>
                        </a:rPr>
                        <a:t>getDrivers</a:t>
                      </a:r>
                      <a:r>
                        <a:rPr lang="en-US" sz="1800" dirty="0">
                          <a:latin typeface="Times New Roman" pitchFamily="18" charset="0"/>
                          <a:ea typeface="Calibri"/>
                          <a:cs typeface="Times New Roman" pitchFamily="18" charset="0"/>
                        </a:rPr>
                        <a:t>()</a:t>
                      </a:r>
                      <a:endParaRPr lang="en-IN" sz="1800" dirty="0">
                        <a:latin typeface="Times New Roman" pitchFamily="18" charset="0"/>
                        <a:ea typeface="Calibri"/>
                        <a:cs typeface="Times New Roman" pitchFamily="18" charset="0"/>
                      </a:endParaRPr>
                    </a:p>
                  </a:txBody>
                  <a:tcPr marL="68580" marR="68580" marT="0" marB="0" anchor="ctr"/>
                </a:tc>
                <a:tc>
                  <a:txBody>
                    <a:bodyPr/>
                    <a:lstStyle/>
                    <a:p>
                      <a:pPr marL="0" marR="76200" algn="just">
                        <a:lnSpc>
                          <a:spcPct val="100000"/>
                        </a:lnSpc>
                        <a:spcBef>
                          <a:spcPts val="0"/>
                        </a:spcBef>
                        <a:spcAft>
                          <a:spcPts val="0"/>
                        </a:spcAft>
                      </a:pPr>
                      <a:r>
                        <a:rPr lang="en-US" sz="1600" dirty="0">
                          <a:latin typeface="Times New Roman"/>
                          <a:ea typeface="Calibri"/>
                          <a:cs typeface="Times New Roman"/>
                        </a:rPr>
                        <a:t>It retrieves the enumeration of the drivers which has been registered with the </a:t>
                      </a:r>
                      <a:r>
                        <a:rPr lang="en-US" sz="1600" dirty="0" err="1">
                          <a:latin typeface="Times New Roman"/>
                          <a:ea typeface="Calibri"/>
                          <a:cs typeface="Times New Roman"/>
                        </a:rPr>
                        <a:t>DriverManager</a:t>
                      </a:r>
                      <a:r>
                        <a:rPr lang="en-US" sz="1600" dirty="0">
                          <a:latin typeface="Times New Roman"/>
                          <a:ea typeface="Calibri"/>
                          <a:cs typeface="Times New Roman"/>
                        </a:rPr>
                        <a:t> class</a:t>
                      </a:r>
                      <a:endParaRPr lang="en-IN" sz="1400" dirty="0">
                        <a:latin typeface="Calibri"/>
                        <a:ea typeface="Calibri"/>
                        <a:cs typeface="Times New Roman"/>
                      </a:endParaRPr>
                    </a:p>
                  </a:txBody>
                  <a:tcPr marL="68580" marR="68580" marT="0" marB="0" anchor="ctr"/>
                </a:tc>
              </a:tr>
              <a:tr h="606065">
                <a:tc>
                  <a:txBody>
                    <a:bodyPr/>
                    <a:lstStyle/>
                    <a:p>
                      <a:pPr marL="0" marR="0">
                        <a:lnSpc>
                          <a:spcPct val="115000"/>
                        </a:lnSpc>
                        <a:spcBef>
                          <a:spcPts val="0"/>
                        </a:spcBef>
                        <a:spcAft>
                          <a:spcPts val="0"/>
                        </a:spcAft>
                      </a:pPr>
                      <a:r>
                        <a:rPr lang="en-US" sz="1800" dirty="0" smtClean="0">
                          <a:latin typeface="Times New Roman" pitchFamily="18" charset="0"/>
                          <a:ea typeface="Calibri"/>
                          <a:cs typeface="Times New Roman" pitchFamily="18" charset="0"/>
                        </a:rPr>
                        <a:t>static Driver </a:t>
                      </a:r>
                      <a:r>
                        <a:rPr lang="en-US" sz="1800" dirty="0" err="1" smtClean="0">
                          <a:latin typeface="Times New Roman" pitchFamily="18" charset="0"/>
                          <a:ea typeface="Calibri"/>
                          <a:cs typeface="Times New Roman" pitchFamily="18" charset="0"/>
                        </a:rPr>
                        <a:t>getDriver</a:t>
                      </a:r>
                      <a:r>
                        <a:rPr lang="en-US" sz="1800" dirty="0" smtClean="0">
                          <a:latin typeface="Times New Roman" pitchFamily="18" charset="0"/>
                          <a:ea typeface="Calibri"/>
                          <a:cs typeface="Times New Roman" pitchFamily="18" charset="0"/>
                        </a:rPr>
                        <a:t>(String URL)</a:t>
                      </a:r>
                      <a:endParaRPr lang="en-IN" sz="1800" dirty="0">
                        <a:latin typeface="Times New Roman" pitchFamily="18" charset="0"/>
                        <a:ea typeface="Calibri"/>
                        <a:cs typeface="Times New Roman" pitchFamily="18" charset="0"/>
                      </a:endParaRPr>
                    </a:p>
                  </a:txBody>
                  <a:tcPr marL="68580" marR="68580" marT="0" marB="0" anchor="ctr"/>
                </a:tc>
                <a:tc>
                  <a:txBody>
                    <a:bodyPr/>
                    <a:lstStyle/>
                    <a:p>
                      <a:pPr marL="0" marR="76200" algn="just">
                        <a:lnSpc>
                          <a:spcPct val="100000"/>
                        </a:lnSpc>
                        <a:spcBef>
                          <a:spcPts val="0"/>
                        </a:spcBef>
                        <a:spcAft>
                          <a:spcPts val="0"/>
                        </a:spcAft>
                      </a:pPr>
                      <a:r>
                        <a:rPr lang="en-US" sz="1600" dirty="0" smtClean="0">
                          <a:latin typeface="Times New Roman"/>
                          <a:ea typeface="Calibri"/>
                          <a:cs typeface="Times New Roman"/>
                        </a:rPr>
                        <a:t>Given a URL, this method returns a driver that can understand URL</a:t>
                      </a:r>
                      <a:endParaRPr lang="en-US" sz="1600" dirty="0">
                        <a:latin typeface="Times New Roman"/>
                        <a:ea typeface="Calibri"/>
                        <a:cs typeface="Times New Roman"/>
                      </a:endParaRPr>
                    </a:p>
                  </a:txBody>
                  <a:tcPr marL="68580" marR="68580" marT="0" marB="0" anchor="ctr"/>
                </a:tc>
              </a:tr>
              <a:tr h="606065">
                <a:tc>
                  <a:txBody>
                    <a:bodyPr/>
                    <a:lstStyle/>
                    <a:p>
                      <a:pPr marL="0" marR="0">
                        <a:lnSpc>
                          <a:spcPct val="115000"/>
                        </a:lnSpc>
                        <a:spcBef>
                          <a:spcPts val="0"/>
                        </a:spcBef>
                        <a:spcAft>
                          <a:spcPts val="0"/>
                        </a:spcAft>
                      </a:pPr>
                      <a:r>
                        <a:rPr lang="en-IN" sz="1800" dirty="0" smtClean="0">
                          <a:latin typeface="Times New Roman" pitchFamily="18" charset="0"/>
                          <a:ea typeface="Calibri"/>
                          <a:cs typeface="Times New Roman" pitchFamily="18" charset="0"/>
                        </a:rPr>
                        <a:t>Static void </a:t>
                      </a:r>
                      <a:r>
                        <a:rPr lang="en-IN" sz="1800" dirty="0" err="1" smtClean="0">
                          <a:latin typeface="Times New Roman" pitchFamily="18" charset="0"/>
                          <a:ea typeface="Calibri"/>
                          <a:cs typeface="Times New Roman" pitchFamily="18" charset="0"/>
                        </a:rPr>
                        <a:t>deregisterDriver</a:t>
                      </a:r>
                      <a:r>
                        <a:rPr lang="en-IN" sz="1800" dirty="0" smtClean="0">
                          <a:latin typeface="Times New Roman" pitchFamily="18" charset="0"/>
                          <a:ea typeface="Calibri"/>
                          <a:cs typeface="Times New Roman" pitchFamily="18" charset="0"/>
                        </a:rPr>
                        <a:t>(Driver)</a:t>
                      </a:r>
                      <a:endParaRPr lang="en-IN" sz="1800" dirty="0">
                        <a:latin typeface="Times New Roman" pitchFamily="18" charset="0"/>
                        <a:ea typeface="Calibri"/>
                        <a:cs typeface="Times New Roman" pitchFamily="18" charset="0"/>
                      </a:endParaRPr>
                    </a:p>
                  </a:txBody>
                  <a:tcPr marL="68580" marR="68580" marT="0" marB="0" anchor="ctr"/>
                </a:tc>
                <a:tc>
                  <a:txBody>
                    <a:bodyPr/>
                    <a:lstStyle/>
                    <a:p>
                      <a:pPr marL="0" marR="76200" algn="just">
                        <a:lnSpc>
                          <a:spcPct val="100000"/>
                        </a:lnSpc>
                        <a:spcBef>
                          <a:spcPts val="0"/>
                        </a:spcBef>
                        <a:spcAft>
                          <a:spcPts val="0"/>
                        </a:spcAft>
                      </a:pPr>
                      <a:r>
                        <a:rPr lang="en-US" sz="1600" dirty="0" smtClean="0">
                          <a:latin typeface="Times New Roman"/>
                          <a:ea typeface="Calibri"/>
                          <a:cs typeface="Times New Roman"/>
                        </a:rPr>
                        <a:t>Unregisters the driver</a:t>
                      </a:r>
                      <a:endParaRPr lang="en-US" sz="1600" dirty="0">
                        <a:latin typeface="Times New Roman"/>
                        <a:ea typeface="Calibri"/>
                        <a:cs typeface="Times New Roman"/>
                      </a:endParaRPr>
                    </a:p>
                  </a:txBody>
                  <a:tcPr marL="68580" marR="68580" marT="0" marB="0" anchor="ctr"/>
                </a:tc>
              </a:tr>
              <a:tr h="606065">
                <a:tc>
                  <a:txBody>
                    <a:bodyPr/>
                    <a:lstStyle/>
                    <a:p>
                      <a:pPr marL="0" marR="0">
                        <a:lnSpc>
                          <a:spcPct val="115000"/>
                        </a:lnSpc>
                        <a:spcBef>
                          <a:spcPts val="0"/>
                        </a:spcBef>
                        <a:spcAft>
                          <a:spcPts val="0"/>
                        </a:spcAft>
                      </a:pPr>
                      <a:r>
                        <a:rPr lang="en-IN" sz="1800" dirty="0" err="1" smtClean="0">
                          <a:latin typeface="Times New Roman" pitchFamily="18" charset="0"/>
                          <a:ea typeface="Calibri"/>
                          <a:cs typeface="Times New Roman" pitchFamily="18" charset="0"/>
                        </a:rPr>
                        <a:t>Sttic</a:t>
                      </a:r>
                      <a:r>
                        <a:rPr lang="en-IN" sz="1800" dirty="0" smtClean="0">
                          <a:latin typeface="Times New Roman" pitchFamily="18" charset="0"/>
                          <a:ea typeface="Calibri"/>
                          <a:cs typeface="Times New Roman" pitchFamily="18" charset="0"/>
                        </a:rPr>
                        <a:t> void</a:t>
                      </a:r>
                      <a:r>
                        <a:rPr lang="en-IN" sz="1800" baseline="0" dirty="0" smtClean="0">
                          <a:latin typeface="Times New Roman" pitchFamily="18" charset="0"/>
                          <a:ea typeface="Calibri"/>
                          <a:cs typeface="Times New Roman" pitchFamily="18" charset="0"/>
                        </a:rPr>
                        <a:t> </a:t>
                      </a:r>
                      <a:r>
                        <a:rPr lang="en-IN" sz="1800" baseline="0" dirty="0" err="1" smtClean="0">
                          <a:latin typeface="Times New Roman" pitchFamily="18" charset="0"/>
                          <a:ea typeface="Calibri"/>
                          <a:cs typeface="Times New Roman" pitchFamily="18" charset="0"/>
                        </a:rPr>
                        <a:t>registerDriver</a:t>
                      </a:r>
                      <a:r>
                        <a:rPr lang="en-IN" sz="1800" baseline="0" dirty="0" smtClean="0">
                          <a:latin typeface="Times New Roman" pitchFamily="18" charset="0"/>
                          <a:ea typeface="Calibri"/>
                          <a:cs typeface="Times New Roman" pitchFamily="18" charset="0"/>
                        </a:rPr>
                        <a:t>(Driver)</a:t>
                      </a:r>
                      <a:endParaRPr lang="en-IN" sz="1800" dirty="0">
                        <a:latin typeface="Times New Roman" pitchFamily="18" charset="0"/>
                        <a:ea typeface="Calibri"/>
                        <a:cs typeface="Times New Roman" pitchFamily="18" charset="0"/>
                      </a:endParaRPr>
                    </a:p>
                  </a:txBody>
                  <a:tcPr marL="68580" marR="68580" marT="0" marB="0" anchor="ctr"/>
                </a:tc>
                <a:tc>
                  <a:txBody>
                    <a:bodyPr/>
                    <a:lstStyle/>
                    <a:p>
                      <a:pPr marL="0" marR="76200" algn="just">
                        <a:lnSpc>
                          <a:spcPct val="100000"/>
                        </a:lnSpc>
                        <a:spcBef>
                          <a:spcPts val="0"/>
                        </a:spcBef>
                        <a:spcAft>
                          <a:spcPts val="0"/>
                        </a:spcAft>
                      </a:pPr>
                      <a:r>
                        <a:rPr lang="en-US" sz="1600" dirty="0" smtClean="0">
                          <a:latin typeface="Times New Roman"/>
                          <a:ea typeface="Calibri"/>
                          <a:cs typeface="Times New Roman"/>
                        </a:rPr>
                        <a:t>Registers the driver</a:t>
                      </a:r>
                      <a:endParaRPr lang="en-US" sz="1600" dirty="0">
                        <a:latin typeface="Times New Roman"/>
                        <a:ea typeface="Calibri"/>
                        <a:cs typeface="Times New Roman"/>
                      </a:endParaRPr>
                    </a:p>
                  </a:txBody>
                  <a:tcPr marL="68580" marR="68580" marT="0" marB="0" anchor="ctr"/>
                </a:tc>
              </a:tr>
            </a:tbl>
          </a:graphicData>
        </a:graphic>
      </p:graphicFrame>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1192282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TW" sz="4400" dirty="0" smtClean="0"/>
              <a:t>JDBC</a:t>
            </a:r>
            <a:r>
              <a:rPr lang="th-TH" altLang="zh-TW" sz="4400" dirty="0" smtClean="0"/>
              <a:t> Database URL</a:t>
            </a:r>
            <a:r>
              <a:rPr lang="en-US" altLang="zh-TW" sz="4400" dirty="0" smtClean="0"/>
              <a:t>  </a:t>
            </a:r>
            <a:endParaRPr lang="th-TH" altLang="zh-TW" sz="4400" dirty="0" smtClean="0"/>
          </a:p>
        </p:txBody>
      </p:sp>
      <p:sp>
        <p:nvSpPr>
          <p:cNvPr id="38915" name="Rectangle 3"/>
          <p:cNvSpPr>
            <a:spLocks noGrp="1" noChangeArrowheads="1"/>
          </p:cNvSpPr>
          <p:nvPr>
            <p:ph type="body" idx="1"/>
          </p:nvPr>
        </p:nvSpPr>
        <p:spPr>
          <a:xfrm>
            <a:off x="428596" y="2060575"/>
            <a:ext cx="8639204" cy="1063625"/>
          </a:xfrm>
        </p:spPr>
        <p:txBody>
          <a:bodyPr>
            <a:normAutofit/>
          </a:bodyPr>
          <a:lstStyle/>
          <a:p>
            <a:pPr>
              <a:buFont typeface="Monotype Sorts" pitchFamily="2" charset="2"/>
              <a:buNone/>
            </a:pPr>
            <a:r>
              <a:rPr lang="th-TH" altLang="zh-TW" sz="3200" b="1" dirty="0" smtClean="0">
                <a:solidFill>
                  <a:srgbClr val="FE3A5B"/>
                </a:solidFill>
              </a:rPr>
              <a:t>jdbc</a:t>
            </a:r>
            <a:r>
              <a:rPr lang="th-TH" altLang="zh-TW" sz="3200" dirty="0" smtClean="0"/>
              <a:t>:</a:t>
            </a:r>
            <a:r>
              <a:rPr lang="en-IN" altLang="zh-TW" sz="3200" dirty="0" err="1" smtClean="0"/>
              <a:t>mysql</a:t>
            </a:r>
            <a:r>
              <a:rPr lang="th-TH" altLang="zh-TW" sz="3200" dirty="0" smtClean="0"/>
              <a:t>:  //host</a:t>
            </a:r>
            <a:r>
              <a:rPr lang="en-IN" altLang="zh-TW" sz="3200" dirty="0" smtClean="0"/>
              <a:t>_name</a:t>
            </a:r>
            <a:r>
              <a:rPr lang="th-TH" altLang="zh-TW" sz="3200" dirty="0" smtClean="0"/>
              <a:t>:  </a:t>
            </a:r>
            <a:r>
              <a:rPr lang="en-IN" altLang="zh-TW" sz="3200" dirty="0" smtClean="0"/>
              <a:t>port</a:t>
            </a:r>
            <a:r>
              <a:rPr lang="th-TH" altLang="zh-TW" sz="3200" dirty="0" smtClean="0"/>
              <a:t> </a:t>
            </a:r>
            <a:r>
              <a:rPr lang="en-IN" altLang="zh-TW" sz="3200" dirty="0" smtClean="0"/>
              <a:t>        </a:t>
            </a:r>
            <a:r>
              <a:rPr lang="th-TH" altLang="zh-TW" sz="3200" dirty="0" smtClean="0"/>
              <a:t>/</a:t>
            </a:r>
            <a:r>
              <a:rPr lang="en-IN" altLang="zh-TW" sz="3200" dirty="0" smtClean="0"/>
              <a:t> </a:t>
            </a:r>
            <a:r>
              <a:rPr lang="en-IN" altLang="zh-TW" sz="3200" dirty="0" err="1" smtClean="0"/>
              <a:t>database_name</a:t>
            </a:r>
            <a:endParaRPr lang="th-TH" altLang="zh-TW" sz="3200" dirty="0" smtClean="0"/>
          </a:p>
        </p:txBody>
      </p:sp>
      <p:sp>
        <p:nvSpPr>
          <p:cNvPr id="38916" name="AutoShape 4"/>
          <p:cNvSpPr>
            <a:spLocks noChangeArrowheads="1"/>
          </p:cNvSpPr>
          <p:nvPr/>
        </p:nvSpPr>
        <p:spPr bwMode="auto">
          <a:xfrm>
            <a:off x="428596" y="2133600"/>
            <a:ext cx="2000264" cy="609600"/>
          </a:xfrm>
          <a:prstGeom prst="roundRect">
            <a:avLst>
              <a:gd name="adj" fmla="val 16667"/>
            </a:avLst>
          </a:prstGeom>
          <a:noFill/>
          <a:ln w="38100">
            <a:solidFill>
              <a:schemeClr val="tx2"/>
            </a:solidFill>
            <a:round/>
            <a:headEnd/>
            <a:tailEnd type="none" w="lg" len="lg"/>
          </a:ln>
        </p:spPr>
        <p:txBody>
          <a:bodyPr wrap="none" anchor="ctr"/>
          <a:lstStyle/>
          <a:p>
            <a:endParaRPr lang="en-IN"/>
          </a:p>
        </p:txBody>
      </p:sp>
      <p:sp>
        <p:nvSpPr>
          <p:cNvPr id="38917" name="AutoShape 5"/>
          <p:cNvSpPr>
            <a:spLocks noChangeArrowheads="1"/>
          </p:cNvSpPr>
          <p:nvPr/>
        </p:nvSpPr>
        <p:spPr bwMode="auto">
          <a:xfrm>
            <a:off x="2500298" y="2133600"/>
            <a:ext cx="3714776" cy="609600"/>
          </a:xfrm>
          <a:prstGeom prst="roundRect">
            <a:avLst>
              <a:gd name="adj" fmla="val 16667"/>
            </a:avLst>
          </a:prstGeom>
          <a:noFill/>
          <a:ln w="38100">
            <a:solidFill>
              <a:schemeClr val="tx2"/>
            </a:solidFill>
            <a:round/>
            <a:headEnd/>
            <a:tailEnd type="none" w="lg" len="lg"/>
          </a:ln>
        </p:spPr>
        <p:txBody>
          <a:bodyPr wrap="none" anchor="ctr"/>
          <a:lstStyle/>
          <a:p>
            <a:endParaRPr lang="en-IN"/>
          </a:p>
        </p:txBody>
      </p:sp>
      <p:sp>
        <p:nvSpPr>
          <p:cNvPr id="38919" name="AutoShape 7"/>
          <p:cNvSpPr>
            <a:spLocks noChangeArrowheads="1"/>
          </p:cNvSpPr>
          <p:nvPr/>
        </p:nvSpPr>
        <p:spPr bwMode="auto">
          <a:xfrm>
            <a:off x="6286512" y="2133600"/>
            <a:ext cx="2714644" cy="609600"/>
          </a:xfrm>
          <a:prstGeom prst="roundRect">
            <a:avLst>
              <a:gd name="adj" fmla="val 16667"/>
            </a:avLst>
          </a:prstGeom>
          <a:noFill/>
          <a:ln w="38100">
            <a:solidFill>
              <a:schemeClr val="tx2"/>
            </a:solidFill>
            <a:round/>
            <a:headEnd/>
            <a:tailEnd type="none" w="lg" len="lg"/>
          </a:ln>
        </p:spPr>
        <p:txBody>
          <a:bodyPr wrap="none" anchor="ctr"/>
          <a:lstStyle/>
          <a:p>
            <a:endParaRPr lang="en-IN"/>
          </a:p>
        </p:txBody>
      </p:sp>
      <p:sp>
        <p:nvSpPr>
          <p:cNvPr id="38920" name="Text Box 8"/>
          <p:cNvSpPr txBox="1">
            <a:spLocks noChangeArrowheads="1"/>
          </p:cNvSpPr>
          <p:nvPr/>
        </p:nvSpPr>
        <p:spPr bwMode="auto">
          <a:xfrm>
            <a:off x="103686" y="3593592"/>
            <a:ext cx="2650084" cy="830997"/>
          </a:xfrm>
          <a:prstGeom prst="rect">
            <a:avLst/>
          </a:prstGeom>
          <a:noFill/>
          <a:ln w="12700">
            <a:noFill/>
            <a:miter lim="800000"/>
            <a:headEnd/>
            <a:tailEnd type="none" w="lg" len="lg"/>
          </a:ln>
        </p:spPr>
        <p:txBody>
          <a:bodyPr wrap="none">
            <a:spAutoFit/>
          </a:bodyPr>
          <a:lstStyle/>
          <a:p>
            <a:r>
              <a:rPr kumimoji="0" lang="th-TH" altLang="zh-TW" sz="2400" b="0" dirty="0">
                <a:latin typeface="Times New Roman" pitchFamily="18" charset="0"/>
                <a:ea typeface="PMingLiU" pitchFamily="18" charset="-120"/>
              </a:rPr>
              <a:t>The </a:t>
            </a:r>
            <a:r>
              <a:rPr kumimoji="0" lang="th-TH" altLang="zh-TW" sz="2400" b="0" dirty="0" smtClean="0">
                <a:latin typeface="Times New Roman" pitchFamily="18" charset="0"/>
                <a:ea typeface="PMingLiU" pitchFamily="18" charset="-120"/>
              </a:rPr>
              <a:t>comm</a:t>
            </a:r>
            <a:r>
              <a:rPr kumimoji="0" lang="en-US" altLang="zh-TW" sz="2400" b="0" dirty="0" err="1" smtClean="0">
                <a:latin typeface="Times New Roman" pitchFamily="18" charset="0"/>
                <a:ea typeface="PMingLiU" pitchFamily="18" charset="-120"/>
              </a:rPr>
              <a:t>unication</a:t>
            </a:r>
            <a:endParaRPr kumimoji="0" lang="th-TH" altLang="zh-TW" sz="2400" b="0" dirty="0">
              <a:latin typeface="Times New Roman" pitchFamily="18" charset="0"/>
              <a:ea typeface="PMingLiU" pitchFamily="18" charset="-120"/>
            </a:endParaRPr>
          </a:p>
          <a:p>
            <a:r>
              <a:rPr kumimoji="0" lang="th-TH" altLang="zh-TW" sz="2400" b="0" dirty="0">
                <a:latin typeface="Times New Roman" pitchFamily="18" charset="0"/>
                <a:ea typeface="PMingLiU" pitchFamily="18" charset="-120"/>
              </a:rPr>
              <a:t>protocol</a:t>
            </a:r>
          </a:p>
        </p:txBody>
      </p:sp>
      <p:sp>
        <p:nvSpPr>
          <p:cNvPr id="38921" name="Text Box 9"/>
          <p:cNvSpPr txBox="1">
            <a:spLocks noChangeArrowheads="1"/>
          </p:cNvSpPr>
          <p:nvPr/>
        </p:nvSpPr>
        <p:spPr bwMode="auto">
          <a:xfrm>
            <a:off x="3036888" y="3505200"/>
            <a:ext cx="1763712" cy="1187450"/>
          </a:xfrm>
          <a:prstGeom prst="rect">
            <a:avLst/>
          </a:prstGeom>
          <a:noFill/>
          <a:ln w="12700">
            <a:noFill/>
            <a:miter lim="800000"/>
            <a:headEnd/>
            <a:tailEnd type="none" w="lg" len="lg"/>
          </a:ln>
        </p:spPr>
        <p:txBody>
          <a:bodyPr wrap="none">
            <a:spAutoFit/>
          </a:bodyPr>
          <a:lstStyle/>
          <a:p>
            <a:r>
              <a:rPr kumimoji="0" lang="th-TH" altLang="zh-TW" sz="2400" b="0" dirty="0">
                <a:latin typeface="Times New Roman" pitchFamily="18" charset="0"/>
                <a:ea typeface="PMingLiU" pitchFamily="18" charset="-120"/>
              </a:rPr>
              <a:t>The machine</a:t>
            </a:r>
          </a:p>
          <a:p>
            <a:r>
              <a:rPr kumimoji="0" lang="th-TH" altLang="zh-TW" sz="2400" b="0" dirty="0">
                <a:latin typeface="Times New Roman" pitchFamily="18" charset="0"/>
                <a:ea typeface="PMingLiU" pitchFamily="18" charset="-120"/>
              </a:rPr>
              <a:t>holding the </a:t>
            </a:r>
          </a:p>
          <a:p>
            <a:r>
              <a:rPr kumimoji="0" lang="th-TH" altLang="zh-TW" sz="2400" b="0" dirty="0">
                <a:latin typeface="Times New Roman" pitchFamily="18" charset="0"/>
                <a:ea typeface="PMingLiU" pitchFamily="18" charset="-120"/>
              </a:rPr>
              <a:t>database.</a:t>
            </a:r>
          </a:p>
        </p:txBody>
      </p:sp>
      <p:sp>
        <p:nvSpPr>
          <p:cNvPr id="38922" name="Text Box 10"/>
          <p:cNvSpPr txBox="1">
            <a:spLocks noChangeArrowheads="1"/>
          </p:cNvSpPr>
          <p:nvPr/>
        </p:nvSpPr>
        <p:spPr bwMode="auto">
          <a:xfrm>
            <a:off x="5334000" y="3505200"/>
            <a:ext cx="1698625" cy="1187450"/>
          </a:xfrm>
          <a:prstGeom prst="rect">
            <a:avLst/>
          </a:prstGeom>
          <a:noFill/>
          <a:ln w="12700">
            <a:noFill/>
            <a:miter lim="800000"/>
            <a:headEnd/>
            <a:tailEnd type="none" w="lg" len="lg"/>
          </a:ln>
        </p:spPr>
        <p:txBody>
          <a:bodyPr wrap="none">
            <a:spAutoFit/>
          </a:bodyPr>
          <a:lstStyle/>
          <a:p>
            <a:r>
              <a:rPr kumimoji="0" lang="th-TH" altLang="zh-TW" sz="2400" b="0" dirty="0">
                <a:latin typeface="Times New Roman" pitchFamily="18" charset="0"/>
                <a:ea typeface="PMingLiU" pitchFamily="18" charset="-120"/>
              </a:rPr>
              <a:t>The port</a:t>
            </a:r>
          </a:p>
          <a:p>
            <a:r>
              <a:rPr kumimoji="0" lang="th-TH" altLang="zh-TW" sz="2400" b="0" dirty="0">
                <a:latin typeface="Times New Roman" pitchFamily="18" charset="0"/>
                <a:ea typeface="PMingLiU" pitchFamily="18" charset="-120"/>
              </a:rPr>
              <a:t>used for the </a:t>
            </a:r>
          </a:p>
          <a:p>
            <a:r>
              <a:rPr kumimoji="0" lang="th-TH" altLang="zh-TW" sz="2400" b="0" dirty="0">
                <a:latin typeface="Times New Roman" pitchFamily="18" charset="0"/>
                <a:ea typeface="PMingLiU" pitchFamily="18" charset="-120"/>
              </a:rPr>
              <a:t>connection.</a:t>
            </a:r>
          </a:p>
        </p:txBody>
      </p:sp>
      <p:sp>
        <p:nvSpPr>
          <p:cNvPr id="38923" name="Text Box 11"/>
          <p:cNvSpPr txBox="1">
            <a:spLocks noChangeArrowheads="1"/>
          </p:cNvSpPr>
          <p:nvPr/>
        </p:nvSpPr>
        <p:spPr bwMode="auto">
          <a:xfrm>
            <a:off x="7177088" y="3536950"/>
            <a:ext cx="2043112" cy="1187450"/>
          </a:xfrm>
          <a:prstGeom prst="rect">
            <a:avLst/>
          </a:prstGeom>
          <a:noFill/>
          <a:ln w="12700">
            <a:noFill/>
            <a:miter lim="800000"/>
            <a:headEnd/>
            <a:tailEnd type="none" w="lg" len="lg"/>
          </a:ln>
        </p:spPr>
        <p:txBody>
          <a:bodyPr wrap="none">
            <a:spAutoFit/>
          </a:bodyPr>
          <a:lstStyle/>
          <a:p>
            <a:r>
              <a:rPr kumimoji="0" lang="th-TH" altLang="zh-TW" sz="2400" b="0">
                <a:latin typeface="Times New Roman" pitchFamily="18" charset="0"/>
                <a:ea typeface="PMingLiU" pitchFamily="18" charset="-120"/>
              </a:rPr>
              <a:t>The path to</a:t>
            </a:r>
          </a:p>
          <a:p>
            <a:r>
              <a:rPr kumimoji="0" lang="th-TH" altLang="zh-TW" sz="2400" b="0">
                <a:latin typeface="Times New Roman" pitchFamily="18" charset="0"/>
                <a:ea typeface="PMingLiU" pitchFamily="18" charset="-120"/>
              </a:rPr>
              <a:t>the database</a:t>
            </a:r>
          </a:p>
          <a:p>
            <a:r>
              <a:rPr kumimoji="0" lang="th-TH" altLang="zh-TW" sz="2400" b="0">
                <a:latin typeface="Times New Roman" pitchFamily="18" charset="0"/>
                <a:ea typeface="PMingLiU" pitchFamily="18" charset="-120"/>
              </a:rPr>
              <a:t>on the machine</a:t>
            </a:r>
          </a:p>
        </p:txBody>
      </p:sp>
      <p:sp>
        <p:nvSpPr>
          <p:cNvPr id="38924" name="Line 12"/>
          <p:cNvSpPr>
            <a:spLocks noChangeShapeType="1"/>
          </p:cNvSpPr>
          <p:nvPr/>
        </p:nvSpPr>
        <p:spPr bwMode="auto">
          <a:xfrm flipV="1">
            <a:off x="1524000" y="2819400"/>
            <a:ext cx="152400" cy="762000"/>
          </a:xfrm>
          <a:prstGeom prst="line">
            <a:avLst/>
          </a:prstGeom>
          <a:noFill/>
          <a:ln w="12700">
            <a:solidFill>
              <a:schemeClr val="tx1"/>
            </a:solidFill>
            <a:round/>
            <a:headEnd/>
            <a:tailEnd type="triangle" w="lg" len="lg"/>
          </a:ln>
        </p:spPr>
        <p:txBody>
          <a:bodyPr wrap="none" anchor="ctr"/>
          <a:lstStyle/>
          <a:p>
            <a:endParaRPr lang="en-IN"/>
          </a:p>
        </p:txBody>
      </p:sp>
      <p:sp>
        <p:nvSpPr>
          <p:cNvPr id="38925" name="Line 13"/>
          <p:cNvSpPr>
            <a:spLocks noChangeShapeType="1"/>
          </p:cNvSpPr>
          <p:nvPr/>
        </p:nvSpPr>
        <p:spPr bwMode="auto">
          <a:xfrm flipV="1">
            <a:off x="3857620" y="2786058"/>
            <a:ext cx="85724" cy="785818"/>
          </a:xfrm>
          <a:prstGeom prst="line">
            <a:avLst/>
          </a:prstGeom>
          <a:noFill/>
          <a:ln w="12700">
            <a:solidFill>
              <a:schemeClr val="tx1"/>
            </a:solidFill>
            <a:round/>
            <a:headEnd/>
            <a:tailEnd type="triangle" w="lg" len="lg"/>
          </a:ln>
        </p:spPr>
        <p:txBody>
          <a:bodyPr wrap="none" anchor="ctr"/>
          <a:lstStyle/>
          <a:p>
            <a:endParaRPr lang="en-IN"/>
          </a:p>
        </p:txBody>
      </p:sp>
      <p:sp>
        <p:nvSpPr>
          <p:cNvPr id="38926" name="Line 14"/>
          <p:cNvSpPr>
            <a:spLocks noChangeShapeType="1"/>
          </p:cNvSpPr>
          <p:nvPr/>
        </p:nvSpPr>
        <p:spPr bwMode="auto">
          <a:xfrm flipH="1" flipV="1">
            <a:off x="5876931" y="2714620"/>
            <a:ext cx="52391" cy="857256"/>
          </a:xfrm>
          <a:prstGeom prst="line">
            <a:avLst/>
          </a:prstGeom>
          <a:noFill/>
          <a:ln w="12700">
            <a:solidFill>
              <a:schemeClr val="tx1"/>
            </a:solidFill>
            <a:round/>
            <a:headEnd/>
            <a:tailEnd type="triangle" w="lg" len="lg"/>
          </a:ln>
        </p:spPr>
        <p:txBody>
          <a:bodyPr wrap="none" anchor="ctr"/>
          <a:lstStyle/>
          <a:p>
            <a:endParaRPr lang="en-IN"/>
          </a:p>
        </p:txBody>
      </p:sp>
      <p:sp>
        <p:nvSpPr>
          <p:cNvPr id="38927" name="Line 15"/>
          <p:cNvSpPr>
            <a:spLocks noChangeShapeType="1"/>
          </p:cNvSpPr>
          <p:nvPr/>
        </p:nvSpPr>
        <p:spPr bwMode="auto">
          <a:xfrm flipV="1">
            <a:off x="7620000" y="2895600"/>
            <a:ext cx="152400" cy="685800"/>
          </a:xfrm>
          <a:prstGeom prst="line">
            <a:avLst/>
          </a:prstGeom>
          <a:noFill/>
          <a:ln w="12700">
            <a:solidFill>
              <a:schemeClr val="tx1"/>
            </a:solidFill>
            <a:round/>
            <a:headEnd/>
            <a:tailEnd type="triangle" w="lg" len="lg"/>
          </a:ln>
        </p:spPr>
        <p:txBody>
          <a:bodyPr wrap="none" anchor="ctr"/>
          <a:lstStyle/>
          <a:p>
            <a:endParaRPr lang="en-IN"/>
          </a:p>
        </p:txBody>
      </p:sp>
      <p:sp>
        <p:nvSpPr>
          <p:cNvPr id="38928" name="Text Box 16"/>
          <p:cNvSpPr txBox="1">
            <a:spLocks noChangeArrowheads="1"/>
          </p:cNvSpPr>
          <p:nvPr/>
        </p:nvSpPr>
        <p:spPr bwMode="auto">
          <a:xfrm>
            <a:off x="990600" y="5486400"/>
            <a:ext cx="6096000" cy="519113"/>
          </a:xfrm>
          <a:prstGeom prst="rect">
            <a:avLst/>
          </a:prstGeom>
          <a:noFill/>
          <a:ln w="12700">
            <a:noFill/>
            <a:miter lim="800000"/>
            <a:headEnd/>
            <a:tailEnd type="none" w="lg" len="lg"/>
          </a:ln>
        </p:spPr>
        <p:txBody>
          <a:bodyPr>
            <a:spAutoFit/>
          </a:bodyPr>
          <a:lstStyle/>
          <a:p>
            <a:pPr>
              <a:spcBef>
                <a:spcPct val="50000"/>
              </a:spcBef>
            </a:pPr>
            <a:r>
              <a:rPr kumimoji="0" lang="th-TH" altLang="zh-TW" sz="2800" b="0" dirty="0">
                <a:latin typeface="Times New Roman" pitchFamily="18" charset="0"/>
                <a:ea typeface="PMingLiU" pitchFamily="18" charset="-120"/>
              </a:rPr>
              <a:t>e.g. </a:t>
            </a:r>
            <a:r>
              <a:rPr lang="en-IN" altLang="zh-TW" sz="2800" dirty="0" err="1" smtClean="0">
                <a:latin typeface="Times New Roman" pitchFamily="18" charset="0"/>
                <a:ea typeface="PMingLiU" pitchFamily="18" charset="-120"/>
              </a:rPr>
              <a:t>jdbc:mysql</a:t>
            </a:r>
            <a:r>
              <a:rPr lang="en-IN" altLang="zh-TW" sz="2800" dirty="0" smtClean="0">
                <a:latin typeface="Times New Roman" pitchFamily="18" charset="0"/>
                <a:ea typeface="PMingLiU" pitchFamily="18" charset="-120"/>
              </a:rPr>
              <a:t>://localhost:3306/JDBC</a:t>
            </a:r>
            <a:endParaRPr kumimoji="0" lang="th-TH" altLang="zh-TW" sz="2800" b="0" dirty="0">
              <a:latin typeface="Times New Roman" pitchFamily="18" charset="0"/>
              <a:ea typeface="PMingLiU" pitchFamily="18" charset="-120"/>
            </a:endParaRPr>
          </a:p>
        </p:txBody>
      </p:sp>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2654815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5" name="Rectangle 4"/>
          <p:cNvSpPr/>
          <p:nvPr/>
        </p:nvSpPr>
        <p:spPr>
          <a:xfrm>
            <a:off x="395536" y="332656"/>
            <a:ext cx="4572000" cy="6186309"/>
          </a:xfrm>
          <a:prstGeom prst="rect">
            <a:avLst/>
          </a:prstGeom>
        </p:spPr>
        <p:txBody>
          <a:bodyPr>
            <a:spAutoFit/>
          </a:bodyPr>
          <a:lstStyle/>
          <a:p>
            <a:r>
              <a:rPr lang="en-IN" dirty="0"/>
              <a:t>import </a:t>
            </a:r>
            <a:r>
              <a:rPr lang="en-IN" dirty="0" err="1"/>
              <a:t>java.sql.Connection</a:t>
            </a:r>
            <a:r>
              <a:rPr lang="en-IN" dirty="0"/>
              <a:t>;</a:t>
            </a:r>
          </a:p>
          <a:p>
            <a:r>
              <a:rPr lang="en-IN" dirty="0"/>
              <a:t>import </a:t>
            </a:r>
            <a:r>
              <a:rPr lang="en-IN" dirty="0" err="1"/>
              <a:t>java.sql.DriverManager</a:t>
            </a:r>
            <a:r>
              <a:rPr lang="en-IN" dirty="0"/>
              <a:t>;</a:t>
            </a:r>
          </a:p>
          <a:p>
            <a:r>
              <a:rPr lang="en-IN" dirty="0"/>
              <a:t>import </a:t>
            </a:r>
            <a:r>
              <a:rPr lang="en-IN" dirty="0" err="1"/>
              <a:t>java.sql.ResultSet</a:t>
            </a:r>
            <a:r>
              <a:rPr lang="en-IN" dirty="0"/>
              <a:t>;</a:t>
            </a:r>
          </a:p>
          <a:p>
            <a:r>
              <a:rPr lang="en-IN" dirty="0"/>
              <a:t>import </a:t>
            </a:r>
            <a:r>
              <a:rPr lang="en-IN" dirty="0" err="1"/>
              <a:t>java.sql.Statement</a:t>
            </a:r>
            <a:r>
              <a:rPr lang="en-IN" dirty="0"/>
              <a:t>;</a:t>
            </a:r>
          </a:p>
          <a:p>
            <a:endParaRPr lang="en-IN" dirty="0"/>
          </a:p>
          <a:p>
            <a:r>
              <a:rPr lang="en-IN" dirty="0"/>
              <a:t>public class </a:t>
            </a:r>
            <a:r>
              <a:rPr lang="en-IN" dirty="0" err="1"/>
              <a:t>DriverManagerExample</a:t>
            </a:r>
            <a:r>
              <a:rPr lang="en-IN" dirty="0"/>
              <a:t> {</a:t>
            </a:r>
          </a:p>
          <a:p>
            <a:r>
              <a:rPr lang="en-IN" dirty="0"/>
              <a:t>    public static void main(String[] </a:t>
            </a:r>
            <a:r>
              <a:rPr lang="en-IN" dirty="0" err="1"/>
              <a:t>args</a:t>
            </a:r>
            <a:r>
              <a:rPr lang="en-IN" dirty="0"/>
              <a:t>) {</a:t>
            </a:r>
          </a:p>
          <a:p>
            <a:r>
              <a:rPr lang="en-IN" dirty="0"/>
              <a:t>        try {</a:t>
            </a:r>
          </a:p>
          <a:p>
            <a:r>
              <a:rPr lang="en-IN" dirty="0"/>
              <a:t>            // 1. Load the JDBC driver </a:t>
            </a:r>
            <a:r>
              <a:rPr lang="en-IN" dirty="0" smtClean="0"/>
              <a:t> </a:t>
            </a:r>
            <a:endParaRPr lang="en-IN" dirty="0"/>
          </a:p>
          <a:p>
            <a:r>
              <a:rPr lang="en-IN" dirty="0"/>
              <a:t>            </a:t>
            </a:r>
            <a:r>
              <a:rPr lang="en-IN" dirty="0" err="1"/>
              <a:t>Class.forName</a:t>
            </a:r>
            <a:r>
              <a:rPr lang="en-IN" dirty="0"/>
              <a:t>("</a:t>
            </a:r>
            <a:r>
              <a:rPr lang="en-IN" dirty="0" err="1"/>
              <a:t>com.mysql.cj.jdbc.Driver</a:t>
            </a:r>
            <a:r>
              <a:rPr lang="en-IN" dirty="0"/>
              <a:t>");</a:t>
            </a:r>
          </a:p>
          <a:p>
            <a:endParaRPr lang="en-IN" dirty="0"/>
          </a:p>
          <a:p>
            <a:r>
              <a:rPr lang="en-IN" dirty="0"/>
              <a:t>            // 2. Establish a connection</a:t>
            </a:r>
          </a:p>
          <a:p>
            <a:r>
              <a:rPr lang="en-IN" dirty="0"/>
              <a:t>            Connection conn = </a:t>
            </a:r>
            <a:r>
              <a:rPr lang="en-IN" dirty="0" err="1"/>
              <a:t>DriverManager.getConnection</a:t>
            </a:r>
            <a:r>
              <a:rPr lang="en-IN" dirty="0"/>
              <a:t>(</a:t>
            </a:r>
          </a:p>
          <a:p>
            <a:r>
              <a:rPr lang="en-IN" dirty="0"/>
              <a:t>                "</a:t>
            </a:r>
            <a:r>
              <a:rPr lang="en-IN" dirty="0" err="1"/>
              <a:t>jdbc:mysql</a:t>
            </a:r>
            <a:r>
              <a:rPr lang="en-IN" dirty="0"/>
              <a:t>://</a:t>
            </a:r>
            <a:r>
              <a:rPr lang="en-IN" dirty="0" smtClean="0"/>
              <a:t>localhost:3306/JDBC", </a:t>
            </a:r>
            <a:r>
              <a:rPr lang="en-IN" dirty="0"/>
              <a:t>"root", "password"</a:t>
            </a:r>
          </a:p>
          <a:p>
            <a:r>
              <a:rPr lang="en-IN" dirty="0"/>
              <a:t>            );</a:t>
            </a:r>
          </a:p>
          <a:p>
            <a:endParaRPr lang="en-IN" dirty="0"/>
          </a:p>
          <a:p>
            <a:r>
              <a:rPr lang="en-IN" dirty="0"/>
              <a:t>            // 3. Create a statement and execute a query</a:t>
            </a:r>
          </a:p>
          <a:p>
            <a:r>
              <a:rPr lang="en-IN" dirty="0"/>
              <a:t>            Statement </a:t>
            </a:r>
            <a:r>
              <a:rPr lang="en-IN" dirty="0" err="1"/>
              <a:t>stmt</a:t>
            </a:r>
            <a:r>
              <a:rPr lang="en-IN" dirty="0"/>
              <a:t> = </a:t>
            </a:r>
            <a:r>
              <a:rPr lang="en-IN" dirty="0" err="1"/>
              <a:t>conn.createStatement</a:t>
            </a:r>
            <a:r>
              <a:rPr lang="en-IN" dirty="0"/>
              <a:t>();</a:t>
            </a:r>
          </a:p>
          <a:p>
            <a:r>
              <a:rPr lang="en-IN" dirty="0"/>
              <a:t>            </a:t>
            </a:r>
            <a:r>
              <a:rPr lang="en-IN" dirty="0" err="1"/>
              <a:t>ResultSet</a:t>
            </a:r>
            <a:r>
              <a:rPr lang="en-IN" dirty="0"/>
              <a:t> </a:t>
            </a:r>
            <a:r>
              <a:rPr lang="en-IN" dirty="0" err="1"/>
              <a:t>rs</a:t>
            </a:r>
            <a:r>
              <a:rPr lang="en-IN" dirty="0"/>
              <a:t> = </a:t>
            </a:r>
            <a:r>
              <a:rPr lang="en-IN" dirty="0" err="1"/>
              <a:t>stmt.executeQuery</a:t>
            </a:r>
            <a:r>
              <a:rPr lang="en-IN" dirty="0"/>
              <a:t>("SELECT * FROM </a:t>
            </a:r>
            <a:r>
              <a:rPr lang="en-IN" dirty="0" smtClean="0"/>
              <a:t>EMP");</a:t>
            </a:r>
            <a:endParaRPr lang="en-IN" dirty="0"/>
          </a:p>
        </p:txBody>
      </p:sp>
      <p:sp>
        <p:nvSpPr>
          <p:cNvPr id="6" name="TextBox 5"/>
          <p:cNvSpPr txBox="1"/>
          <p:nvPr/>
        </p:nvSpPr>
        <p:spPr>
          <a:xfrm>
            <a:off x="5508104" y="332656"/>
            <a:ext cx="3456384" cy="5078313"/>
          </a:xfrm>
          <a:prstGeom prst="rect">
            <a:avLst/>
          </a:prstGeom>
          <a:noFill/>
        </p:spPr>
        <p:txBody>
          <a:bodyPr wrap="square" rtlCol="0">
            <a:spAutoFit/>
          </a:bodyPr>
          <a:lstStyle/>
          <a:p>
            <a:endParaRPr lang="en-IN" dirty="0"/>
          </a:p>
          <a:p>
            <a:r>
              <a:rPr lang="en-IN" dirty="0"/>
              <a:t>            // 4. Process the result</a:t>
            </a:r>
          </a:p>
          <a:p>
            <a:r>
              <a:rPr lang="en-IN" dirty="0"/>
              <a:t>            while (</a:t>
            </a:r>
            <a:r>
              <a:rPr lang="en-IN" dirty="0" err="1"/>
              <a:t>rs.next</a:t>
            </a:r>
            <a:r>
              <a:rPr lang="en-IN" dirty="0"/>
              <a:t>()) {</a:t>
            </a:r>
          </a:p>
          <a:p>
            <a:r>
              <a:rPr lang="en-IN" dirty="0"/>
              <a:t>                </a:t>
            </a:r>
            <a:r>
              <a:rPr lang="en-IN" dirty="0" err="1"/>
              <a:t>System.out.println</a:t>
            </a:r>
            <a:r>
              <a:rPr lang="en-IN" dirty="0"/>
              <a:t>(</a:t>
            </a:r>
            <a:r>
              <a:rPr lang="en-IN" dirty="0" err="1"/>
              <a:t>rs.getString</a:t>
            </a:r>
            <a:r>
              <a:rPr lang="en-IN" dirty="0"/>
              <a:t>("name"));</a:t>
            </a:r>
          </a:p>
          <a:p>
            <a:r>
              <a:rPr lang="en-IN" dirty="0"/>
              <a:t>            }</a:t>
            </a:r>
          </a:p>
          <a:p>
            <a:endParaRPr lang="en-IN" dirty="0"/>
          </a:p>
          <a:p>
            <a:r>
              <a:rPr lang="en-IN" dirty="0"/>
              <a:t>            // 5. Close resources</a:t>
            </a:r>
          </a:p>
          <a:p>
            <a:r>
              <a:rPr lang="en-IN" dirty="0"/>
              <a:t>            </a:t>
            </a:r>
            <a:r>
              <a:rPr lang="en-IN" dirty="0" err="1"/>
              <a:t>rs.close</a:t>
            </a:r>
            <a:r>
              <a:rPr lang="en-IN" dirty="0"/>
              <a:t>();</a:t>
            </a:r>
          </a:p>
          <a:p>
            <a:r>
              <a:rPr lang="en-IN" dirty="0"/>
              <a:t>            </a:t>
            </a:r>
            <a:r>
              <a:rPr lang="en-IN" dirty="0" err="1"/>
              <a:t>stmt.close</a:t>
            </a:r>
            <a:r>
              <a:rPr lang="en-IN" dirty="0"/>
              <a:t>();</a:t>
            </a:r>
          </a:p>
          <a:p>
            <a:r>
              <a:rPr lang="en-IN" dirty="0"/>
              <a:t>            </a:t>
            </a:r>
            <a:r>
              <a:rPr lang="en-IN" dirty="0" err="1"/>
              <a:t>conn.close</a:t>
            </a:r>
            <a:r>
              <a:rPr lang="en-IN" dirty="0"/>
              <a:t>();</a:t>
            </a:r>
          </a:p>
          <a:p>
            <a:r>
              <a:rPr lang="en-IN" dirty="0"/>
              <a:t>        } catch (Exception e) {</a:t>
            </a:r>
          </a:p>
          <a:p>
            <a:r>
              <a:rPr lang="en-IN" dirty="0"/>
              <a:t>            </a:t>
            </a:r>
            <a:r>
              <a:rPr lang="en-IN" dirty="0" err="1"/>
              <a:t>e.printStackTrace</a:t>
            </a:r>
            <a:r>
              <a:rPr lang="en-IN" dirty="0"/>
              <a:t>();</a:t>
            </a:r>
          </a:p>
          <a:p>
            <a:r>
              <a:rPr lang="en-IN" dirty="0"/>
              <a:t>        }</a:t>
            </a:r>
          </a:p>
          <a:p>
            <a:r>
              <a:rPr lang="en-IN" dirty="0"/>
              <a:t>    }</a:t>
            </a:r>
          </a:p>
          <a:p>
            <a:r>
              <a:rPr lang="en-IN" dirty="0"/>
              <a:t>}</a:t>
            </a:r>
          </a:p>
          <a:p>
            <a:endParaRPr lang="en-IN" dirty="0"/>
          </a:p>
        </p:txBody>
      </p:sp>
    </p:spTree>
    <p:extLst>
      <p:ext uri="{BB962C8B-B14F-4D97-AF65-F5344CB8AC3E}">
        <p14:creationId xmlns:p14="http://schemas.microsoft.com/office/powerpoint/2010/main" val="2220287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582594"/>
          </a:xfrm>
        </p:spPr>
        <p:txBody>
          <a:bodyPr>
            <a:normAutofit fontScale="90000"/>
          </a:bodyPr>
          <a:lstStyle/>
          <a:p>
            <a:r>
              <a:rPr lang="en-IN" dirty="0" smtClean="0"/>
              <a:t>Driver Interface</a:t>
            </a:r>
            <a:endParaRPr lang="en-IN" dirty="0"/>
          </a:p>
        </p:txBody>
      </p:sp>
      <p:sp>
        <p:nvSpPr>
          <p:cNvPr id="3" name="Content Placeholder 2"/>
          <p:cNvSpPr>
            <a:spLocks noGrp="1"/>
          </p:cNvSpPr>
          <p:nvPr>
            <p:ph sz="quarter" idx="1"/>
          </p:nvPr>
        </p:nvSpPr>
        <p:spPr>
          <a:xfrm>
            <a:off x="251520" y="836712"/>
            <a:ext cx="7886680" cy="2427752"/>
          </a:xfrm>
        </p:spPr>
        <p:txBody>
          <a:bodyPr>
            <a:normAutofit/>
          </a:bodyPr>
          <a:lstStyle/>
          <a:p>
            <a:r>
              <a:rPr lang="en-US" sz="2000" dirty="0"/>
              <a:t>The </a:t>
            </a:r>
            <a:r>
              <a:rPr lang="en-US" sz="2000" b="1" dirty="0"/>
              <a:t>Driver interface</a:t>
            </a:r>
            <a:r>
              <a:rPr lang="en-US" sz="2000" dirty="0"/>
              <a:t> is part of the </a:t>
            </a:r>
            <a:r>
              <a:rPr lang="en-US" sz="2000" b="1" dirty="0" err="1"/>
              <a:t>java.sql</a:t>
            </a:r>
            <a:r>
              <a:rPr lang="en-US" sz="2000" b="1" dirty="0"/>
              <a:t> package</a:t>
            </a:r>
            <a:r>
              <a:rPr lang="en-US" sz="2000" dirty="0"/>
              <a:t> in JDBC and is the </a:t>
            </a:r>
            <a:r>
              <a:rPr lang="en-US" sz="2000" b="1" dirty="0"/>
              <a:t>core interface for JDBC drivers</a:t>
            </a:r>
            <a:r>
              <a:rPr lang="en-US" sz="2000" dirty="0" smtClean="0"/>
              <a:t>.</a:t>
            </a:r>
          </a:p>
          <a:p>
            <a:r>
              <a:rPr lang="en-US" sz="2400" dirty="0" smtClean="0"/>
              <a:t> </a:t>
            </a:r>
            <a:r>
              <a:rPr lang="en-IN" sz="2400" dirty="0" smtClean="0"/>
              <a:t>As </a:t>
            </a:r>
            <a:r>
              <a:rPr lang="en-IN" sz="2400" dirty="0"/>
              <a:t>a developer, </a:t>
            </a:r>
            <a:r>
              <a:rPr lang="en-IN" sz="2400" dirty="0" smtClean="0"/>
              <a:t>we </a:t>
            </a:r>
            <a:r>
              <a:rPr lang="en-IN" sz="2400" dirty="0"/>
              <a:t>don’t typically implement the Driver </a:t>
            </a:r>
            <a:r>
              <a:rPr lang="en-IN" sz="2400" dirty="0" smtClean="0"/>
              <a:t>interface; </a:t>
            </a:r>
            <a:r>
              <a:rPr lang="en-IN" sz="2400" dirty="0"/>
              <a:t>JDBC drivers like MySQL's </a:t>
            </a:r>
            <a:r>
              <a:rPr lang="en-IN" sz="2400" dirty="0" err="1"/>
              <a:t>com.mysql.cj.jdbc.Driver</a:t>
            </a:r>
            <a:r>
              <a:rPr lang="en-IN" sz="2400" dirty="0"/>
              <a:t> or Oracle's </a:t>
            </a:r>
            <a:r>
              <a:rPr lang="en-IN" sz="2400" dirty="0" err="1"/>
              <a:t>oracle.jdbc.OracleDriver</a:t>
            </a:r>
            <a:r>
              <a:rPr lang="en-IN" sz="2400" dirty="0"/>
              <a:t> implement it.</a:t>
            </a:r>
            <a:endParaRPr lang="en-US" sz="2400" dirty="0"/>
          </a:p>
          <a:p>
            <a:r>
              <a:rPr lang="en-US" sz="2400" dirty="0" smtClean="0"/>
              <a:t>.</a:t>
            </a:r>
            <a:endParaRPr lang="en-US" sz="2400"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
        <p:nvSpPr>
          <p:cNvPr id="5" name="Rectangle 4"/>
          <p:cNvSpPr/>
          <p:nvPr/>
        </p:nvSpPr>
        <p:spPr>
          <a:xfrm>
            <a:off x="1835696" y="3284984"/>
            <a:ext cx="6696744" cy="2862322"/>
          </a:xfrm>
          <a:prstGeom prst="rect">
            <a:avLst/>
          </a:prstGeom>
        </p:spPr>
        <p:txBody>
          <a:bodyPr wrap="square">
            <a:spAutoFit/>
          </a:bodyPr>
          <a:lstStyle/>
          <a:p>
            <a:r>
              <a:rPr lang="en-IN" dirty="0"/>
              <a:t> </a:t>
            </a:r>
            <a:r>
              <a:rPr lang="en-IN" dirty="0" smtClean="0"/>
              <a:t>                  +-------------------+</a:t>
            </a:r>
            <a:endParaRPr lang="en-IN" dirty="0"/>
          </a:p>
          <a:p>
            <a:r>
              <a:rPr lang="en-IN" dirty="0"/>
              <a:t>                  </a:t>
            </a:r>
            <a:r>
              <a:rPr lang="en-IN" dirty="0" smtClean="0"/>
              <a:t> |   </a:t>
            </a:r>
            <a:r>
              <a:rPr lang="en-IN" dirty="0" err="1"/>
              <a:t>java.sql.Driver</a:t>
            </a:r>
            <a:r>
              <a:rPr lang="en-IN" dirty="0"/>
              <a:t> |</a:t>
            </a:r>
          </a:p>
          <a:p>
            <a:r>
              <a:rPr lang="en-IN" dirty="0"/>
              <a:t>                  </a:t>
            </a:r>
            <a:r>
              <a:rPr lang="en-IN" dirty="0" smtClean="0"/>
              <a:t> +-------------------+</a:t>
            </a:r>
            <a:endParaRPr lang="en-IN" dirty="0"/>
          </a:p>
          <a:p>
            <a:r>
              <a:rPr lang="en-IN" dirty="0"/>
              <a:t>                     </a:t>
            </a:r>
            <a:r>
              <a:rPr lang="en-IN" dirty="0" smtClean="0"/>
              <a:t>         ^</a:t>
            </a:r>
            <a:endParaRPr lang="en-IN" dirty="0"/>
          </a:p>
          <a:p>
            <a:r>
              <a:rPr lang="en-IN" dirty="0"/>
              <a:t>                       </a:t>
            </a:r>
            <a:r>
              <a:rPr lang="en-IN" dirty="0" smtClean="0"/>
              <a:t>       </a:t>
            </a:r>
            <a:r>
              <a:rPr lang="en-IN" dirty="0"/>
              <a:t>|</a:t>
            </a:r>
          </a:p>
          <a:p>
            <a:r>
              <a:rPr lang="en-IN" dirty="0"/>
              <a:t>           +----------------------------------+</a:t>
            </a:r>
          </a:p>
          <a:p>
            <a:r>
              <a:rPr lang="en-IN" dirty="0"/>
              <a:t>           |  </a:t>
            </a:r>
            <a:r>
              <a:rPr lang="en-IN" dirty="0" err="1"/>
              <a:t>com.mysql.cj.jdbc.Driver</a:t>
            </a:r>
            <a:r>
              <a:rPr lang="en-IN" dirty="0"/>
              <a:t>       |  (Example: MySQL Driver)</a:t>
            </a:r>
          </a:p>
          <a:p>
            <a:r>
              <a:rPr lang="en-IN" dirty="0"/>
              <a:t>           +----------------------------------+</a:t>
            </a:r>
          </a:p>
          <a:p>
            <a:r>
              <a:rPr lang="en-IN" dirty="0"/>
              <a:t>                            </a:t>
            </a:r>
            <a:r>
              <a:rPr lang="en-IN" dirty="0" smtClean="0"/>
              <a:t>   |</a:t>
            </a:r>
            <a:endParaRPr lang="en-IN" dirty="0"/>
          </a:p>
          <a:p>
            <a:r>
              <a:rPr lang="en-IN" dirty="0"/>
              <a:t>              Implements Driver methods</a:t>
            </a:r>
          </a:p>
        </p:txBody>
      </p:sp>
    </p:spTree>
    <p:extLst>
      <p:ext uri="{BB962C8B-B14F-4D97-AF65-F5344CB8AC3E}">
        <p14:creationId xmlns:p14="http://schemas.microsoft.com/office/powerpoint/2010/main" val="42058665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772400" cy="1143000"/>
          </a:xfrm>
        </p:spPr>
        <p:txBody>
          <a:bodyPr/>
          <a:lstStyle/>
          <a:p>
            <a:r>
              <a:rPr lang="en-US" dirty="0" smtClean="0"/>
              <a:t>Responsibilities</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1484784"/>
            <a:ext cx="7772400" cy="4572000"/>
          </a:xfrm>
        </p:spPr>
        <p:txBody>
          <a:bodyPr/>
          <a:lstStyle/>
          <a:p>
            <a:r>
              <a:rPr lang="en-US" dirty="0"/>
              <a:t>Load Driver </a:t>
            </a:r>
            <a:r>
              <a:rPr lang="en-US" dirty="0" smtClean="0"/>
              <a:t>Classes - </a:t>
            </a:r>
            <a:r>
              <a:rPr lang="en-US" dirty="0" err="1"/>
              <a:t>Class.forName</a:t>
            </a:r>
            <a:r>
              <a:rPr lang="en-US" dirty="0"/>
              <a:t>()</a:t>
            </a:r>
          </a:p>
          <a:p>
            <a:r>
              <a:rPr lang="en-US" dirty="0"/>
              <a:t>Establish Connections</a:t>
            </a:r>
          </a:p>
          <a:p>
            <a:r>
              <a:rPr lang="en-US" dirty="0"/>
              <a:t>Check URL </a:t>
            </a:r>
            <a:r>
              <a:rPr lang="en-US" dirty="0" err="1"/>
              <a:t>CompatibilityProvide</a:t>
            </a:r>
            <a:r>
              <a:rPr lang="en-US" dirty="0"/>
              <a:t> Driver Metadata</a:t>
            </a:r>
          </a:p>
          <a:p>
            <a:r>
              <a:rPr lang="en-US" dirty="0"/>
              <a:t>Supports Auto-registration - In modern JDBC (4.0 and later), manual loading (</a:t>
            </a:r>
            <a:r>
              <a:rPr lang="en-US" dirty="0" err="1"/>
              <a:t>Class.forName</a:t>
            </a:r>
            <a:r>
              <a:rPr lang="en-US" dirty="0"/>
              <a:t>()) is often not required because the driver registers itself automatically using the Java Service Provider Interface (SPI).</a:t>
            </a:r>
            <a:endParaRPr lang="en-IN" dirty="0"/>
          </a:p>
        </p:txBody>
      </p:sp>
    </p:spTree>
    <p:extLst>
      <p:ext uri="{BB962C8B-B14F-4D97-AF65-F5344CB8AC3E}">
        <p14:creationId xmlns:p14="http://schemas.microsoft.com/office/powerpoint/2010/main" val="8254140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3001958528"/>
              </p:ext>
            </p:extLst>
          </p:nvPr>
        </p:nvGraphicFramePr>
        <p:xfrm>
          <a:off x="251520" y="908720"/>
          <a:ext cx="8715436" cy="4491518"/>
        </p:xfrm>
        <a:graphic>
          <a:graphicData uri="http://schemas.openxmlformats.org/drawingml/2006/table">
            <a:tbl>
              <a:tblPr firstRow="1" bandRow="1">
                <a:tableStyleId>{5940675A-B579-460E-94D1-54222C63F5DA}</a:tableStyleId>
              </a:tblPr>
              <a:tblGrid>
                <a:gridCol w="5045779"/>
                <a:gridCol w="3669657"/>
              </a:tblGrid>
              <a:tr h="559598">
                <a:tc>
                  <a:txBody>
                    <a:bodyPr/>
                    <a:lstStyle/>
                    <a:p>
                      <a:pPr algn="ctr"/>
                      <a:r>
                        <a:rPr lang="en-IN" b="1" dirty="0" smtClean="0"/>
                        <a:t>Method</a:t>
                      </a:r>
                      <a:endParaRPr lang="en-IN" b="1" dirty="0"/>
                    </a:p>
                  </a:txBody>
                  <a:tcPr/>
                </a:tc>
                <a:tc>
                  <a:txBody>
                    <a:bodyPr/>
                    <a:lstStyle/>
                    <a:p>
                      <a:pPr algn="ctr"/>
                      <a:r>
                        <a:rPr lang="en-IN" b="1" dirty="0" smtClean="0"/>
                        <a:t>Description</a:t>
                      </a:r>
                      <a:endParaRPr lang="en-IN" b="1" dirty="0"/>
                    </a:p>
                  </a:txBody>
                  <a:tcPr/>
                </a:tc>
              </a:tr>
              <a:tr h="559598">
                <a:tc>
                  <a:txBody>
                    <a:bodyPr/>
                    <a:lstStyle/>
                    <a:p>
                      <a:r>
                        <a:rPr lang="en-IN" sz="2400" dirty="0" smtClean="0"/>
                        <a:t>public </a:t>
                      </a:r>
                      <a:r>
                        <a:rPr lang="en-IN" sz="2400" dirty="0" err="1" smtClean="0"/>
                        <a:t>boolean</a:t>
                      </a:r>
                      <a:r>
                        <a:rPr lang="en-IN" sz="2400" dirty="0" smtClean="0"/>
                        <a:t> </a:t>
                      </a:r>
                      <a:r>
                        <a:rPr lang="en-IN" sz="2400" dirty="0" err="1" smtClean="0"/>
                        <a:t>acceptsURL</a:t>
                      </a:r>
                      <a:r>
                        <a:rPr lang="en-IN" sz="2400" dirty="0" smtClean="0"/>
                        <a:t>(String</a:t>
                      </a:r>
                      <a:r>
                        <a:rPr lang="en-IN" sz="2400" baseline="0" dirty="0" smtClean="0"/>
                        <a:t> </a:t>
                      </a:r>
                      <a:r>
                        <a:rPr lang="en-IN" sz="2400" baseline="0" dirty="0" err="1" smtClean="0"/>
                        <a:t>url</a:t>
                      </a:r>
                      <a:r>
                        <a:rPr lang="en-IN" sz="2400" baseline="0" dirty="0" smtClean="0"/>
                        <a:t>)</a:t>
                      </a:r>
                      <a:endParaRPr lang="en-IN" sz="2400" dirty="0"/>
                    </a:p>
                  </a:txBody>
                  <a:tcPr/>
                </a:tc>
                <a:tc>
                  <a:txBody>
                    <a:bodyPr/>
                    <a:lstStyle/>
                    <a:p>
                      <a:r>
                        <a:rPr lang="en-IN" sz="2000" dirty="0" smtClean="0"/>
                        <a:t>Checks whether the format of the given</a:t>
                      </a:r>
                      <a:r>
                        <a:rPr lang="en-IN" sz="2000" baseline="0" dirty="0" smtClean="0"/>
                        <a:t> URL is according to the format or not.</a:t>
                      </a:r>
                      <a:endParaRPr lang="en-IN" sz="2000" dirty="0"/>
                    </a:p>
                  </a:txBody>
                  <a:tcPr/>
                </a:tc>
              </a:tr>
              <a:tr h="559598">
                <a:tc>
                  <a:txBody>
                    <a:bodyPr/>
                    <a:lstStyle/>
                    <a:p>
                      <a:r>
                        <a:rPr lang="en-IN" sz="2400" u="none" dirty="0" smtClean="0">
                          <a:solidFill>
                            <a:schemeClr val="tx1"/>
                          </a:solidFill>
                        </a:rPr>
                        <a:t>public abstract Connection connect(String </a:t>
                      </a:r>
                      <a:r>
                        <a:rPr lang="en-IN" sz="2400" u="none" dirty="0" err="1" smtClean="0">
                          <a:solidFill>
                            <a:schemeClr val="tx1"/>
                          </a:solidFill>
                        </a:rPr>
                        <a:t>url</a:t>
                      </a:r>
                      <a:r>
                        <a:rPr lang="en-IN" sz="2400" u="none" dirty="0" smtClean="0">
                          <a:solidFill>
                            <a:schemeClr val="tx1"/>
                          </a:solidFill>
                        </a:rPr>
                        <a:t>, Properties info)</a:t>
                      </a:r>
                      <a:endParaRPr lang="en-IN" sz="2400" u="none" dirty="0">
                        <a:solidFill>
                          <a:schemeClr val="tx1"/>
                        </a:solidFill>
                      </a:endParaRPr>
                    </a:p>
                  </a:txBody>
                  <a:tcPr/>
                </a:tc>
                <a:tc>
                  <a:txBody>
                    <a:bodyPr/>
                    <a:lstStyle/>
                    <a:p>
                      <a:r>
                        <a:rPr kumimoji="0" lang="en-IN" sz="2000" b="0" i="0" kern="1200" dirty="0" smtClean="0">
                          <a:solidFill>
                            <a:schemeClr val="tx1"/>
                          </a:solidFill>
                          <a:latin typeface="+mn-lt"/>
                          <a:ea typeface="+mn-ea"/>
                          <a:cs typeface="+mn-cs"/>
                        </a:rPr>
                        <a:t>Try to make a database connection to the given URL.</a:t>
                      </a:r>
                      <a:endParaRPr lang="en-IN" sz="2000" dirty="0"/>
                    </a:p>
                  </a:txBody>
                  <a:tcPr/>
                </a:tc>
              </a:tr>
              <a:tr h="559598">
                <a:tc>
                  <a:txBody>
                    <a:bodyPr/>
                    <a:lstStyle/>
                    <a:p>
                      <a:r>
                        <a:rPr lang="en-IN" sz="2400" dirty="0" smtClean="0"/>
                        <a:t>public abstract </a:t>
                      </a:r>
                      <a:r>
                        <a:rPr lang="en-IN" sz="2400" dirty="0" err="1" smtClean="0"/>
                        <a:t>int</a:t>
                      </a:r>
                      <a:r>
                        <a:rPr lang="en-IN" sz="2400" dirty="0" smtClean="0"/>
                        <a:t> </a:t>
                      </a:r>
                      <a:r>
                        <a:rPr lang="en-IN" sz="2400" dirty="0" err="1" smtClean="0"/>
                        <a:t>getMajorVersion</a:t>
                      </a:r>
                      <a:r>
                        <a:rPr lang="en-IN" sz="2400" dirty="0" smtClean="0"/>
                        <a:t>()</a:t>
                      </a:r>
                      <a:endParaRPr lang="en-IN" sz="2400" dirty="0"/>
                    </a:p>
                  </a:txBody>
                  <a:tcPr/>
                </a:tc>
                <a:tc>
                  <a:txBody>
                    <a:bodyPr/>
                    <a:lstStyle/>
                    <a:p>
                      <a:r>
                        <a:rPr kumimoji="0" lang="en-IN" sz="2000" b="0" i="0" kern="1200" dirty="0" smtClean="0">
                          <a:solidFill>
                            <a:schemeClr val="tx1"/>
                          </a:solidFill>
                          <a:latin typeface="+mn-lt"/>
                          <a:ea typeface="+mn-ea"/>
                          <a:cs typeface="+mn-cs"/>
                        </a:rPr>
                        <a:t>Get the driver's major version number. </a:t>
                      </a:r>
                      <a:endParaRPr lang="en-IN" sz="2000" dirty="0"/>
                    </a:p>
                  </a:txBody>
                  <a:tcPr/>
                </a:tc>
              </a:tr>
              <a:tr h="559598">
                <a:tc>
                  <a:txBody>
                    <a:bodyPr/>
                    <a:lstStyle/>
                    <a:p>
                      <a:r>
                        <a:rPr lang="en-IN" sz="2400" dirty="0" smtClean="0"/>
                        <a:t>public abstract </a:t>
                      </a:r>
                      <a:r>
                        <a:rPr lang="en-IN" sz="2400" dirty="0" err="1" smtClean="0"/>
                        <a:t>int</a:t>
                      </a:r>
                      <a:r>
                        <a:rPr lang="en-IN" sz="2400" dirty="0" smtClean="0"/>
                        <a:t> </a:t>
                      </a:r>
                      <a:r>
                        <a:rPr lang="en-IN" sz="2400" dirty="0" err="1" smtClean="0"/>
                        <a:t>getMinorVersion</a:t>
                      </a:r>
                      <a:r>
                        <a:rPr lang="en-IN" sz="2400" dirty="0" smtClean="0"/>
                        <a:t>()</a:t>
                      </a:r>
                      <a:endParaRPr lang="en-IN" sz="2400" dirty="0"/>
                    </a:p>
                  </a:txBody>
                  <a:tcPr/>
                </a:tc>
                <a:tc>
                  <a:txBody>
                    <a:bodyPr/>
                    <a:lstStyle/>
                    <a:p>
                      <a:r>
                        <a:rPr kumimoji="0" lang="en-IN" sz="2000" b="0" i="0" kern="1200" dirty="0" smtClean="0">
                          <a:solidFill>
                            <a:schemeClr val="tx1"/>
                          </a:solidFill>
                          <a:latin typeface="+mn-lt"/>
                          <a:ea typeface="+mn-ea"/>
                          <a:cs typeface="+mn-cs"/>
                        </a:rPr>
                        <a:t>Get the driver's minor version number.</a:t>
                      </a:r>
                      <a:endParaRPr lang="en-IN" sz="2000" dirty="0"/>
                    </a:p>
                  </a:txBody>
                  <a:tcPr/>
                </a:tc>
              </a:tr>
              <a:tr h="559598">
                <a:tc>
                  <a:txBody>
                    <a:bodyPr/>
                    <a:lstStyle/>
                    <a:p>
                      <a:r>
                        <a:rPr lang="en-IN" sz="2400" dirty="0" smtClean="0"/>
                        <a:t>public abstract </a:t>
                      </a:r>
                      <a:r>
                        <a:rPr lang="en-IN" sz="2400" dirty="0" err="1" smtClean="0"/>
                        <a:t>boolean</a:t>
                      </a:r>
                      <a:r>
                        <a:rPr lang="en-IN" sz="2400" dirty="0" smtClean="0"/>
                        <a:t> </a:t>
                      </a:r>
                      <a:r>
                        <a:rPr lang="en-IN" sz="2400" dirty="0" err="1" smtClean="0"/>
                        <a:t>jdbcCompliant</a:t>
                      </a:r>
                      <a:r>
                        <a:rPr lang="en-IN" sz="2400" dirty="0" smtClean="0"/>
                        <a:t>()</a:t>
                      </a:r>
                      <a:endParaRPr lang="en-IN" sz="2400" dirty="0"/>
                    </a:p>
                  </a:txBody>
                  <a:tcPr/>
                </a:tc>
                <a:tc>
                  <a:txBody>
                    <a:bodyPr/>
                    <a:lstStyle/>
                    <a:p>
                      <a:r>
                        <a:rPr kumimoji="0" lang="en-IN" sz="2000" b="0" i="0" kern="1200" dirty="0" smtClean="0">
                          <a:solidFill>
                            <a:schemeClr val="tx1"/>
                          </a:solidFill>
                          <a:latin typeface="+mn-lt"/>
                          <a:ea typeface="+mn-ea"/>
                          <a:cs typeface="+mn-cs"/>
                        </a:rPr>
                        <a:t>Report whether the Driver is a genuine JDBC   driver or</a:t>
                      </a:r>
                      <a:r>
                        <a:rPr kumimoji="0" lang="en-IN" sz="2000" b="0" i="0" kern="1200" baseline="0" dirty="0" smtClean="0">
                          <a:solidFill>
                            <a:schemeClr val="tx1"/>
                          </a:solidFill>
                          <a:latin typeface="+mn-lt"/>
                          <a:ea typeface="+mn-ea"/>
                          <a:cs typeface="+mn-cs"/>
                        </a:rPr>
                        <a:t> not</a:t>
                      </a:r>
                      <a:r>
                        <a:rPr kumimoji="0" lang="en-IN" sz="2000" b="0" i="0" kern="1200" dirty="0" smtClean="0">
                          <a:solidFill>
                            <a:schemeClr val="tx1"/>
                          </a:solidFill>
                          <a:latin typeface="+mn-lt"/>
                          <a:ea typeface="+mn-ea"/>
                          <a:cs typeface="+mn-cs"/>
                        </a:rPr>
                        <a:t>.</a:t>
                      </a:r>
                      <a:endParaRPr lang="en-IN" sz="2000" dirty="0"/>
                    </a:p>
                  </a:txBody>
                  <a:tcPr/>
                </a:tc>
              </a:tr>
            </a:tbl>
          </a:graphicData>
        </a:graphic>
      </p:graphicFrame>
    </p:spTree>
    <p:extLst>
      <p:ext uri="{BB962C8B-B14F-4D97-AF65-F5344CB8AC3E}">
        <p14:creationId xmlns:p14="http://schemas.microsoft.com/office/powerpoint/2010/main" val="13446346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251520" y="548680"/>
            <a:ext cx="7772400" cy="4572000"/>
          </a:xfrm>
        </p:spPr>
        <p:txBody>
          <a:bodyPr/>
          <a:lstStyle/>
          <a:p>
            <a:r>
              <a:rPr lang="en-US" b="1" dirty="0"/>
              <a:t>Example JDBC Drivers Implementing Driver Interface</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042200446"/>
              </p:ext>
            </p:extLst>
          </p:nvPr>
        </p:nvGraphicFramePr>
        <p:xfrm>
          <a:off x="1043608" y="1916832"/>
          <a:ext cx="6048672" cy="2194560"/>
        </p:xfrm>
        <a:graphic>
          <a:graphicData uri="http://schemas.openxmlformats.org/drawingml/2006/table">
            <a:tbl>
              <a:tblPr>
                <a:tableStyleId>{616DA210-FB5B-4158-B5E0-FEB733F419BA}</a:tableStyleId>
              </a:tblPr>
              <a:tblGrid>
                <a:gridCol w="1344921"/>
                <a:gridCol w="4703751"/>
              </a:tblGrid>
              <a:tr h="0">
                <a:tc>
                  <a:txBody>
                    <a:bodyPr/>
                    <a:lstStyle/>
                    <a:p>
                      <a:r>
                        <a:rPr lang="en-IN" b="1" dirty="0"/>
                        <a:t>Database</a:t>
                      </a:r>
                    </a:p>
                  </a:txBody>
                  <a:tcPr anchor="ctr"/>
                </a:tc>
                <a:tc>
                  <a:txBody>
                    <a:bodyPr/>
                    <a:lstStyle/>
                    <a:p>
                      <a:r>
                        <a:rPr lang="en-IN" b="1" dirty="0"/>
                        <a:t>Driver Class</a:t>
                      </a:r>
                    </a:p>
                  </a:txBody>
                  <a:tcPr anchor="ctr"/>
                </a:tc>
              </a:tr>
              <a:tr h="0">
                <a:tc>
                  <a:txBody>
                    <a:bodyPr/>
                    <a:lstStyle/>
                    <a:p>
                      <a:r>
                        <a:rPr lang="en-IN"/>
                        <a:t>MySQL</a:t>
                      </a:r>
                    </a:p>
                  </a:txBody>
                  <a:tcPr anchor="ctr"/>
                </a:tc>
                <a:tc>
                  <a:txBody>
                    <a:bodyPr/>
                    <a:lstStyle/>
                    <a:p>
                      <a:r>
                        <a:rPr lang="en-IN" dirty="0" err="1"/>
                        <a:t>com.mysql.cj.jdbc.Driver</a:t>
                      </a:r>
                      <a:endParaRPr lang="en-IN" dirty="0"/>
                    </a:p>
                  </a:txBody>
                  <a:tcPr anchor="ctr"/>
                </a:tc>
              </a:tr>
              <a:tr h="0">
                <a:tc>
                  <a:txBody>
                    <a:bodyPr/>
                    <a:lstStyle/>
                    <a:p>
                      <a:r>
                        <a:rPr lang="en-IN"/>
                        <a:t>Oracle</a:t>
                      </a:r>
                    </a:p>
                  </a:txBody>
                  <a:tcPr anchor="ctr"/>
                </a:tc>
                <a:tc>
                  <a:txBody>
                    <a:bodyPr/>
                    <a:lstStyle/>
                    <a:p>
                      <a:r>
                        <a:rPr lang="en-IN"/>
                        <a:t>oracle.jdbc.OracleDriver</a:t>
                      </a:r>
                    </a:p>
                  </a:txBody>
                  <a:tcPr anchor="ctr"/>
                </a:tc>
              </a:tr>
              <a:tr h="0">
                <a:tc>
                  <a:txBody>
                    <a:bodyPr/>
                    <a:lstStyle/>
                    <a:p>
                      <a:r>
                        <a:rPr lang="en-IN"/>
                        <a:t>PostgreSQL</a:t>
                      </a:r>
                    </a:p>
                  </a:txBody>
                  <a:tcPr anchor="ctr"/>
                </a:tc>
                <a:tc>
                  <a:txBody>
                    <a:bodyPr/>
                    <a:lstStyle/>
                    <a:p>
                      <a:r>
                        <a:rPr lang="en-IN"/>
                        <a:t>org.postgresql.Driver</a:t>
                      </a:r>
                    </a:p>
                  </a:txBody>
                  <a:tcPr anchor="ctr"/>
                </a:tc>
              </a:tr>
              <a:tr h="0">
                <a:tc>
                  <a:txBody>
                    <a:bodyPr/>
                    <a:lstStyle/>
                    <a:p>
                      <a:r>
                        <a:rPr lang="en-IN"/>
                        <a:t>SQL Server</a:t>
                      </a:r>
                    </a:p>
                  </a:txBody>
                  <a:tcPr anchor="ctr"/>
                </a:tc>
                <a:tc>
                  <a:txBody>
                    <a:bodyPr/>
                    <a:lstStyle/>
                    <a:p>
                      <a:r>
                        <a:rPr lang="en-IN"/>
                        <a:t>com.microsoft.sqlserver.jdbc.SQLServerDriver</a:t>
                      </a:r>
                    </a:p>
                  </a:txBody>
                  <a:tcPr anchor="ctr"/>
                </a:tc>
              </a:tr>
              <a:tr h="0">
                <a:tc>
                  <a:txBody>
                    <a:bodyPr/>
                    <a:lstStyle/>
                    <a:p>
                      <a:r>
                        <a:rPr lang="en-IN" dirty="0"/>
                        <a:t>SQLite</a:t>
                      </a:r>
                    </a:p>
                  </a:txBody>
                  <a:tcPr anchor="ctr"/>
                </a:tc>
                <a:tc>
                  <a:txBody>
                    <a:bodyPr/>
                    <a:lstStyle/>
                    <a:p>
                      <a:r>
                        <a:rPr lang="en-IN" dirty="0" err="1"/>
                        <a:t>org.sqlite.JDBC</a:t>
                      </a:r>
                      <a:endParaRPr lang="en-IN" dirty="0"/>
                    </a:p>
                  </a:txBody>
                  <a:tcPr anchor="ctr"/>
                </a:tc>
              </a:tr>
            </a:tbl>
          </a:graphicData>
        </a:graphic>
      </p:graphicFrame>
    </p:spTree>
    <p:extLst>
      <p:ext uri="{BB962C8B-B14F-4D97-AF65-F5344CB8AC3E}">
        <p14:creationId xmlns:p14="http://schemas.microsoft.com/office/powerpoint/2010/main" val="4922447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92088"/>
          </a:xfrm>
        </p:spPr>
        <p:txBody>
          <a:bodyPr>
            <a:normAutofit fontScale="90000"/>
          </a:bodyPr>
          <a:lstStyle/>
          <a:p>
            <a:r>
              <a:rPr lang="en-US" dirty="0" smtClean="0"/>
              <a:t>Connection Interface - </a:t>
            </a:r>
            <a:r>
              <a:rPr lang="en-IN" sz="3100" dirty="0" err="1"/>
              <a:t>java.sql.Connection</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23528" y="1124744"/>
            <a:ext cx="8208912" cy="5040560"/>
          </a:xfrm>
        </p:spPr>
        <p:txBody>
          <a:bodyPr>
            <a:normAutofit/>
          </a:bodyPr>
          <a:lstStyle/>
          <a:p>
            <a:r>
              <a:rPr lang="en-US" dirty="0"/>
              <a:t>The </a:t>
            </a:r>
            <a:r>
              <a:rPr lang="en-US" b="1" dirty="0"/>
              <a:t>Connection interface</a:t>
            </a:r>
            <a:r>
              <a:rPr lang="en-US" dirty="0"/>
              <a:t> is one of the </a:t>
            </a:r>
            <a:r>
              <a:rPr lang="en-US" b="1" dirty="0"/>
              <a:t>core interfaces in the JDBC API (</a:t>
            </a:r>
            <a:r>
              <a:rPr lang="en-US" b="1" dirty="0" err="1"/>
              <a:t>java.sql</a:t>
            </a:r>
            <a:r>
              <a:rPr lang="en-US" b="1" dirty="0"/>
              <a:t> package</a:t>
            </a:r>
            <a:r>
              <a:rPr lang="en-US" b="1" dirty="0" smtClean="0"/>
              <a:t>)</a:t>
            </a:r>
            <a:r>
              <a:rPr lang="en-US" dirty="0" smtClean="0"/>
              <a:t>.</a:t>
            </a:r>
          </a:p>
          <a:p>
            <a:r>
              <a:rPr lang="en-US" dirty="0" smtClean="0"/>
              <a:t>It </a:t>
            </a:r>
            <a:r>
              <a:rPr lang="en-US" dirty="0"/>
              <a:t>represents an </a:t>
            </a:r>
            <a:r>
              <a:rPr lang="en-US" b="1" dirty="0"/>
              <a:t>active connection</a:t>
            </a:r>
            <a:r>
              <a:rPr lang="en-US" dirty="0"/>
              <a:t> between a Java application and a </a:t>
            </a:r>
            <a:r>
              <a:rPr lang="en-US" b="1" dirty="0"/>
              <a:t>database server</a:t>
            </a:r>
            <a:r>
              <a:rPr lang="en-US" dirty="0"/>
              <a:t>.</a:t>
            </a:r>
          </a:p>
          <a:p>
            <a:r>
              <a:rPr lang="en-US" dirty="0"/>
              <a:t>Once a connection is established, </a:t>
            </a:r>
            <a:r>
              <a:rPr lang="en-US" dirty="0" smtClean="0"/>
              <a:t>We </a:t>
            </a:r>
            <a:r>
              <a:rPr lang="en-US" dirty="0"/>
              <a:t>can use it </a:t>
            </a:r>
            <a:r>
              <a:rPr lang="en-US" dirty="0" smtClean="0"/>
              <a:t>to:</a:t>
            </a:r>
            <a:endParaRPr lang="en-US" dirty="0"/>
          </a:p>
          <a:p>
            <a:pPr lvl="1"/>
            <a:r>
              <a:rPr lang="en-US" dirty="0" smtClean="0"/>
              <a:t>To Execute </a:t>
            </a:r>
            <a:r>
              <a:rPr lang="en-US" dirty="0"/>
              <a:t>SQL queries - Creates Statement, </a:t>
            </a:r>
            <a:r>
              <a:rPr lang="en-US" dirty="0" err="1"/>
              <a:t>PreparedStatement</a:t>
            </a:r>
            <a:r>
              <a:rPr lang="en-US" dirty="0"/>
              <a:t>, and </a:t>
            </a:r>
            <a:r>
              <a:rPr lang="en-US" dirty="0" err="1"/>
              <a:t>CallableStatement</a:t>
            </a:r>
            <a:r>
              <a:rPr lang="en-US" dirty="0"/>
              <a:t> objects to execute SQL queries.</a:t>
            </a:r>
          </a:p>
          <a:p>
            <a:pPr lvl="1"/>
            <a:r>
              <a:rPr lang="en-US" dirty="0"/>
              <a:t>Manage transactions - Allows </a:t>
            </a:r>
            <a:r>
              <a:rPr lang="en-US" dirty="0" smtClean="0"/>
              <a:t>us </a:t>
            </a:r>
            <a:r>
              <a:rPr lang="en-US" dirty="0"/>
              <a:t>to commit or rollback transactions.</a:t>
            </a:r>
          </a:p>
          <a:p>
            <a:pPr lvl="1"/>
            <a:r>
              <a:rPr lang="en-US" dirty="0" smtClean="0"/>
              <a:t> Retrieve </a:t>
            </a:r>
            <a:r>
              <a:rPr lang="en-US" dirty="0"/>
              <a:t>database </a:t>
            </a:r>
            <a:r>
              <a:rPr lang="en-US" dirty="0" smtClean="0"/>
              <a:t>metadata –  </a:t>
            </a:r>
            <a:r>
              <a:rPr lang="en-IN" dirty="0" smtClean="0"/>
              <a:t>Provides </a:t>
            </a:r>
            <a:r>
              <a:rPr lang="en-IN" dirty="0"/>
              <a:t>database details using </a:t>
            </a:r>
            <a:r>
              <a:rPr lang="en-IN" dirty="0" err="1"/>
              <a:t>DatabaseMetaData</a:t>
            </a:r>
            <a:endParaRPr lang="en-US" dirty="0"/>
          </a:p>
          <a:p>
            <a:pPr lvl="1"/>
            <a:r>
              <a:rPr lang="en-US" dirty="0"/>
              <a:t>Manage </a:t>
            </a:r>
            <a:r>
              <a:rPr lang="en-US" dirty="0" err="1"/>
              <a:t>savepoints</a:t>
            </a:r>
            <a:r>
              <a:rPr lang="en-US" dirty="0"/>
              <a:t> and rollback operations</a:t>
            </a:r>
          </a:p>
          <a:p>
            <a:endParaRPr lang="en-IN"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648072"/>
          </a:xfrm>
        </p:spPr>
        <p:txBody>
          <a:bodyPr>
            <a:normAutofit fontScale="90000"/>
          </a:bodyPr>
          <a:lstStyle/>
          <a:p>
            <a:r>
              <a:rPr lang="en-US" dirty="0" smtClean="0"/>
              <a:t>Key Methods in Connection Interface </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532945599"/>
              </p:ext>
            </p:extLst>
          </p:nvPr>
        </p:nvGraphicFramePr>
        <p:xfrm>
          <a:off x="395536" y="980728"/>
          <a:ext cx="8496944" cy="5184576"/>
        </p:xfrm>
        <a:graphic>
          <a:graphicData uri="http://schemas.openxmlformats.org/drawingml/2006/table">
            <a:tbl>
              <a:tblPr/>
              <a:tblGrid>
                <a:gridCol w="3948075"/>
                <a:gridCol w="4548869"/>
              </a:tblGrid>
              <a:tr h="394834">
                <a:tc>
                  <a:txBody>
                    <a:bodyPr/>
                    <a:lstStyle/>
                    <a:p>
                      <a:r>
                        <a:rPr lang="en-IN" sz="2000" b="1" dirty="0"/>
                        <a:t>Method Signature</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dirty="0"/>
                        <a:t>Purpose</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186">
                <a:tc>
                  <a:txBody>
                    <a:bodyPr/>
                    <a:lstStyle/>
                    <a:p>
                      <a:r>
                        <a:rPr lang="en-IN" sz="2400" dirty="0"/>
                        <a:t>Statement </a:t>
                      </a:r>
                      <a:r>
                        <a:rPr lang="en-IN" sz="2400" dirty="0" err="1"/>
                        <a:t>createStatement</a:t>
                      </a:r>
                      <a:r>
                        <a:rPr lang="en-IN" sz="2400" dirty="0"/>
                        <a: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Creates a simple SQL statement.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296">
                <a:tc>
                  <a:txBody>
                    <a:bodyPr/>
                    <a:lstStyle/>
                    <a:p>
                      <a:r>
                        <a:rPr lang="en-IN" sz="2400" dirty="0" err="1"/>
                        <a:t>PreparedStatement</a:t>
                      </a:r>
                      <a:r>
                        <a:rPr lang="en-IN" sz="2400" dirty="0"/>
                        <a:t> </a:t>
                      </a:r>
                      <a:r>
                        <a:rPr lang="en-IN" sz="2400" dirty="0" err="1"/>
                        <a:t>prepareStatement</a:t>
                      </a:r>
                      <a:r>
                        <a:rPr lang="en-IN" sz="2400" dirty="0"/>
                        <a:t>(String </a:t>
                      </a:r>
                      <a:r>
                        <a:rPr lang="en-IN" sz="2400" dirty="0" err="1"/>
                        <a:t>sql</a:t>
                      </a:r>
                      <a:r>
                        <a:rPr lang="en-IN" sz="2400" dirty="0"/>
                        <a: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Creates a precompiled SQL statement.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296">
                <a:tc>
                  <a:txBody>
                    <a:bodyPr/>
                    <a:lstStyle/>
                    <a:p>
                      <a:r>
                        <a:rPr lang="en-IN" sz="2400" dirty="0" err="1"/>
                        <a:t>CallableStatement</a:t>
                      </a:r>
                      <a:r>
                        <a:rPr lang="en-IN" sz="2400" dirty="0"/>
                        <a:t> </a:t>
                      </a:r>
                      <a:r>
                        <a:rPr lang="en-IN" sz="2400" dirty="0" err="1" smtClean="0"/>
                        <a:t>prepareCall</a:t>
                      </a:r>
                      <a:r>
                        <a:rPr lang="en-IN" sz="2400" dirty="0" smtClean="0"/>
                        <a:t> (</a:t>
                      </a:r>
                      <a:r>
                        <a:rPr lang="en-IN" sz="2400" dirty="0"/>
                        <a:t>String </a:t>
                      </a:r>
                      <a:r>
                        <a:rPr lang="en-IN" sz="2400" dirty="0" err="1"/>
                        <a:t>sql</a:t>
                      </a:r>
                      <a:r>
                        <a:rPr lang="en-IN" sz="2400" dirty="0"/>
                        <a: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Creates a callable statement for stored procedures.</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186">
                <a:tc>
                  <a:txBody>
                    <a:bodyPr/>
                    <a:lstStyle/>
                    <a:p>
                      <a:r>
                        <a:rPr lang="en-IN" sz="2400" dirty="0"/>
                        <a:t>void commit()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Commits the current transaction.</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186">
                <a:tc>
                  <a:txBody>
                    <a:bodyPr/>
                    <a:lstStyle/>
                    <a:p>
                      <a:r>
                        <a:rPr lang="en-IN" sz="2400" dirty="0"/>
                        <a:t>void rollback()</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Rolls back the current transaction.</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296">
                <a:tc>
                  <a:txBody>
                    <a:bodyPr/>
                    <a:lstStyle/>
                    <a:p>
                      <a:r>
                        <a:rPr lang="en-IN" sz="2400" dirty="0"/>
                        <a:t>void </a:t>
                      </a:r>
                      <a:r>
                        <a:rPr lang="en-IN" sz="2400" dirty="0" err="1"/>
                        <a:t>setAutoCommit</a:t>
                      </a:r>
                      <a:r>
                        <a:rPr lang="en-IN" sz="2400" dirty="0"/>
                        <a:t>(</a:t>
                      </a:r>
                      <a:r>
                        <a:rPr lang="en-IN" sz="2400" dirty="0" err="1"/>
                        <a:t>boolean</a:t>
                      </a:r>
                      <a:r>
                        <a:rPr lang="en-IN" sz="2400" dirty="0"/>
                        <a:t> </a:t>
                      </a:r>
                      <a:r>
                        <a:rPr lang="en-IN" sz="2400" dirty="0" err="1"/>
                        <a:t>autoCommit</a:t>
                      </a:r>
                      <a:r>
                        <a:rPr lang="en-IN" sz="2400" dirty="0"/>
                        <a: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Enables/disables auto-commit mode.</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296">
                <a:tc>
                  <a:txBody>
                    <a:bodyPr/>
                    <a:lstStyle/>
                    <a:p>
                      <a:r>
                        <a:rPr lang="en-IN" sz="2400" dirty="0" err="1"/>
                        <a:t>boolean</a:t>
                      </a:r>
                      <a:r>
                        <a:rPr lang="en-IN" sz="2400" dirty="0"/>
                        <a:t> </a:t>
                      </a:r>
                      <a:r>
                        <a:rPr lang="en-IN" sz="2400" dirty="0" err="1"/>
                        <a:t>getAutoCommit</a:t>
                      </a:r>
                      <a:r>
                        <a:rPr lang="en-IN" sz="2400" dirty="0"/>
                        <a:t>()</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Checks whether auto-commit is enabled.</a:t>
                      </a:r>
                    </a:p>
                  </a:txBody>
                  <a:tcPr marL="63500" marR="63500" marT="31750" marB="317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92088"/>
          </a:xfrm>
        </p:spPr>
        <p:txBody>
          <a:bodyPr>
            <a:normAutofit fontScale="90000"/>
          </a:bodyPr>
          <a:lstStyle/>
          <a:p>
            <a:r>
              <a:rPr lang="en-US" dirty="0"/>
              <a:t>Key Methods in Connection Interface </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443230383"/>
              </p:ext>
            </p:extLst>
          </p:nvPr>
        </p:nvGraphicFramePr>
        <p:xfrm>
          <a:off x="395536" y="1268760"/>
          <a:ext cx="8568952" cy="4069080"/>
        </p:xfrm>
        <a:graphic>
          <a:graphicData uri="http://schemas.openxmlformats.org/drawingml/2006/table">
            <a:tbl>
              <a:tblPr>
                <a:tableStyleId>{5DA37D80-6434-44D0-A028-1B22A696006F}</a:tableStyleId>
              </a:tblPr>
              <a:tblGrid>
                <a:gridCol w="4284476"/>
                <a:gridCol w="4284476"/>
              </a:tblGrid>
              <a:tr h="254000">
                <a:tc>
                  <a:txBody>
                    <a:bodyPr/>
                    <a:lstStyle/>
                    <a:p>
                      <a:r>
                        <a:rPr kumimoji="0" lang="en-IN" sz="2400" kern="1200" dirty="0" err="1"/>
                        <a:t>DatabaseMetaData</a:t>
                      </a:r>
                      <a:r>
                        <a:rPr kumimoji="0" lang="en-IN" sz="2400" kern="1200" dirty="0"/>
                        <a:t> </a:t>
                      </a:r>
                      <a:r>
                        <a:rPr kumimoji="0" lang="en-IN" sz="2400" kern="1200" dirty="0" err="1"/>
                        <a:t>getMetaData</a:t>
                      </a:r>
                      <a:r>
                        <a:rPr kumimoji="0" lang="en-IN" sz="2400" kern="1200" dirty="0"/>
                        <a:t>()</a:t>
                      </a:r>
                      <a:endParaRPr kumimoji="0" lang="en-IN" sz="2400" kern="1200" dirty="0">
                        <a:solidFill>
                          <a:schemeClr val="tx1"/>
                        </a:solidFill>
                        <a:latin typeface="+mn-lt"/>
                        <a:ea typeface="+mn-ea"/>
                        <a:cs typeface="+mn-cs"/>
                      </a:endParaRPr>
                    </a:p>
                  </a:txBody>
                  <a:tcPr marL="63500" marR="63500" marT="31750" marB="31750" anchor="ctr"/>
                </a:tc>
                <a:tc>
                  <a:txBody>
                    <a:bodyPr/>
                    <a:lstStyle/>
                    <a:p>
                      <a:r>
                        <a:rPr kumimoji="0" lang="en-US" sz="2400" kern="1200"/>
                        <a:t>Retrieves metadata about the database.</a:t>
                      </a:r>
                      <a:endParaRPr kumimoji="0" lang="en-US" sz="2400" kern="1200">
                        <a:solidFill>
                          <a:schemeClr val="tx1"/>
                        </a:solidFill>
                        <a:latin typeface="+mn-lt"/>
                        <a:ea typeface="+mn-ea"/>
                        <a:cs typeface="+mn-cs"/>
                      </a:endParaRPr>
                    </a:p>
                  </a:txBody>
                  <a:tcPr marL="63500" marR="63500" marT="31750" marB="31750" anchor="ctr"/>
                </a:tc>
              </a:tr>
              <a:tr h="254000">
                <a:tc>
                  <a:txBody>
                    <a:bodyPr/>
                    <a:lstStyle/>
                    <a:p>
                      <a:r>
                        <a:rPr kumimoji="0" lang="en-IN" sz="2400" kern="1200" dirty="0" err="1"/>
                        <a:t>Savepoint</a:t>
                      </a:r>
                      <a:r>
                        <a:rPr kumimoji="0" lang="en-IN" sz="2400" kern="1200" dirty="0"/>
                        <a:t> </a:t>
                      </a:r>
                      <a:r>
                        <a:rPr kumimoji="0" lang="en-IN" sz="2400" kern="1200" dirty="0" err="1"/>
                        <a:t>setSavepoint</a:t>
                      </a:r>
                      <a:r>
                        <a:rPr kumimoji="0" lang="en-IN" sz="2400" kern="1200" dirty="0"/>
                        <a:t>()</a:t>
                      </a:r>
                      <a:endParaRPr kumimoji="0" lang="en-IN" sz="2400" kern="1200" dirty="0">
                        <a:solidFill>
                          <a:schemeClr val="tx1"/>
                        </a:solidFill>
                        <a:latin typeface="+mn-lt"/>
                        <a:ea typeface="+mn-ea"/>
                        <a:cs typeface="+mn-cs"/>
                      </a:endParaRPr>
                    </a:p>
                  </a:txBody>
                  <a:tcPr marL="63500" marR="63500" marT="31750" marB="31750" anchor="ctr"/>
                </a:tc>
                <a:tc>
                  <a:txBody>
                    <a:bodyPr/>
                    <a:lstStyle/>
                    <a:p>
                      <a:r>
                        <a:rPr kumimoji="0" lang="en-US" sz="2400" kern="1200" dirty="0"/>
                        <a:t>Creates a new </a:t>
                      </a:r>
                      <a:r>
                        <a:rPr kumimoji="0" lang="en-US" sz="2400" kern="1200" dirty="0" err="1"/>
                        <a:t>savepoint</a:t>
                      </a:r>
                      <a:r>
                        <a:rPr kumimoji="0" lang="en-US" sz="2400" kern="1200" dirty="0"/>
                        <a:t> in the transaction.</a:t>
                      </a:r>
                      <a:endParaRPr kumimoji="0" lang="en-US" sz="2400" kern="1200" dirty="0">
                        <a:solidFill>
                          <a:schemeClr val="tx1"/>
                        </a:solidFill>
                        <a:latin typeface="+mn-lt"/>
                        <a:ea typeface="+mn-ea"/>
                        <a:cs typeface="+mn-cs"/>
                      </a:endParaRPr>
                    </a:p>
                  </a:txBody>
                  <a:tcPr marL="63500" marR="63500" marT="31750" marB="31750" anchor="ctr"/>
                </a:tc>
              </a:tr>
              <a:tr h="254000">
                <a:tc>
                  <a:txBody>
                    <a:bodyPr/>
                    <a:lstStyle/>
                    <a:p>
                      <a:r>
                        <a:rPr kumimoji="0" lang="en-IN" sz="2400" kern="1200" dirty="0"/>
                        <a:t>void </a:t>
                      </a:r>
                      <a:r>
                        <a:rPr kumimoji="0" lang="en-IN" sz="2400" kern="1200" dirty="0" err="1"/>
                        <a:t>releaseSavepoint</a:t>
                      </a:r>
                      <a:r>
                        <a:rPr kumimoji="0" lang="en-IN" sz="2400" kern="1200" dirty="0"/>
                        <a:t>(</a:t>
                      </a:r>
                      <a:r>
                        <a:rPr kumimoji="0" lang="en-IN" sz="2400" kern="1200" dirty="0" err="1"/>
                        <a:t>Savepoint</a:t>
                      </a:r>
                      <a:r>
                        <a:rPr kumimoji="0" lang="en-IN" sz="2400" kern="1200" dirty="0"/>
                        <a:t> </a:t>
                      </a:r>
                      <a:r>
                        <a:rPr kumimoji="0" lang="en-IN" sz="2400" kern="1200" dirty="0" err="1"/>
                        <a:t>savepoint</a:t>
                      </a:r>
                      <a:r>
                        <a:rPr kumimoji="0" lang="en-IN" sz="2400" kern="1200" dirty="0"/>
                        <a:t>)</a:t>
                      </a:r>
                      <a:endParaRPr kumimoji="0" lang="en-IN" sz="2400" kern="1200" dirty="0">
                        <a:solidFill>
                          <a:schemeClr val="tx1"/>
                        </a:solidFill>
                        <a:latin typeface="+mn-lt"/>
                        <a:ea typeface="+mn-ea"/>
                        <a:cs typeface="+mn-cs"/>
                      </a:endParaRPr>
                    </a:p>
                  </a:txBody>
                  <a:tcPr marL="63500" marR="63500" marT="31750" marB="31750" anchor="ctr"/>
                </a:tc>
                <a:tc>
                  <a:txBody>
                    <a:bodyPr/>
                    <a:lstStyle/>
                    <a:p>
                      <a:r>
                        <a:rPr kumimoji="0" lang="en-US" sz="2400" kern="1200" dirty="0"/>
                        <a:t>Releases a previously defined </a:t>
                      </a:r>
                      <a:r>
                        <a:rPr kumimoji="0" lang="en-US" sz="2400" kern="1200" dirty="0" err="1"/>
                        <a:t>savepoint</a:t>
                      </a:r>
                      <a:r>
                        <a:rPr kumimoji="0" lang="en-US" sz="2400" kern="1200" dirty="0"/>
                        <a:t>.</a:t>
                      </a:r>
                      <a:endParaRPr kumimoji="0" lang="en-US" sz="2400" kern="1200" dirty="0">
                        <a:solidFill>
                          <a:schemeClr val="tx1"/>
                        </a:solidFill>
                        <a:latin typeface="+mn-lt"/>
                        <a:ea typeface="+mn-ea"/>
                        <a:cs typeface="+mn-cs"/>
                      </a:endParaRPr>
                    </a:p>
                  </a:txBody>
                  <a:tcPr marL="63500" marR="63500" marT="31750" marB="31750" anchor="ctr"/>
                </a:tc>
              </a:tr>
              <a:tr h="444500">
                <a:tc>
                  <a:txBody>
                    <a:bodyPr/>
                    <a:lstStyle/>
                    <a:p>
                      <a:r>
                        <a:rPr kumimoji="0" lang="en-IN" sz="2400" kern="1200" dirty="0"/>
                        <a:t>void rollback(</a:t>
                      </a:r>
                      <a:r>
                        <a:rPr kumimoji="0" lang="en-IN" sz="2400" kern="1200" dirty="0" err="1"/>
                        <a:t>Savepoint</a:t>
                      </a:r>
                      <a:r>
                        <a:rPr kumimoji="0" lang="en-IN" sz="2400" kern="1200" dirty="0"/>
                        <a:t> </a:t>
                      </a:r>
                      <a:r>
                        <a:rPr kumimoji="0" lang="en-IN" sz="2400" kern="1200" dirty="0" err="1"/>
                        <a:t>savepoint</a:t>
                      </a:r>
                      <a:r>
                        <a:rPr kumimoji="0" lang="en-IN" sz="2400" kern="1200" dirty="0"/>
                        <a:t>)</a:t>
                      </a:r>
                      <a:endParaRPr kumimoji="0" lang="en-IN" sz="2400" kern="1200" dirty="0">
                        <a:solidFill>
                          <a:schemeClr val="tx1"/>
                        </a:solidFill>
                        <a:latin typeface="+mn-lt"/>
                        <a:ea typeface="+mn-ea"/>
                        <a:cs typeface="+mn-cs"/>
                      </a:endParaRPr>
                    </a:p>
                  </a:txBody>
                  <a:tcPr marL="63500" marR="63500" marT="31750" marB="31750" anchor="ctr"/>
                </a:tc>
                <a:tc>
                  <a:txBody>
                    <a:bodyPr/>
                    <a:lstStyle/>
                    <a:p>
                      <a:r>
                        <a:rPr kumimoji="0" lang="en-US" sz="2400" kern="1200" dirty="0"/>
                        <a:t>Rolls back the transaction to a specific </a:t>
                      </a:r>
                      <a:r>
                        <a:rPr kumimoji="0" lang="en-US" sz="2400" kern="1200" dirty="0" err="1"/>
                        <a:t>savepoint</a:t>
                      </a:r>
                      <a:r>
                        <a:rPr kumimoji="0" lang="en-US" sz="2400" kern="1200" dirty="0"/>
                        <a:t>.</a:t>
                      </a:r>
                      <a:endParaRPr kumimoji="0" lang="en-US" sz="2400" kern="1200" dirty="0">
                        <a:solidFill>
                          <a:schemeClr val="tx1"/>
                        </a:solidFill>
                        <a:latin typeface="+mn-lt"/>
                        <a:ea typeface="+mn-ea"/>
                        <a:cs typeface="+mn-cs"/>
                      </a:endParaRPr>
                    </a:p>
                  </a:txBody>
                  <a:tcPr marL="63500" marR="63500" marT="31750" marB="31750" anchor="ctr"/>
                </a:tc>
              </a:tr>
              <a:tr h="444500">
                <a:tc>
                  <a:txBody>
                    <a:bodyPr/>
                    <a:lstStyle/>
                    <a:p>
                      <a:r>
                        <a:rPr lang="en-IN" sz="2400" dirty="0"/>
                        <a:t>void close()</a:t>
                      </a:r>
                    </a:p>
                  </a:txBody>
                  <a:tcPr marL="63500" marR="63500" marT="31750" marB="31750" anchor="ctr"/>
                </a:tc>
                <a:tc>
                  <a:txBody>
                    <a:bodyPr/>
                    <a:lstStyle/>
                    <a:p>
                      <a:r>
                        <a:rPr lang="en-IN" sz="2400" dirty="0"/>
                        <a:t>Closes the connection.</a:t>
                      </a:r>
                    </a:p>
                  </a:txBody>
                  <a:tcPr marL="63500" marR="63500" marT="31750" marB="31750" anchor="ctr"/>
                </a:tc>
              </a:tr>
              <a:tr h="444500">
                <a:tc>
                  <a:txBody>
                    <a:bodyPr/>
                    <a:lstStyle/>
                    <a:p>
                      <a:r>
                        <a:rPr lang="en-IN" sz="2400" dirty="0" err="1"/>
                        <a:t>boolean</a:t>
                      </a:r>
                      <a:r>
                        <a:rPr lang="en-IN" sz="2400" dirty="0"/>
                        <a:t> </a:t>
                      </a:r>
                      <a:r>
                        <a:rPr lang="en-IN" sz="2400" dirty="0" err="1"/>
                        <a:t>isClosed</a:t>
                      </a:r>
                      <a:r>
                        <a:rPr lang="en-IN" sz="2400" dirty="0"/>
                        <a:t>()</a:t>
                      </a:r>
                    </a:p>
                  </a:txBody>
                  <a:tcPr marL="63500" marR="63500" marT="31750" marB="31750" anchor="ctr"/>
                </a:tc>
                <a:tc>
                  <a:txBody>
                    <a:bodyPr/>
                    <a:lstStyle/>
                    <a:p>
                      <a:r>
                        <a:rPr lang="en-US" sz="2400" dirty="0"/>
                        <a:t>Checks if the connection is closed.</a:t>
                      </a:r>
                    </a:p>
                  </a:txBody>
                  <a:tcPr marL="63500" marR="63500" marT="31750" marB="31750" anchor="ct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864096"/>
          </a:xfrm>
        </p:spPr>
        <p:txBody>
          <a:bodyPr>
            <a:normAutofit/>
          </a:bodyPr>
          <a:lstStyle/>
          <a:p>
            <a:r>
              <a:rPr lang="en-US" sz="3200" dirty="0" smtClean="0"/>
              <a:t>Who will implement Connection interface</a:t>
            </a:r>
            <a:endParaRPr lang="en-IN"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395536" y="1196752"/>
            <a:ext cx="7776864" cy="3600400"/>
          </a:xfrm>
        </p:spPr>
        <p:txBody>
          <a:bodyPr/>
          <a:lstStyle/>
          <a:p>
            <a:r>
              <a:rPr lang="en-US" dirty="0" smtClean="0"/>
              <a:t>The </a:t>
            </a:r>
            <a:r>
              <a:rPr lang="en-US" b="1" dirty="0"/>
              <a:t>Connection interface</a:t>
            </a:r>
            <a:r>
              <a:rPr lang="en-US" dirty="0"/>
              <a:t> is part of the </a:t>
            </a:r>
            <a:r>
              <a:rPr lang="en-US" b="1" dirty="0"/>
              <a:t>JDBC API (</a:t>
            </a:r>
            <a:r>
              <a:rPr lang="en-US" b="1" dirty="0" err="1"/>
              <a:t>java.sql.Connection</a:t>
            </a:r>
            <a:r>
              <a:rPr lang="en-US" b="1" dirty="0"/>
              <a:t>)</a:t>
            </a:r>
            <a:r>
              <a:rPr lang="en-US" dirty="0"/>
              <a:t>, and </a:t>
            </a:r>
            <a:r>
              <a:rPr lang="en-US" b="1" dirty="0"/>
              <a:t>it is implemented by the JDBC driver vendors</a:t>
            </a:r>
            <a:r>
              <a:rPr lang="en-US" dirty="0"/>
              <a:t>, such as Oracle, MySQL, </a:t>
            </a:r>
            <a:r>
              <a:rPr lang="en-US" dirty="0" err="1"/>
              <a:t>PostgreSQL</a:t>
            </a:r>
            <a:r>
              <a:rPr lang="en-US" dirty="0"/>
              <a:t>, SQL Server, etc.</a:t>
            </a:r>
          </a:p>
          <a:p>
            <a:r>
              <a:rPr lang="en-US" dirty="0"/>
              <a:t>When you call </a:t>
            </a:r>
            <a:r>
              <a:rPr lang="en-US" dirty="0" err="1"/>
              <a:t>DriverManager.getConnection</a:t>
            </a:r>
            <a:r>
              <a:rPr lang="en-US" dirty="0" smtClean="0"/>
              <a:t>(), </a:t>
            </a:r>
            <a:r>
              <a:rPr lang="en-US" dirty="0"/>
              <a:t>the driver returns </a:t>
            </a:r>
            <a:r>
              <a:rPr lang="en-US" b="1" dirty="0"/>
              <a:t>its own implementation</a:t>
            </a:r>
            <a:r>
              <a:rPr lang="en-US" dirty="0"/>
              <a:t> of the Connection interface, which handles communication with the </a:t>
            </a:r>
            <a:r>
              <a:rPr lang="en-US" dirty="0" smtClean="0"/>
              <a:t> database</a:t>
            </a:r>
            <a:r>
              <a:rPr lang="en-US" dirty="0"/>
              <a:t>.</a:t>
            </a:r>
          </a:p>
          <a:p>
            <a:r>
              <a:rPr lang="en-US" dirty="0" smtClean="0"/>
              <a:t>Ex: </a:t>
            </a:r>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019186496"/>
              </p:ext>
            </p:extLst>
          </p:nvPr>
        </p:nvGraphicFramePr>
        <p:xfrm>
          <a:off x="827584" y="4509120"/>
          <a:ext cx="7772400" cy="731520"/>
        </p:xfrm>
        <a:graphic>
          <a:graphicData uri="http://schemas.openxmlformats.org/drawingml/2006/table">
            <a:tbl>
              <a:tblPr/>
              <a:tblGrid>
                <a:gridCol w="1152128"/>
                <a:gridCol w="2448272"/>
                <a:gridCol w="4172000"/>
              </a:tblGrid>
              <a:tr h="0">
                <a:tc>
                  <a:txBody>
                    <a:bodyPr/>
                    <a:lstStyle/>
                    <a:p>
                      <a:r>
                        <a:rPr lang="en-IN" b="1" dirty="0"/>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Driver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Connection Implementation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MySQL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com.mysql.cj.jdbc.Driver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com.mysql.cj.jdbc.ConnectionImpl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ectangle 6"/>
          <p:cNvSpPr/>
          <p:nvPr/>
        </p:nvSpPr>
        <p:spPr>
          <a:xfrm>
            <a:off x="899592" y="5733256"/>
            <a:ext cx="4792402" cy="369332"/>
          </a:xfrm>
          <a:prstGeom prst="rect">
            <a:avLst/>
          </a:prstGeom>
        </p:spPr>
        <p:txBody>
          <a:bodyPr wrap="none">
            <a:spAutoFit/>
          </a:bodyPr>
          <a:lstStyle/>
          <a:p>
            <a:r>
              <a:rPr lang="en-IN" u="sng" dirty="0" smtClean="0"/>
              <a:t>Ex ProgramConnectionInterfaceImplementorClass.java</a:t>
            </a:r>
            <a:endParaRPr lang="en-IN"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7772400" cy="782960"/>
          </a:xfrm>
        </p:spPr>
        <p:txBody>
          <a:bodyPr/>
          <a:lstStyle/>
          <a:p>
            <a:r>
              <a:rPr lang="en-US" dirty="0" smtClean="0"/>
              <a:t>Statement Interface</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23528" y="1196752"/>
            <a:ext cx="7772400" cy="4572000"/>
          </a:xfrm>
        </p:spPr>
        <p:txBody>
          <a:bodyPr/>
          <a:lstStyle/>
          <a:p>
            <a:r>
              <a:rPr lang="en-US" sz="2000" dirty="0"/>
              <a:t>The </a:t>
            </a:r>
            <a:r>
              <a:rPr lang="en-US" sz="2000" b="1" dirty="0"/>
              <a:t>Statement interface</a:t>
            </a:r>
            <a:r>
              <a:rPr lang="en-US" sz="2000" dirty="0"/>
              <a:t> in </a:t>
            </a:r>
            <a:r>
              <a:rPr lang="en-US" sz="2000" b="1" dirty="0"/>
              <a:t>JDBC (</a:t>
            </a:r>
            <a:r>
              <a:rPr lang="en-US" sz="2000" b="1" dirty="0" err="1"/>
              <a:t>java.sql</a:t>
            </a:r>
            <a:r>
              <a:rPr lang="en-US" sz="2000" b="1" dirty="0"/>
              <a:t> package)</a:t>
            </a:r>
            <a:r>
              <a:rPr lang="en-US" sz="2000" dirty="0"/>
              <a:t> is used to </a:t>
            </a:r>
            <a:r>
              <a:rPr lang="en-US" sz="2000" b="1" dirty="0"/>
              <a:t>execute SQL queries against a database</a:t>
            </a:r>
            <a:r>
              <a:rPr lang="en-US" sz="2000" dirty="0" smtClean="0"/>
              <a:t>.</a:t>
            </a:r>
          </a:p>
          <a:p>
            <a:r>
              <a:rPr lang="en-US" sz="2000" dirty="0"/>
              <a:t> </a:t>
            </a:r>
            <a:r>
              <a:rPr lang="en-US" sz="2000" dirty="0" smtClean="0"/>
              <a:t>It </a:t>
            </a:r>
            <a:r>
              <a:rPr lang="en-US" sz="2000" dirty="0"/>
              <a:t>is one of the primary interfaces to send SQL statements (queries, updates, and DDL commands) from a Java application to a relational database</a:t>
            </a:r>
            <a:r>
              <a:rPr lang="en-US" sz="2000" dirty="0" smtClean="0"/>
              <a:t>.</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99419699"/>
              </p:ext>
            </p:extLst>
          </p:nvPr>
        </p:nvGraphicFramePr>
        <p:xfrm>
          <a:off x="539552" y="2636912"/>
          <a:ext cx="7772400" cy="3017520"/>
        </p:xfrm>
        <a:graphic>
          <a:graphicData uri="http://schemas.openxmlformats.org/drawingml/2006/table">
            <a:tbl>
              <a:tblPr/>
              <a:tblGrid>
                <a:gridCol w="2880320"/>
                <a:gridCol w="4892080"/>
              </a:tblGrid>
              <a:tr h="0">
                <a:tc>
                  <a:txBody>
                    <a:bodyPr/>
                    <a:lstStyle/>
                    <a:p>
                      <a:pPr algn="ctr"/>
                      <a:r>
                        <a:rPr lang="en-IN"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Execute SQL Queries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Executes static SQL queries (SELECT, INSERT, UPDATE, DELETE).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Execute DDL Commands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Executes schema-related SQL commands (CREATE, DROP, ALTER).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Execute Batch Queries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Supports executing multiple SQL queries as a </a:t>
                      </a:r>
                      <a:r>
                        <a:rPr lang="en-US" dirty="0" smtClean="0"/>
                        <a:t>batch</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Retrieve Results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Returns ResultSet objects for queries like SELECT.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Supports Simple Statements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Suitable for SQL statements without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064896" cy="648072"/>
          </a:xfrm>
        </p:spPr>
        <p:txBody>
          <a:bodyPr>
            <a:normAutofit fontScale="90000"/>
          </a:bodyPr>
          <a:lstStyle/>
          <a:p>
            <a:r>
              <a:rPr lang="en-US" dirty="0" smtClean="0"/>
              <a:t>Key Methods</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027290611"/>
              </p:ext>
            </p:extLst>
          </p:nvPr>
        </p:nvGraphicFramePr>
        <p:xfrm>
          <a:off x="395536" y="836712"/>
          <a:ext cx="8496944" cy="5402936"/>
        </p:xfrm>
        <a:graphic>
          <a:graphicData uri="http://schemas.openxmlformats.org/drawingml/2006/table">
            <a:tbl>
              <a:tblPr/>
              <a:tblGrid>
                <a:gridCol w="2808312"/>
                <a:gridCol w="5688632"/>
              </a:tblGrid>
              <a:tr h="381686">
                <a:tc>
                  <a:txBody>
                    <a:bodyPr/>
                    <a:lstStyle/>
                    <a:p>
                      <a:pPr algn="ctr"/>
                      <a:r>
                        <a:rPr lang="en-IN" sz="1600" b="1" dirty="0"/>
                        <a:t>Method Signature</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a:t>Purpose</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dirty="0" err="1"/>
                        <a:t>ResultSet</a:t>
                      </a:r>
                      <a:r>
                        <a:rPr lang="en-IN" sz="1800" dirty="0"/>
                        <a:t> </a:t>
                      </a:r>
                      <a:r>
                        <a:rPr lang="en-IN" sz="1800" dirty="0" err="1" smtClean="0"/>
                        <a:t>executeQuery</a:t>
                      </a:r>
                      <a:r>
                        <a:rPr lang="en-IN" sz="1800" dirty="0" smtClean="0"/>
                        <a:t>(String </a:t>
                      </a:r>
                      <a:r>
                        <a:rPr lang="en-IN" sz="1800" dirty="0" err="1"/>
                        <a:t>sql</a:t>
                      </a:r>
                      <a:r>
                        <a:rPr lang="en-IN"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Executes a </a:t>
                      </a:r>
                      <a:r>
                        <a:rPr lang="en-US" sz="1800" b="1" dirty="0"/>
                        <a:t>SELECT</a:t>
                      </a:r>
                      <a:r>
                        <a:rPr lang="en-US" sz="1800" dirty="0"/>
                        <a:t> query and returns a </a:t>
                      </a:r>
                      <a:r>
                        <a:rPr lang="en-US" sz="1800" dirty="0" err="1"/>
                        <a:t>ResultSet</a:t>
                      </a:r>
                      <a:r>
                        <a:rPr lang="en-US"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dirty="0" err="1"/>
                        <a:t>int</a:t>
                      </a:r>
                      <a:r>
                        <a:rPr lang="en-IN" sz="1800" dirty="0"/>
                        <a:t> </a:t>
                      </a:r>
                      <a:r>
                        <a:rPr lang="en-IN" sz="1800" dirty="0" err="1"/>
                        <a:t>executeUpdate</a:t>
                      </a:r>
                      <a:r>
                        <a:rPr lang="en-IN" sz="1800" dirty="0"/>
                        <a:t>(String </a:t>
                      </a:r>
                      <a:r>
                        <a:rPr lang="en-IN" sz="1800" dirty="0" err="1"/>
                        <a:t>sql</a:t>
                      </a:r>
                      <a:r>
                        <a:rPr lang="en-IN"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Executes </a:t>
                      </a:r>
                      <a:r>
                        <a:rPr lang="en-US" sz="1800" b="1" dirty="0"/>
                        <a:t>INSERT, UPDATE, </a:t>
                      </a:r>
                      <a:r>
                        <a:rPr lang="en-US" sz="1800" b="1" dirty="0" smtClean="0"/>
                        <a:t>DELETE</a:t>
                      </a:r>
                      <a:r>
                        <a:rPr lang="en-US" sz="1800" dirty="0" smtClean="0"/>
                        <a:t> </a:t>
                      </a:r>
                      <a:r>
                        <a:rPr lang="en-US" sz="1800" dirty="0"/>
                        <a:t>returns affected rows.</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dirty="0" err="1"/>
                        <a:t>boolean</a:t>
                      </a:r>
                      <a:r>
                        <a:rPr lang="en-IN" sz="1800" dirty="0"/>
                        <a:t> execute(String </a:t>
                      </a:r>
                      <a:r>
                        <a:rPr lang="en-IN" sz="1800" dirty="0" err="1"/>
                        <a:t>sql</a:t>
                      </a:r>
                      <a:r>
                        <a:rPr lang="en-IN"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Executes any SQL command. Returns true if it produces a </a:t>
                      </a:r>
                      <a:r>
                        <a:rPr lang="en-US" sz="1800" dirty="0" err="1"/>
                        <a:t>ResultSet</a:t>
                      </a:r>
                      <a:r>
                        <a:rPr lang="en-US"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a:t>void close()</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Closes the statement and releases resources.</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4008">
                <a:tc>
                  <a:txBody>
                    <a:bodyPr/>
                    <a:lstStyle/>
                    <a:p>
                      <a:r>
                        <a:rPr lang="en-IN" sz="1800"/>
                        <a:t>void addBatch(String sql)</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Adds SQL commands to a batch.</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dirty="0" err="1"/>
                        <a:t>int</a:t>
                      </a:r>
                      <a:r>
                        <a:rPr lang="en-IN" sz="1800" dirty="0"/>
                        <a:t>[] </a:t>
                      </a:r>
                      <a:r>
                        <a:rPr lang="en-IN" sz="1800" dirty="0" err="1"/>
                        <a:t>executeBatch</a:t>
                      </a:r>
                      <a:r>
                        <a:rPr lang="en-IN" sz="1800" dirty="0"/>
                        <a: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Executes all SQL commands added in the batch.</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a:t>void clearBatch()</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Clears the current batch of SQL commands.</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dirty="0"/>
                        <a:t>void </a:t>
                      </a:r>
                      <a:r>
                        <a:rPr lang="en-IN" sz="1800" dirty="0" err="1"/>
                        <a:t>setMaxRows</a:t>
                      </a:r>
                      <a:r>
                        <a:rPr lang="en-IN" sz="1800" dirty="0"/>
                        <a:t>(</a:t>
                      </a:r>
                      <a:r>
                        <a:rPr lang="en-IN" sz="1800" dirty="0" err="1"/>
                        <a:t>int</a:t>
                      </a:r>
                      <a:r>
                        <a:rPr lang="en-IN" sz="1800" dirty="0"/>
                        <a:t> max)</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Limits the number of rows a </a:t>
                      </a:r>
                      <a:r>
                        <a:rPr lang="en-US" sz="1800" dirty="0" err="1"/>
                        <a:t>ResultSet</a:t>
                      </a:r>
                      <a:r>
                        <a:rPr lang="en-US" sz="1800" dirty="0"/>
                        <a:t> can return.</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8861">
                <a:tc>
                  <a:txBody>
                    <a:bodyPr/>
                    <a:lstStyle/>
                    <a:p>
                      <a:r>
                        <a:rPr lang="en-IN" sz="1800"/>
                        <a:t>Connection getConnection()</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Gets the Connection that created this statement.</a:t>
                      </a:r>
                    </a:p>
                  </a:txBody>
                  <a:tcPr marL="78828" marR="78828" marT="39414" marB="394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8290" name="Rectangle 2"/>
          <p:cNvSpPr>
            <a:spLocks noGrp="1" noChangeArrowheads="1"/>
          </p:cNvSpPr>
          <p:nvPr>
            <p:ph type="title"/>
          </p:nvPr>
        </p:nvSpPr>
        <p:spPr>
          <a:xfrm>
            <a:off x="346971" y="260648"/>
            <a:ext cx="7772400" cy="710853"/>
          </a:xfrm>
        </p:spPr>
        <p:txBody>
          <a:bodyPr>
            <a:normAutofit fontScale="90000"/>
          </a:bodyPr>
          <a:lstStyle/>
          <a:p>
            <a:r>
              <a:rPr lang="en-US" altLang="zh-TW" sz="4000" dirty="0">
                <a:ea typeface="PMingLiU" pitchFamily="18" charset="-120"/>
              </a:rPr>
              <a:t>A Simple JDBC application</a:t>
            </a:r>
          </a:p>
        </p:txBody>
      </p:sp>
      <p:sp>
        <p:nvSpPr>
          <p:cNvPr id="1548291" name="Rectangle 3"/>
          <p:cNvSpPr>
            <a:spLocks noChangeArrowheads="1"/>
          </p:cNvSpPr>
          <p:nvPr/>
        </p:nvSpPr>
        <p:spPr bwMode="auto">
          <a:xfrm>
            <a:off x="725488" y="16637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loadDriver</a:t>
            </a:r>
          </a:p>
        </p:txBody>
      </p:sp>
      <p:sp>
        <p:nvSpPr>
          <p:cNvPr id="1548292" name="Rectangle 4"/>
          <p:cNvSpPr>
            <a:spLocks noChangeArrowheads="1"/>
          </p:cNvSpPr>
          <p:nvPr/>
        </p:nvSpPr>
        <p:spPr bwMode="auto">
          <a:xfrm>
            <a:off x="725488" y="21971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getConnection</a:t>
            </a:r>
          </a:p>
        </p:txBody>
      </p:sp>
      <p:sp>
        <p:nvSpPr>
          <p:cNvPr id="1548293" name="Rectangle 5"/>
          <p:cNvSpPr>
            <a:spLocks noChangeArrowheads="1"/>
          </p:cNvSpPr>
          <p:nvPr/>
        </p:nvSpPr>
        <p:spPr bwMode="auto">
          <a:xfrm>
            <a:off x="725488" y="27305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createStatement</a:t>
            </a:r>
          </a:p>
        </p:txBody>
      </p:sp>
      <p:sp>
        <p:nvSpPr>
          <p:cNvPr id="1548294" name="Freeform 6"/>
          <p:cNvSpPr>
            <a:spLocks/>
          </p:cNvSpPr>
          <p:nvPr/>
        </p:nvSpPr>
        <p:spPr bwMode="auto">
          <a:xfrm>
            <a:off x="1409700" y="1966913"/>
            <a:ext cx="1588" cy="230187"/>
          </a:xfrm>
          <a:custGeom>
            <a:avLst/>
            <a:gdLst/>
            <a:ahLst/>
            <a:cxnLst>
              <a:cxn ang="0">
                <a:pos x="0" y="0"/>
              </a:cxn>
              <a:cxn ang="0">
                <a:pos x="0" y="144"/>
              </a:cxn>
            </a:cxnLst>
            <a:rect l="0" t="0" r="r" b="b"/>
            <a:pathLst>
              <a:path w="1" h="145">
                <a:moveTo>
                  <a:pt x="0" y="0"/>
                </a:moveTo>
                <a:lnTo>
                  <a:pt x="0" y="144"/>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295" name="Freeform 7"/>
          <p:cNvSpPr>
            <a:spLocks/>
          </p:cNvSpPr>
          <p:nvPr/>
        </p:nvSpPr>
        <p:spPr bwMode="auto">
          <a:xfrm>
            <a:off x="1409700" y="2500313"/>
            <a:ext cx="1588" cy="230187"/>
          </a:xfrm>
          <a:custGeom>
            <a:avLst/>
            <a:gdLst/>
            <a:ahLst/>
            <a:cxnLst>
              <a:cxn ang="0">
                <a:pos x="0" y="0"/>
              </a:cxn>
              <a:cxn ang="0">
                <a:pos x="0" y="144"/>
              </a:cxn>
            </a:cxnLst>
            <a:rect l="0" t="0" r="r" b="b"/>
            <a:pathLst>
              <a:path w="1" h="145">
                <a:moveTo>
                  <a:pt x="0" y="0"/>
                </a:moveTo>
                <a:lnTo>
                  <a:pt x="0" y="144"/>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296" name="Rectangle 8"/>
          <p:cNvSpPr>
            <a:spLocks noChangeArrowheads="1"/>
          </p:cNvSpPr>
          <p:nvPr/>
        </p:nvSpPr>
        <p:spPr bwMode="auto">
          <a:xfrm>
            <a:off x="725488" y="32639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execute(SQL)</a:t>
            </a:r>
          </a:p>
        </p:txBody>
      </p:sp>
      <p:sp>
        <p:nvSpPr>
          <p:cNvPr id="1548297" name="Freeform 9"/>
          <p:cNvSpPr>
            <a:spLocks/>
          </p:cNvSpPr>
          <p:nvPr/>
        </p:nvSpPr>
        <p:spPr bwMode="auto">
          <a:xfrm>
            <a:off x="1409700" y="3033713"/>
            <a:ext cx="1588" cy="230187"/>
          </a:xfrm>
          <a:custGeom>
            <a:avLst/>
            <a:gdLst/>
            <a:ahLst/>
            <a:cxnLst>
              <a:cxn ang="0">
                <a:pos x="0" y="0"/>
              </a:cxn>
              <a:cxn ang="0">
                <a:pos x="0" y="144"/>
              </a:cxn>
            </a:cxnLst>
            <a:rect l="0" t="0" r="r" b="b"/>
            <a:pathLst>
              <a:path w="1" h="145">
                <a:moveTo>
                  <a:pt x="0" y="0"/>
                </a:moveTo>
                <a:lnTo>
                  <a:pt x="0" y="144"/>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298" name="Rectangle 10"/>
          <p:cNvSpPr>
            <a:spLocks noChangeArrowheads="1"/>
          </p:cNvSpPr>
          <p:nvPr/>
        </p:nvSpPr>
        <p:spPr bwMode="auto">
          <a:xfrm>
            <a:off x="725488" y="37973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Result handling</a:t>
            </a:r>
          </a:p>
        </p:txBody>
      </p:sp>
      <p:sp>
        <p:nvSpPr>
          <p:cNvPr id="1548299" name="Freeform 11"/>
          <p:cNvSpPr>
            <a:spLocks/>
          </p:cNvSpPr>
          <p:nvPr/>
        </p:nvSpPr>
        <p:spPr bwMode="auto">
          <a:xfrm>
            <a:off x="1409700" y="3567113"/>
            <a:ext cx="1588" cy="230187"/>
          </a:xfrm>
          <a:custGeom>
            <a:avLst/>
            <a:gdLst/>
            <a:ahLst/>
            <a:cxnLst>
              <a:cxn ang="0">
                <a:pos x="0" y="0"/>
              </a:cxn>
              <a:cxn ang="0">
                <a:pos x="0" y="144"/>
              </a:cxn>
            </a:cxnLst>
            <a:rect l="0" t="0" r="r" b="b"/>
            <a:pathLst>
              <a:path w="1" h="145">
                <a:moveTo>
                  <a:pt x="0" y="0"/>
                </a:moveTo>
                <a:lnTo>
                  <a:pt x="0" y="144"/>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300" name="AutoShape 12"/>
          <p:cNvSpPr>
            <a:spLocks noChangeArrowheads="1"/>
          </p:cNvSpPr>
          <p:nvPr/>
        </p:nvSpPr>
        <p:spPr bwMode="auto">
          <a:xfrm>
            <a:off x="801688" y="4483100"/>
            <a:ext cx="1216025" cy="682625"/>
          </a:xfrm>
          <a:prstGeom prst="diamond">
            <a:avLst/>
          </a:prstGeom>
          <a:solidFill>
            <a:srgbClr val="FFFFFF"/>
          </a:solid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More</a:t>
            </a:r>
          </a:p>
          <a:p>
            <a:pPr algn="ctr" eaLnBrk="1" hangingPunct="1"/>
            <a:r>
              <a:rPr kumimoji="0" lang="en-US" altLang="zh-TW" sz="1400">
                <a:latin typeface="Times New Roman" pitchFamily="18" charset="0"/>
                <a:ea typeface="PMingLiU" pitchFamily="18" charset="-120"/>
              </a:rPr>
              <a:t>results ?</a:t>
            </a:r>
          </a:p>
        </p:txBody>
      </p:sp>
      <p:sp>
        <p:nvSpPr>
          <p:cNvPr id="1548301" name="Freeform 13"/>
          <p:cNvSpPr>
            <a:spLocks/>
          </p:cNvSpPr>
          <p:nvPr/>
        </p:nvSpPr>
        <p:spPr bwMode="auto">
          <a:xfrm>
            <a:off x="1409700" y="4100513"/>
            <a:ext cx="1588" cy="382587"/>
          </a:xfrm>
          <a:custGeom>
            <a:avLst/>
            <a:gdLst/>
            <a:ahLst/>
            <a:cxnLst>
              <a:cxn ang="0">
                <a:pos x="0" y="0"/>
              </a:cxn>
              <a:cxn ang="0">
                <a:pos x="0" y="240"/>
              </a:cxn>
            </a:cxnLst>
            <a:rect l="0" t="0" r="r" b="b"/>
            <a:pathLst>
              <a:path w="1" h="241">
                <a:moveTo>
                  <a:pt x="0" y="0"/>
                </a:moveTo>
                <a:lnTo>
                  <a:pt x="0" y="240"/>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302" name="Rectangle 14"/>
          <p:cNvSpPr>
            <a:spLocks noChangeArrowheads="1"/>
          </p:cNvSpPr>
          <p:nvPr/>
        </p:nvSpPr>
        <p:spPr bwMode="auto">
          <a:xfrm>
            <a:off x="725488" y="54737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closeStatment</a:t>
            </a:r>
          </a:p>
        </p:txBody>
      </p:sp>
      <p:sp>
        <p:nvSpPr>
          <p:cNvPr id="1548303" name="Rectangle 15"/>
          <p:cNvSpPr>
            <a:spLocks noChangeArrowheads="1"/>
          </p:cNvSpPr>
          <p:nvPr/>
        </p:nvSpPr>
        <p:spPr bwMode="auto">
          <a:xfrm>
            <a:off x="725488" y="6007100"/>
            <a:ext cx="1368425" cy="301625"/>
          </a:xfrm>
          <a:prstGeom prst="rect">
            <a:avLst/>
          </a:prstGeom>
          <a:noFill/>
          <a:ln w="12700">
            <a:solidFill>
              <a:schemeClr val="tx1"/>
            </a:solidFill>
            <a:miter lim="800000"/>
            <a:headEnd/>
            <a:tailEnd/>
          </a:ln>
          <a:effectLst/>
        </p:spPr>
        <p:txBody>
          <a:bodyPr wrap="none" lIns="92075" tIns="46038" rIns="92075" bIns="46038" anchor="ctr"/>
          <a:lstStyle/>
          <a:p>
            <a:pPr algn="ctr" eaLnBrk="1" hangingPunct="1"/>
            <a:r>
              <a:rPr kumimoji="0" lang="en-US" altLang="zh-TW" sz="1400">
                <a:latin typeface="Times New Roman" pitchFamily="18" charset="0"/>
                <a:ea typeface="PMingLiU" pitchFamily="18" charset="-120"/>
              </a:rPr>
              <a:t>closeConnection</a:t>
            </a:r>
          </a:p>
        </p:txBody>
      </p:sp>
      <p:sp>
        <p:nvSpPr>
          <p:cNvPr id="1548304" name="Freeform 16"/>
          <p:cNvSpPr>
            <a:spLocks/>
          </p:cNvSpPr>
          <p:nvPr/>
        </p:nvSpPr>
        <p:spPr bwMode="auto">
          <a:xfrm>
            <a:off x="1409700" y="5167313"/>
            <a:ext cx="1588" cy="306387"/>
          </a:xfrm>
          <a:custGeom>
            <a:avLst/>
            <a:gdLst/>
            <a:ahLst/>
            <a:cxnLst>
              <a:cxn ang="0">
                <a:pos x="0" y="0"/>
              </a:cxn>
              <a:cxn ang="0">
                <a:pos x="0" y="192"/>
              </a:cxn>
            </a:cxnLst>
            <a:rect l="0" t="0" r="r" b="b"/>
            <a:pathLst>
              <a:path w="1" h="193">
                <a:moveTo>
                  <a:pt x="0" y="0"/>
                </a:moveTo>
                <a:lnTo>
                  <a:pt x="0" y="192"/>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305" name="Freeform 17"/>
          <p:cNvSpPr>
            <a:spLocks/>
          </p:cNvSpPr>
          <p:nvPr/>
        </p:nvSpPr>
        <p:spPr bwMode="auto">
          <a:xfrm>
            <a:off x="1409700" y="5776913"/>
            <a:ext cx="1588" cy="230187"/>
          </a:xfrm>
          <a:custGeom>
            <a:avLst/>
            <a:gdLst/>
            <a:ahLst/>
            <a:cxnLst>
              <a:cxn ang="0">
                <a:pos x="0" y="0"/>
              </a:cxn>
              <a:cxn ang="0">
                <a:pos x="0" y="144"/>
              </a:cxn>
            </a:cxnLst>
            <a:rect l="0" t="0" r="r" b="b"/>
            <a:pathLst>
              <a:path w="1" h="145">
                <a:moveTo>
                  <a:pt x="0" y="0"/>
                </a:moveTo>
                <a:lnTo>
                  <a:pt x="0" y="144"/>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306" name="Freeform 18"/>
          <p:cNvSpPr>
            <a:spLocks/>
          </p:cNvSpPr>
          <p:nvPr/>
        </p:nvSpPr>
        <p:spPr bwMode="auto">
          <a:xfrm>
            <a:off x="496888" y="3933825"/>
            <a:ext cx="304800" cy="892175"/>
          </a:xfrm>
          <a:custGeom>
            <a:avLst/>
            <a:gdLst/>
            <a:ahLst/>
            <a:cxnLst>
              <a:cxn ang="0">
                <a:pos x="192" y="888"/>
              </a:cxn>
              <a:cxn ang="0">
                <a:pos x="0" y="888"/>
              </a:cxn>
              <a:cxn ang="0">
                <a:pos x="0" y="0"/>
              </a:cxn>
              <a:cxn ang="0">
                <a:pos x="144" y="0"/>
              </a:cxn>
            </a:cxnLst>
            <a:rect l="0" t="0" r="r" b="b"/>
            <a:pathLst>
              <a:path w="193" h="889">
                <a:moveTo>
                  <a:pt x="192" y="888"/>
                </a:moveTo>
                <a:lnTo>
                  <a:pt x="0" y="888"/>
                </a:lnTo>
                <a:lnTo>
                  <a:pt x="0" y="0"/>
                </a:lnTo>
                <a:lnTo>
                  <a:pt x="144" y="0"/>
                </a:lnTo>
              </a:path>
            </a:pathLst>
          </a:custGeom>
          <a:noFill/>
          <a:ln w="12700" cap="rnd" cmpd="sng">
            <a:solidFill>
              <a:schemeClr val="tx1"/>
            </a:solidFill>
            <a:prstDash val="solid"/>
            <a:round/>
            <a:headEnd type="none" w="sm" len="sm"/>
            <a:tailEnd type="stealth" w="med" len="med"/>
          </a:ln>
          <a:effectLst/>
        </p:spPr>
        <p:txBody>
          <a:bodyPr/>
          <a:lstStyle/>
          <a:p>
            <a:endParaRPr lang="en-IN"/>
          </a:p>
        </p:txBody>
      </p:sp>
      <p:sp>
        <p:nvSpPr>
          <p:cNvPr id="1548307" name="Rectangle 19"/>
          <p:cNvSpPr>
            <a:spLocks noChangeArrowheads="1"/>
          </p:cNvSpPr>
          <p:nvPr/>
        </p:nvSpPr>
        <p:spPr bwMode="auto">
          <a:xfrm>
            <a:off x="928688" y="5157788"/>
            <a:ext cx="457200" cy="304800"/>
          </a:xfrm>
          <a:prstGeom prst="rect">
            <a:avLst/>
          </a:prstGeom>
          <a:noFill/>
          <a:ln w="9525">
            <a:noFill/>
            <a:miter lim="800000"/>
            <a:headEnd/>
            <a:tailEnd/>
          </a:ln>
          <a:effectLst/>
        </p:spPr>
        <p:txBody>
          <a:bodyPr lIns="92075" tIns="46038" rIns="92075" bIns="46038">
            <a:spAutoFit/>
          </a:bodyPr>
          <a:lstStyle/>
          <a:p>
            <a:pPr algn="ctr" eaLnBrk="1" hangingPunct="1">
              <a:spcBef>
                <a:spcPct val="50000"/>
              </a:spcBef>
            </a:pPr>
            <a:r>
              <a:rPr kumimoji="0" lang="en-US" altLang="zh-TW" sz="1400">
                <a:latin typeface="Times New Roman" pitchFamily="18" charset="0"/>
                <a:ea typeface="PMingLiU" pitchFamily="18" charset="-120"/>
              </a:rPr>
              <a:t>no</a:t>
            </a:r>
          </a:p>
        </p:txBody>
      </p:sp>
      <p:sp>
        <p:nvSpPr>
          <p:cNvPr id="1548308" name="Rectangle 20"/>
          <p:cNvSpPr>
            <a:spLocks noChangeArrowheads="1"/>
          </p:cNvSpPr>
          <p:nvPr/>
        </p:nvSpPr>
        <p:spPr bwMode="auto">
          <a:xfrm>
            <a:off x="92075" y="4437063"/>
            <a:ext cx="457200" cy="304800"/>
          </a:xfrm>
          <a:prstGeom prst="rect">
            <a:avLst/>
          </a:prstGeom>
          <a:noFill/>
          <a:ln w="9525">
            <a:noFill/>
            <a:miter lim="800000"/>
            <a:headEnd/>
            <a:tailEnd/>
          </a:ln>
          <a:effectLst/>
        </p:spPr>
        <p:txBody>
          <a:bodyPr lIns="92075" tIns="46038" rIns="92075" bIns="46038">
            <a:spAutoFit/>
          </a:bodyPr>
          <a:lstStyle/>
          <a:p>
            <a:pPr algn="ctr" eaLnBrk="1" hangingPunct="1">
              <a:spcBef>
                <a:spcPct val="50000"/>
              </a:spcBef>
            </a:pPr>
            <a:r>
              <a:rPr kumimoji="0" lang="en-US" altLang="zh-TW" sz="1400">
                <a:latin typeface="Times New Roman" pitchFamily="18" charset="0"/>
                <a:ea typeface="PMingLiU" pitchFamily="18" charset="-120"/>
              </a:rPr>
              <a:t>yes</a:t>
            </a:r>
          </a:p>
        </p:txBody>
      </p:sp>
      <p:sp>
        <p:nvSpPr>
          <p:cNvPr id="1548309" name="Rectangle 21"/>
          <p:cNvSpPr>
            <a:spLocks noChangeArrowheads="1"/>
          </p:cNvSpPr>
          <p:nvPr/>
        </p:nvSpPr>
        <p:spPr bwMode="auto">
          <a:xfrm>
            <a:off x="2324100" y="1052512"/>
            <a:ext cx="6705600" cy="4572000"/>
          </a:xfrm>
          <a:prstGeom prst="rect">
            <a:avLst/>
          </a:prstGeom>
          <a:noFill/>
          <a:ln w="9525">
            <a:noFill/>
            <a:miter lim="800000"/>
            <a:headEnd/>
            <a:tailEnd/>
          </a:ln>
          <a:effectLst/>
        </p:spPr>
        <p:txBody>
          <a:bodyPr lIns="92075" tIns="46038" rIns="92075" bIns="46038"/>
          <a:lstStyle/>
          <a:p>
            <a:pPr marL="342900" indent="-342900" eaLnBrk="1" hangingPunct="1">
              <a:spcBef>
                <a:spcPct val="20000"/>
              </a:spcBef>
            </a:pPr>
            <a:r>
              <a:rPr kumimoji="0" lang="en-US" altLang="zh-TW" dirty="0">
                <a:latin typeface="Times New Roman" pitchFamily="18" charset="0"/>
                <a:ea typeface="PMingLiU" pitchFamily="18" charset="-120"/>
              </a:rPr>
              <a:t>import java.sql.*;</a:t>
            </a:r>
          </a:p>
          <a:p>
            <a:pPr marL="342900" indent="-342900" eaLnBrk="1" hangingPunct="1">
              <a:spcBef>
                <a:spcPct val="20000"/>
              </a:spcBef>
            </a:pPr>
            <a:r>
              <a:rPr kumimoji="0" lang="en-US" altLang="zh-TW" dirty="0">
                <a:latin typeface="Times New Roman" pitchFamily="18" charset="0"/>
                <a:ea typeface="PMingLiU" pitchFamily="18" charset="-120"/>
              </a:rPr>
              <a:t>public class </a:t>
            </a:r>
            <a:r>
              <a:rPr kumimoji="0" lang="en-US" altLang="zh-TW" dirty="0" err="1">
                <a:latin typeface="Times New Roman" pitchFamily="18" charset="0"/>
                <a:ea typeface="PMingLiU" pitchFamily="18" charset="-120"/>
              </a:rPr>
              <a:t>jdbctest</a:t>
            </a:r>
            <a:r>
              <a:rPr kumimoji="0" lang="en-US" altLang="zh-TW" dirty="0">
                <a:latin typeface="Times New Roman" pitchFamily="18" charset="0"/>
                <a:ea typeface="PMingLiU" pitchFamily="18" charset="-120"/>
              </a:rPr>
              <a:t> {</a:t>
            </a:r>
          </a:p>
          <a:p>
            <a:pPr marL="342900" indent="-342900" eaLnBrk="1" hangingPunct="1">
              <a:spcBef>
                <a:spcPct val="20000"/>
              </a:spcBef>
            </a:pPr>
            <a:r>
              <a:rPr kumimoji="0" lang="en-US" altLang="zh-TW" dirty="0">
                <a:latin typeface="Times New Roman" pitchFamily="18" charset="0"/>
                <a:ea typeface="PMingLiU" pitchFamily="18" charset="-120"/>
              </a:rPr>
              <a:t>  public static void main(String </a:t>
            </a:r>
            <a:r>
              <a:rPr kumimoji="0" lang="en-US" altLang="zh-TW" dirty="0" err="1">
                <a:latin typeface="Times New Roman" pitchFamily="18" charset="0"/>
                <a:ea typeface="PMingLiU" pitchFamily="18" charset="-120"/>
              </a:rPr>
              <a:t>args</a:t>
            </a:r>
            <a:r>
              <a:rPr kumimoji="0" lang="en-US" altLang="zh-TW" dirty="0">
                <a:latin typeface="Times New Roman" pitchFamily="18" charset="0"/>
                <a:ea typeface="PMingLiU" pitchFamily="18" charset="-120"/>
              </a:rPr>
              <a:t>[]){</a:t>
            </a:r>
          </a:p>
          <a:p>
            <a:pPr marL="342900" indent="-342900" eaLnBrk="1" hangingPunct="1">
              <a:spcBef>
                <a:spcPct val="20000"/>
              </a:spcBef>
            </a:pPr>
            <a:r>
              <a:rPr kumimoji="0" lang="en-US" altLang="zh-TW" dirty="0">
                <a:latin typeface="Times New Roman" pitchFamily="18" charset="0"/>
                <a:ea typeface="PMingLiU" pitchFamily="18" charset="-120"/>
              </a:rPr>
              <a:t>	try{</a:t>
            </a:r>
          </a:p>
          <a:p>
            <a:pPr marL="342900" indent="-342900">
              <a:spcBef>
                <a:spcPct val="20000"/>
              </a:spcBef>
            </a:pPr>
            <a:r>
              <a:rPr kumimoji="0" lang="en-US" altLang="zh-TW" dirty="0">
                <a:latin typeface="Times New Roman" pitchFamily="18" charset="0"/>
                <a:ea typeface="PMingLiU" pitchFamily="18" charset="-120"/>
              </a:rPr>
              <a:t>	  </a:t>
            </a:r>
            <a:r>
              <a:rPr kumimoji="0" lang="en-US" altLang="zh-TW" dirty="0" err="1">
                <a:latin typeface="Times New Roman" pitchFamily="18" charset="0"/>
                <a:ea typeface="PMingLiU" pitchFamily="18" charset="-120"/>
              </a:rPr>
              <a:t>Class.forName</a:t>
            </a:r>
            <a:r>
              <a:rPr lang="en-US" altLang="zh-TW" dirty="0" smtClean="0">
                <a:latin typeface="Times New Roman" pitchFamily="18" charset="0"/>
                <a:ea typeface="PMingLiU" pitchFamily="18" charset="-120"/>
              </a:rPr>
              <a:t>("</a:t>
            </a:r>
            <a:r>
              <a:rPr lang="en-US" altLang="zh-TW" dirty="0" err="1" smtClean="0">
                <a:latin typeface="Times New Roman" pitchFamily="18" charset="0"/>
                <a:ea typeface="PMingLiU" pitchFamily="18" charset="-120"/>
              </a:rPr>
              <a:t>com.mysql.jdbc.Driver</a:t>
            </a:r>
            <a:r>
              <a:rPr lang="en-US" altLang="zh-TW" dirty="0" smtClean="0">
                <a:latin typeface="Times New Roman" pitchFamily="18" charset="0"/>
                <a:ea typeface="PMingLiU" pitchFamily="18" charset="-120"/>
              </a:rPr>
              <a:t>");</a:t>
            </a:r>
            <a:endParaRPr kumimoji="0" lang="en-US" altLang="zh-TW" dirty="0">
              <a:latin typeface="Times New Roman" pitchFamily="18" charset="0"/>
              <a:ea typeface="PMingLiU" pitchFamily="18" charset="-120"/>
            </a:endParaRPr>
          </a:p>
          <a:p>
            <a:pPr marL="342900" indent="-342900" eaLnBrk="1" hangingPunct="1">
              <a:spcBef>
                <a:spcPct val="20000"/>
              </a:spcBef>
            </a:pPr>
            <a:r>
              <a:rPr kumimoji="0" lang="en-US" altLang="zh-TW" dirty="0">
                <a:latin typeface="Times New Roman" pitchFamily="18" charset="0"/>
                <a:ea typeface="PMingLiU" pitchFamily="18" charset="-120"/>
              </a:rPr>
              <a:t>	  Connection con = </a:t>
            </a:r>
            <a:r>
              <a:rPr kumimoji="0" lang="en-US" altLang="zh-TW" dirty="0" err="1">
                <a:latin typeface="Times New Roman" pitchFamily="18" charset="0"/>
                <a:ea typeface="PMingLiU" pitchFamily="18" charset="-120"/>
              </a:rPr>
              <a:t>DriverManager.getConnection</a:t>
            </a:r>
            <a:endParaRPr kumimoji="0" lang="en-US" altLang="zh-TW" dirty="0">
              <a:latin typeface="Times New Roman" pitchFamily="18" charset="0"/>
              <a:ea typeface="PMingLiU" pitchFamily="18" charset="-120"/>
            </a:endParaRPr>
          </a:p>
          <a:p>
            <a:pPr marL="342900" indent="-342900">
              <a:spcBef>
                <a:spcPct val="20000"/>
              </a:spcBef>
            </a:pPr>
            <a:r>
              <a:rPr kumimoji="0" lang="en-US" altLang="zh-TW" dirty="0">
                <a:latin typeface="Times New Roman" pitchFamily="18" charset="0"/>
                <a:ea typeface="PMingLiU" pitchFamily="18" charset="-120"/>
              </a:rPr>
              <a:t>	      </a:t>
            </a:r>
            <a:r>
              <a:rPr lang="en-US" altLang="zh-TW" dirty="0" smtClean="0">
                <a:latin typeface="Times New Roman" pitchFamily="18" charset="0"/>
                <a:ea typeface="PMingLiU" pitchFamily="18" charset="-120"/>
              </a:rPr>
              <a:t>("</a:t>
            </a:r>
            <a:r>
              <a:rPr lang="en-US" altLang="zh-TW" dirty="0" err="1" smtClean="0">
                <a:latin typeface="Times New Roman" pitchFamily="18" charset="0"/>
                <a:ea typeface="PMingLiU" pitchFamily="18" charset="-120"/>
              </a:rPr>
              <a:t>jdbc:mysql</a:t>
            </a:r>
            <a:r>
              <a:rPr lang="en-US" altLang="zh-TW" dirty="0" smtClean="0">
                <a:latin typeface="Times New Roman" pitchFamily="18" charset="0"/>
                <a:ea typeface="PMingLiU" pitchFamily="18" charset="-120"/>
              </a:rPr>
              <a:t>://localhost:3306/JDBC?”, </a:t>
            </a:r>
            <a:r>
              <a:rPr kumimoji="0" lang="en-US" altLang="zh-TW" dirty="0" smtClean="0">
                <a:latin typeface="Times New Roman" pitchFamily="18" charset="0"/>
                <a:ea typeface="PMingLiU" pitchFamily="18" charset="-120"/>
              </a:rPr>
              <a:t>“root", “admin@123");</a:t>
            </a:r>
            <a:endParaRPr kumimoji="0" lang="en-US" altLang="zh-TW" dirty="0">
              <a:latin typeface="Times New Roman" pitchFamily="18" charset="0"/>
              <a:ea typeface="PMingLiU" pitchFamily="18" charset="-120"/>
            </a:endParaRPr>
          </a:p>
          <a:p>
            <a:pPr marL="342900" indent="-342900" eaLnBrk="1" hangingPunct="1">
              <a:spcBef>
                <a:spcPct val="20000"/>
              </a:spcBef>
            </a:pPr>
            <a:r>
              <a:rPr kumimoji="0" lang="en-US" altLang="zh-TW" dirty="0">
                <a:latin typeface="Times New Roman" pitchFamily="18" charset="0"/>
                <a:ea typeface="PMingLiU" pitchFamily="18" charset="-120"/>
              </a:rPr>
              <a:t>	  Statement stmt = </a:t>
            </a:r>
            <a:r>
              <a:rPr kumimoji="0" lang="en-US" altLang="zh-TW" dirty="0" err="1">
                <a:latin typeface="Times New Roman" pitchFamily="18" charset="0"/>
                <a:ea typeface="PMingLiU" pitchFamily="18" charset="-120"/>
              </a:rPr>
              <a:t>con.createStatement</a:t>
            </a:r>
            <a:r>
              <a:rPr kumimoji="0" lang="en-US" altLang="zh-TW" dirty="0">
                <a:latin typeface="Times New Roman" pitchFamily="18" charset="0"/>
                <a:ea typeface="PMingLiU" pitchFamily="18" charset="-120"/>
              </a:rPr>
              <a:t>();</a:t>
            </a:r>
          </a:p>
          <a:p>
            <a:pPr marL="342900" indent="-342900" eaLnBrk="1" hangingPunct="1">
              <a:spcBef>
                <a:spcPct val="20000"/>
              </a:spcBef>
            </a:pPr>
            <a:r>
              <a:rPr kumimoji="0" lang="en-US" altLang="zh-TW" dirty="0">
                <a:latin typeface="Times New Roman" pitchFamily="18" charset="0"/>
                <a:ea typeface="PMingLiU" pitchFamily="18" charset="-120"/>
              </a:rPr>
              <a:t>	  </a:t>
            </a:r>
            <a:r>
              <a:rPr kumimoji="0" lang="en-US" altLang="zh-TW" dirty="0" err="1">
                <a:latin typeface="Times New Roman" pitchFamily="18" charset="0"/>
                <a:ea typeface="PMingLiU" pitchFamily="18" charset="-120"/>
              </a:rPr>
              <a:t>ResultSet</a:t>
            </a:r>
            <a:r>
              <a:rPr kumimoji="0" lang="en-US" altLang="zh-TW" dirty="0">
                <a:latin typeface="Times New Roman" pitchFamily="18" charset="0"/>
                <a:ea typeface="PMingLiU" pitchFamily="18" charset="-120"/>
              </a:rPr>
              <a:t> </a:t>
            </a:r>
            <a:r>
              <a:rPr kumimoji="0" lang="en-US" altLang="zh-TW" dirty="0" err="1">
                <a:latin typeface="Times New Roman" pitchFamily="18" charset="0"/>
                <a:ea typeface="PMingLiU" pitchFamily="18" charset="-120"/>
              </a:rPr>
              <a:t>rs</a:t>
            </a:r>
            <a:r>
              <a:rPr kumimoji="0" lang="en-US" altLang="zh-TW" dirty="0">
                <a:latin typeface="Times New Roman" pitchFamily="18" charset="0"/>
                <a:ea typeface="PMingLiU" pitchFamily="18" charset="-120"/>
              </a:rPr>
              <a:t> = </a:t>
            </a:r>
            <a:r>
              <a:rPr kumimoji="0" lang="en-US" altLang="zh-TW" dirty="0" err="1">
                <a:latin typeface="Times New Roman" pitchFamily="18" charset="0"/>
                <a:ea typeface="PMingLiU" pitchFamily="18" charset="-120"/>
              </a:rPr>
              <a:t>stmt.executeQuery</a:t>
            </a:r>
            <a:endParaRPr kumimoji="0" lang="en-US" altLang="zh-TW" dirty="0">
              <a:latin typeface="Times New Roman" pitchFamily="18" charset="0"/>
              <a:ea typeface="PMingLiU" pitchFamily="18" charset="-120"/>
            </a:endParaRPr>
          </a:p>
          <a:p>
            <a:pPr marL="342900" indent="-342900" eaLnBrk="1" hangingPunct="1">
              <a:spcBef>
                <a:spcPct val="20000"/>
              </a:spcBef>
            </a:pPr>
            <a:r>
              <a:rPr kumimoji="0" lang="en-US" altLang="zh-TW" dirty="0">
                <a:latin typeface="Times New Roman" pitchFamily="18" charset="0"/>
                <a:ea typeface="PMingLiU" pitchFamily="18" charset="-120"/>
              </a:rPr>
              <a:t>	      ("select </a:t>
            </a:r>
            <a:r>
              <a:rPr kumimoji="0" lang="en-US" altLang="zh-TW" dirty="0" err="1" smtClean="0">
                <a:latin typeface="Times New Roman" pitchFamily="18" charset="0"/>
                <a:ea typeface="PMingLiU" pitchFamily="18" charset="-120"/>
              </a:rPr>
              <a:t>no,name</a:t>
            </a:r>
            <a:r>
              <a:rPr kumimoji="0" lang="en-US" altLang="zh-TW" dirty="0" smtClean="0">
                <a:latin typeface="Times New Roman" pitchFamily="18" charset="0"/>
                <a:ea typeface="PMingLiU" pitchFamily="18" charset="-120"/>
              </a:rPr>
              <a:t> </a:t>
            </a:r>
            <a:r>
              <a:rPr kumimoji="0" lang="en-US" altLang="zh-TW" dirty="0">
                <a:latin typeface="Times New Roman" pitchFamily="18" charset="0"/>
                <a:ea typeface="PMingLiU" pitchFamily="18" charset="-120"/>
              </a:rPr>
              <a:t>from </a:t>
            </a:r>
            <a:r>
              <a:rPr kumimoji="0" lang="en-US" altLang="zh-TW" dirty="0" smtClean="0">
                <a:latin typeface="Times New Roman" pitchFamily="18" charset="0"/>
                <a:ea typeface="PMingLiU" pitchFamily="18" charset="-120"/>
              </a:rPr>
              <a:t>EMP </a:t>
            </a:r>
            <a:r>
              <a:rPr kumimoji="0" lang="en-US" altLang="zh-TW" dirty="0">
                <a:latin typeface="Times New Roman" pitchFamily="18" charset="0"/>
                <a:ea typeface="PMingLiU" pitchFamily="18" charset="-120"/>
              </a:rPr>
              <a:t>where </a:t>
            </a:r>
            <a:r>
              <a:rPr kumimoji="0" lang="en-US" altLang="zh-TW" dirty="0" smtClean="0">
                <a:latin typeface="Times New Roman" pitchFamily="18" charset="0"/>
                <a:ea typeface="PMingLiU" pitchFamily="18" charset="-120"/>
              </a:rPr>
              <a:t>name=‘SURESH’);</a:t>
            </a:r>
            <a:endParaRPr kumimoji="0" lang="en-US" altLang="zh-TW" dirty="0">
              <a:latin typeface="Times New Roman" pitchFamily="18" charset="0"/>
              <a:ea typeface="PMingLiU" pitchFamily="18" charset="-120"/>
            </a:endParaRPr>
          </a:p>
          <a:p>
            <a:pPr marL="342900" indent="-342900" eaLnBrk="1" hangingPunct="1">
              <a:spcBef>
                <a:spcPct val="20000"/>
              </a:spcBef>
            </a:pPr>
            <a:r>
              <a:rPr kumimoji="0" lang="en-US" altLang="zh-TW" dirty="0">
                <a:latin typeface="Times New Roman" pitchFamily="18" charset="0"/>
                <a:ea typeface="PMingLiU" pitchFamily="18" charset="-120"/>
              </a:rPr>
              <a:t>	  while(</a:t>
            </a:r>
            <a:r>
              <a:rPr kumimoji="0" lang="en-US" altLang="zh-TW" dirty="0" err="1">
                <a:latin typeface="Times New Roman" pitchFamily="18" charset="0"/>
                <a:ea typeface="PMingLiU" pitchFamily="18" charset="-120"/>
              </a:rPr>
              <a:t>rs.next</a:t>
            </a:r>
            <a:r>
              <a:rPr kumimoji="0" lang="en-US" altLang="zh-TW" dirty="0">
                <a:latin typeface="Times New Roman" pitchFamily="18" charset="0"/>
                <a:ea typeface="PMingLiU" pitchFamily="18" charset="-120"/>
              </a:rPr>
              <a:t>())</a:t>
            </a:r>
          </a:p>
          <a:p>
            <a:pPr marL="342900" indent="-342900" eaLnBrk="1" hangingPunct="1">
              <a:spcBef>
                <a:spcPct val="20000"/>
              </a:spcBef>
            </a:pPr>
            <a:r>
              <a:rPr kumimoji="0" lang="en-US" altLang="zh-TW" dirty="0">
                <a:latin typeface="Times New Roman" pitchFamily="18" charset="0"/>
                <a:ea typeface="PMingLiU" pitchFamily="18" charset="-120"/>
              </a:rPr>
              <a:t>		</a:t>
            </a:r>
            <a:r>
              <a:rPr kumimoji="0" lang="en-US" altLang="zh-TW" dirty="0" smtClean="0">
                <a:latin typeface="Times New Roman" pitchFamily="18" charset="0"/>
                <a:ea typeface="PMingLiU" pitchFamily="18" charset="-120"/>
              </a:rPr>
              <a:t>	  </a:t>
            </a:r>
            <a:r>
              <a:rPr kumimoji="0" lang="en-US" altLang="zh-TW" dirty="0" err="1" smtClean="0">
                <a:latin typeface="Times New Roman" pitchFamily="18" charset="0"/>
                <a:ea typeface="PMingLiU" pitchFamily="18" charset="-120"/>
              </a:rPr>
              <a:t>System.out.println</a:t>
            </a:r>
            <a:r>
              <a:rPr kumimoji="0" lang="en-US" altLang="zh-TW" dirty="0" smtClean="0">
                <a:latin typeface="Times New Roman" pitchFamily="18" charset="0"/>
                <a:ea typeface="PMingLiU" pitchFamily="18" charset="-120"/>
              </a:rPr>
              <a:t>(</a:t>
            </a:r>
            <a:r>
              <a:rPr kumimoji="0" lang="en-US" altLang="zh-TW" dirty="0" err="1" smtClean="0">
                <a:latin typeface="Times New Roman" pitchFamily="18" charset="0"/>
                <a:ea typeface="PMingLiU" pitchFamily="18" charset="-120"/>
              </a:rPr>
              <a:t>rs.getInt</a:t>
            </a:r>
            <a:r>
              <a:rPr kumimoji="0" lang="en-US" altLang="zh-TW" dirty="0" smtClean="0">
                <a:latin typeface="Times New Roman" pitchFamily="18" charset="0"/>
                <a:ea typeface="PMingLiU" pitchFamily="18" charset="-120"/>
              </a:rPr>
              <a:t>(1</a:t>
            </a:r>
            <a:r>
              <a:rPr kumimoji="0" lang="en-US" altLang="zh-TW" dirty="0">
                <a:latin typeface="Times New Roman" pitchFamily="18" charset="0"/>
                <a:ea typeface="PMingLiU" pitchFamily="18" charset="-120"/>
              </a:rPr>
              <a:t>) + </a:t>
            </a:r>
            <a:r>
              <a:rPr kumimoji="0" lang="en-US" altLang="zh-TW" dirty="0" smtClean="0">
                <a:latin typeface="Times New Roman" pitchFamily="18" charset="0"/>
                <a:ea typeface="PMingLiU" pitchFamily="18" charset="-120"/>
              </a:rPr>
              <a:t>+ </a:t>
            </a:r>
            <a:r>
              <a:rPr kumimoji="0" lang="en-US" altLang="zh-TW" dirty="0" err="1">
                <a:latin typeface="Times New Roman" pitchFamily="18" charset="0"/>
                <a:ea typeface="PMingLiU" pitchFamily="18" charset="-120"/>
              </a:rPr>
              <a:t>rs.getInt</a:t>
            </a:r>
            <a:r>
              <a:rPr kumimoji="0" lang="en-US" altLang="zh-TW" dirty="0">
                <a:latin typeface="Times New Roman" pitchFamily="18" charset="0"/>
                <a:ea typeface="PMingLiU" pitchFamily="18" charset="-120"/>
              </a:rPr>
              <a:t>(2) </a:t>
            </a:r>
            <a:r>
              <a:rPr kumimoji="0" lang="en-US" altLang="zh-TW" dirty="0" smtClean="0">
                <a:latin typeface="Times New Roman" pitchFamily="18" charset="0"/>
                <a:ea typeface="PMingLiU" pitchFamily="18" charset="-120"/>
              </a:rPr>
              <a:t>);</a:t>
            </a:r>
            <a:endParaRPr kumimoji="0" lang="en-US" altLang="zh-TW" dirty="0">
              <a:latin typeface="Times New Roman" pitchFamily="18" charset="0"/>
              <a:ea typeface="PMingLiU" pitchFamily="18" charset="-120"/>
            </a:endParaRPr>
          </a:p>
          <a:p>
            <a:pPr marL="342900" indent="-342900" eaLnBrk="1" hangingPunct="1">
              <a:spcBef>
                <a:spcPct val="20000"/>
              </a:spcBef>
            </a:pPr>
            <a:r>
              <a:rPr kumimoji="0" lang="en-US" altLang="zh-TW" dirty="0">
                <a:latin typeface="Times New Roman" pitchFamily="18" charset="0"/>
                <a:ea typeface="PMingLiU" pitchFamily="18" charset="-120"/>
              </a:rPr>
              <a:t>	  </a:t>
            </a:r>
            <a:r>
              <a:rPr kumimoji="0" lang="en-US" altLang="zh-TW" dirty="0" smtClean="0">
                <a:latin typeface="Times New Roman" pitchFamily="18" charset="0"/>
                <a:ea typeface="PMingLiU" pitchFamily="18" charset="-120"/>
              </a:rPr>
              <a:t>	</a:t>
            </a:r>
            <a:r>
              <a:rPr kumimoji="0" lang="en-US" altLang="zh-TW" dirty="0" err="1" smtClean="0">
                <a:latin typeface="Times New Roman" pitchFamily="18" charset="0"/>
                <a:ea typeface="PMingLiU" pitchFamily="18" charset="-120"/>
              </a:rPr>
              <a:t>stmt.close</a:t>
            </a:r>
            <a:r>
              <a:rPr kumimoji="0" lang="en-US" altLang="zh-TW" dirty="0">
                <a:latin typeface="Times New Roman" pitchFamily="18" charset="0"/>
                <a:ea typeface="PMingLiU" pitchFamily="18" charset="-120"/>
              </a:rPr>
              <a:t>() </a:t>
            </a:r>
          </a:p>
          <a:p>
            <a:pPr marL="342900" indent="-342900" eaLnBrk="1" hangingPunct="1">
              <a:spcBef>
                <a:spcPct val="20000"/>
              </a:spcBef>
            </a:pPr>
            <a:r>
              <a:rPr kumimoji="0" lang="en-US" altLang="zh-TW" dirty="0">
                <a:latin typeface="Times New Roman" pitchFamily="18" charset="0"/>
                <a:ea typeface="PMingLiU" pitchFamily="18" charset="-120"/>
              </a:rPr>
              <a:t>	  </a:t>
            </a:r>
            <a:r>
              <a:rPr kumimoji="0" lang="en-US" altLang="zh-TW" dirty="0" err="1">
                <a:latin typeface="Times New Roman" pitchFamily="18" charset="0"/>
                <a:ea typeface="PMingLiU" pitchFamily="18" charset="-120"/>
              </a:rPr>
              <a:t>con.close</a:t>
            </a:r>
            <a:r>
              <a:rPr kumimoji="0" lang="en-US" altLang="zh-TW" dirty="0">
                <a:latin typeface="Times New Roman" pitchFamily="18" charset="0"/>
                <a:ea typeface="PMingLiU" pitchFamily="18" charset="-120"/>
              </a:rPr>
              <a:t>();</a:t>
            </a:r>
          </a:p>
          <a:p>
            <a:pPr marL="342900" indent="-342900" eaLnBrk="1" hangingPunct="1">
              <a:spcBef>
                <a:spcPct val="20000"/>
              </a:spcBef>
            </a:pPr>
            <a:r>
              <a:rPr kumimoji="0" lang="en-US" altLang="zh-TW" dirty="0">
                <a:latin typeface="Times New Roman" pitchFamily="18" charset="0"/>
                <a:ea typeface="PMingLiU" pitchFamily="18" charset="-120"/>
              </a:rPr>
              <a:t>	} catch(Exception e) {</a:t>
            </a:r>
          </a:p>
          <a:p>
            <a:pPr marL="342900" indent="-342900" eaLnBrk="1" hangingPunct="1">
              <a:spcBef>
                <a:spcPct val="20000"/>
              </a:spcBef>
            </a:pPr>
            <a:r>
              <a:rPr kumimoji="0" lang="en-US" altLang="zh-TW" dirty="0">
                <a:latin typeface="Times New Roman" pitchFamily="18" charset="0"/>
                <a:ea typeface="PMingLiU" pitchFamily="18" charset="-120"/>
              </a:rPr>
              <a:t>	  </a:t>
            </a:r>
            <a:r>
              <a:rPr kumimoji="0" lang="en-US" altLang="zh-TW" dirty="0" err="1">
                <a:latin typeface="Times New Roman" pitchFamily="18" charset="0"/>
                <a:ea typeface="PMingLiU" pitchFamily="18" charset="-120"/>
              </a:rPr>
              <a:t>System.err.println</a:t>
            </a:r>
            <a:r>
              <a:rPr kumimoji="0" lang="en-US" altLang="zh-TW" dirty="0">
                <a:latin typeface="Times New Roman" pitchFamily="18" charset="0"/>
                <a:ea typeface="PMingLiU" pitchFamily="18" charset="-120"/>
              </a:rPr>
              <a:t>(e);</a:t>
            </a:r>
          </a:p>
          <a:p>
            <a:pPr marL="342900" indent="-342900" eaLnBrk="1" hangingPunct="1">
              <a:spcBef>
                <a:spcPct val="20000"/>
              </a:spcBef>
            </a:pPr>
            <a:r>
              <a:rPr kumimoji="0" lang="en-US" altLang="zh-TW" dirty="0">
                <a:latin typeface="Times New Roman" pitchFamily="18" charset="0"/>
                <a:ea typeface="PMingLiU" pitchFamily="18" charset="-120"/>
              </a:rPr>
              <a:t>}}}</a:t>
            </a:r>
          </a:p>
        </p:txBody>
      </p:sp>
      <p:sp>
        <p:nvSpPr>
          <p:cNvPr id="1548310" name="Line 22"/>
          <p:cNvSpPr>
            <a:spLocks noChangeShapeType="1"/>
          </p:cNvSpPr>
          <p:nvPr/>
        </p:nvSpPr>
        <p:spPr bwMode="auto">
          <a:xfrm>
            <a:off x="2154238" y="1773238"/>
            <a:ext cx="719137" cy="792162"/>
          </a:xfrm>
          <a:prstGeom prst="line">
            <a:avLst/>
          </a:prstGeom>
          <a:noFill/>
          <a:ln w="9525">
            <a:solidFill>
              <a:schemeClr val="bg2"/>
            </a:solidFill>
            <a:prstDash val="lgDash"/>
            <a:round/>
            <a:headEnd/>
            <a:tailEnd/>
          </a:ln>
          <a:effectLst/>
        </p:spPr>
        <p:txBody>
          <a:bodyPr>
            <a:spAutoFit/>
          </a:bodyPr>
          <a:lstStyle/>
          <a:p>
            <a:endParaRPr lang="en-IN"/>
          </a:p>
        </p:txBody>
      </p:sp>
      <p:sp>
        <p:nvSpPr>
          <p:cNvPr id="1548311" name="Line 23"/>
          <p:cNvSpPr>
            <a:spLocks noChangeShapeType="1"/>
          </p:cNvSpPr>
          <p:nvPr/>
        </p:nvSpPr>
        <p:spPr bwMode="auto">
          <a:xfrm>
            <a:off x="2154238" y="2349500"/>
            <a:ext cx="647700" cy="431800"/>
          </a:xfrm>
          <a:prstGeom prst="line">
            <a:avLst/>
          </a:prstGeom>
          <a:noFill/>
          <a:ln w="9525">
            <a:solidFill>
              <a:schemeClr val="bg2"/>
            </a:solidFill>
            <a:prstDash val="lgDash"/>
            <a:round/>
            <a:headEnd/>
            <a:tailEnd/>
          </a:ln>
          <a:effectLst/>
        </p:spPr>
        <p:txBody>
          <a:bodyPr>
            <a:spAutoFit/>
          </a:bodyPr>
          <a:lstStyle/>
          <a:p>
            <a:endParaRPr lang="en-IN"/>
          </a:p>
        </p:txBody>
      </p:sp>
      <p:sp>
        <p:nvSpPr>
          <p:cNvPr id="1548312" name="Line 24"/>
          <p:cNvSpPr>
            <a:spLocks noChangeShapeType="1"/>
          </p:cNvSpPr>
          <p:nvPr/>
        </p:nvSpPr>
        <p:spPr bwMode="auto">
          <a:xfrm>
            <a:off x="2154238" y="2925763"/>
            <a:ext cx="719137" cy="431800"/>
          </a:xfrm>
          <a:prstGeom prst="line">
            <a:avLst/>
          </a:prstGeom>
          <a:noFill/>
          <a:ln w="9525">
            <a:solidFill>
              <a:schemeClr val="bg2"/>
            </a:solidFill>
            <a:prstDash val="lgDash"/>
            <a:round/>
            <a:headEnd/>
            <a:tailEnd/>
          </a:ln>
          <a:effectLst/>
        </p:spPr>
        <p:txBody>
          <a:bodyPr>
            <a:spAutoFit/>
          </a:bodyPr>
          <a:lstStyle/>
          <a:p>
            <a:endParaRPr lang="en-IN"/>
          </a:p>
        </p:txBody>
      </p:sp>
      <p:sp>
        <p:nvSpPr>
          <p:cNvPr id="1548313" name="Line 25"/>
          <p:cNvSpPr>
            <a:spLocks noChangeShapeType="1"/>
          </p:cNvSpPr>
          <p:nvPr/>
        </p:nvSpPr>
        <p:spPr bwMode="auto">
          <a:xfrm>
            <a:off x="2154238" y="3429000"/>
            <a:ext cx="719137" cy="215900"/>
          </a:xfrm>
          <a:prstGeom prst="line">
            <a:avLst/>
          </a:prstGeom>
          <a:noFill/>
          <a:ln w="9525">
            <a:solidFill>
              <a:schemeClr val="bg2"/>
            </a:solidFill>
            <a:prstDash val="lgDash"/>
            <a:round/>
            <a:headEnd/>
            <a:tailEnd/>
          </a:ln>
          <a:effectLst/>
        </p:spPr>
        <p:txBody>
          <a:bodyPr>
            <a:spAutoFit/>
          </a:bodyPr>
          <a:lstStyle/>
          <a:p>
            <a:endParaRPr lang="en-IN"/>
          </a:p>
        </p:txBody>
      </p:sp>
      <p:sp>
        <p:nvSpPr>
          <p:cNvPr id="1548314" name="Line 26"/>
          <p:cNvSpPr>
            <a:spLocks noChangeShapeType="1"/>
          </p:cNvSpPr>
          <p:nvPr/>
        </p:nvSpPr>
        <p:spPr bwMode="auto">
          <a:xfrm>
            <a:off x="2154238" y="3933825"/>
            <a:ext cx="719137" cy="574675"/>
          </a:xfrm>
          <a:prstGeom prst="line">
            <a:avLst/>
          </a:prstGeom>
          <a:noFill/>
          <a:ln w="9525">
            <a:solidFill>
              <a:schemeClr val="bg2"/>
            </a:solidFill>
            <a:prstDash val="lgDash"/>
            <a:round/>
            <a:headEnd/>
            <a:tailEnd/>
          </a:ln>
          <a:effectLst/>
        </p:spPr>
        <p:txBody>
          <a:bodyPr>
            <a:spAutoFit/>
          </a:bodyPr>
          <a:lstStyle/>
          <a:p>
            <a:endParaRPr lang="en-IN"/>
          </a:p>
        </p:txBody>
      </p:sp>
      <p:sp>
        <p:nvSpPr>
          <p:cNvPr id="1548315" name="Line 27"/>
          <p:cNvSpPr>
            <a:spLocks noChangeShapeType="1"/>
          </p:cNvSpPr>
          <p:nvPr/>
        </p:nvSpPr>
        <p:spPr bwMode="auto">
          <a:xfrm flipV="1">
            <a:off x="2154238" y="4941888"/>
            <a:ext cx="719137" cy="719137"/>
          </a:xfrm>
          <a:prstGeom prst="line">
            <a:avLst/>
          </a:prstGeom>
          <a:noFill/>
          <a:ln w="9525">
            <a:solidFill>
              <a:schemeClr val="bg2"/>
            </a:solidFill>
            <a:prstDash val="lgDash"/>
            <a:round/>
            <a:headEnd/>
            <a:tailEnd/>
          </a:ln>
          <a:effectLst/>
        </p:spPr>
        <p:txBody>
          <a:bodyPr wrap="none">
            <a:spAutoFit/>
          </a:bodyPr>
          <a:lstStyle/>
          <a:p>
            <a:endParaRPr lang="en-IN"/>
          </a:p>
        </p:txBody>
      </p:sp>
      <p:sp>
        <p:nvSpPr>
          <p:cNvPr id="1548316" name="Line 28"/>
          <p:cNvSpPr>
            <a:spLocks noChangeShapeType="1"/>
          </p:cNvSpPr>
          <p:nvPr/>
        </p:nvSpPr>
        <p:spPr bwMode="auto">
          <a:xfrm flipV="1">
            <a:off x="2154238" y="5229225"/>
            <a:ext cx="647700" cy="936625"/>
          </a:xfrm>
          <a:prstGeom prst="line">
            <a:avLst/>
          </a:prstGeom>
          <a:noFill/>
          <a:ln w="9525">
            <a:solidFill>
              <a:schemeClr val="bg2"/>
            </a:solidFill>
            <a:prstDash val="lgDash"/>
            <a:round/>
            <a:headEnd/>
            <a:tailEnd/>
          </a:ln>
          <a:effectLst/>
        </p:spPr>
        <p:txBody>
          <a:bodyPr wrap="none">
            <a:spAutoFit/>
          </a:bodyPr>
          <a:lstStyle/>
          <a:p>
            <a:endParaRPr lang="en-IN"/>
          </a:p>
        </p:txBody>
      </p:sp>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49443910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20080"/>
          </a:xfrm>
        </p:spPr>
        <p:txBody>
          <a:bodyPr>
            <a:normAutofit fontScale="90000"/>
          </a:bodyPr>
          <a:lstStyle/>
          <a:p>
            <a:r>
              <a:rPr lang="en-US" dirty="0" smtClean="0"/>
              <a:t>Who implement Statement interface</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95536" y="980728"/>
            <a:ext cx="8496944" cy="4572000"/>
          </a:xfrm>
        </p:spPr>
        <p:txBody>
          <a:bodyPr/>
          <a:lstStyle/>
          <a:p>
            <a:r>
              <a:rPr lang="en-US" dirty="0"/>
              <a:t>The </a:t>
            </a:r>
            <a:r>
              <a:rPr lang="en-US" b="1" dirty="0"/>
              <a:t>Statement interface</a:t>
            </a:r>
            <a:r>
              <a:rPr lang="en-US" dirty="0"/>
              <a:t> (</a:t>
            </a:r>
            <a:r>
              <a:rPr lang="en-US" dirty="0" err="1"/>
              <a:t>java.sql.Statement</a:t>
            </a:r>
            <a:r>
              <a:rPr lang="en-US" dirty="0"/>
              <a:t>) is part of the </a:t>
            </a:r>
            <a:r>
              <a:rPr lang="en-US" b="1" dirty="0"/>
              <a:t>JDBC API</a:t>
            </a:r>
            <a:r>
              <a:rPr lang="en-US" dirty="0"/>
              <a:t>, and its implementation is provided by </a:t>
            </a:r>
            <a:r>
              <a:rPr lang="en-US" b="1" dirty="0"/>
              <a:t>JDBC driver </a:t>
            </a:r>
            <a:r>
              <a:rPr lang="en-US" b="1" dirty="0" smtClean="0"/>
              <a:t>vendors.</a:t>
            </a:r>
          </a:p>
          <a:p>
            <a:pPr algn="just"/>
            <a:r>
              <a:rPr lang="en-US" dirty="0"/>
              <a:t>When you create a Statement using a Connection object (e.g., </a:t>
            </a:r>
            <a:r>
              <a:rPr lang="en-US" dirty="0" err="1"/>
              <a:t>createStatement</a:t>
            </a:r>
            <a:r>
              <a:rPr lang="en-US" dirty="0"/>
              <a:t>()), the JDBC driver internally returns an instance of its </a:t>
            </a:r>
            <a:r>
              <a:rPr lang="en-US" b="1" dirty="0"/>
              <a:t>own class</a:t>
            </a:r>
            <a:r>
              <a:rPr lang="en-US" dirty="0"/>
              <a:t> that implements the Statement interface.</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797478412"/>
              </p:ext>
            </p:extLst>
          </p:nvPr>
        </p:nvGraphicFramePr>
        <p:xfrm>
          <a:off x="827584" y="3717032"/>
          <a:ext cx="7772400" cy="1737360"/>
        </p:xfrm>
        <a:graphic>
          <a:graphicData uri="http://schemas.openxmlformats.org/drawingml/2006/table">
            <a:tbl>
              <a:tblPr/>
              <a:tblGrid>
                <a:gridCol w="1512168"/>
                <a:gridCol w="2592288"/>
                <a:gridCol w="3667944"/>
              </a:tblGrid>
              <a:tr h="0">
                <a:tc>
                  <a:txBody>
                    <a:bodyPr/>
                    <a:lstStyle/>
                    <a:p>
                      <a:r>
                        <a:rPr lang="en-IN" b="1" dirty="0"/>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JDBC Driver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Example Statement Implementation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MySQL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com.mysql.cj.jdbc.Driver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com.mysql.cj.jdbc.StatementImpl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Oracle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oracle.jdbc.OracleDriver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oracle.jdbc.driver.OracleStatement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PostgreSQL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org.postgresql.Driver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org.postgresql.jdbc.PgStatement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ectangle 5"/>
          <p:cNvSpPr/>
          <p:nvPr/>
        </p:nvSpPr>
        <p:spPr>
          <a:xfrm>
            <a:off x="899592" y="5733256"/>
            <a:ext cx="3482877" cy="369332"/>
          </a:xfrm>
          <a:prstGeom prst="rect">
            <a:avLst/>
          </a:prstGeom>
        </p:spPr>
        <p:txBody>
          <a:bodyPr wrap="none">
            <a:spAutoFit/>
          </a:bodyPr>
          <a:lstStyle/>
          <a:p>
            <a:r>
              <a:rPr lang="en-IN" u="sng" dirty="0" smtClean="0"/>
              <a:t>Ex </a:t>
            </a:r>
            <a:r>
              <a:rPr lang="en-IN" u="sng" dirty="0"/>
              <a:t>StatementInterfaceImplementor</a:t>
            </a:r>
            <a:r>
              <a:rPr lang="en-IN" u="sng" dirty="0" smtClean="0"/>
              <a:t>.java</a:t>
            </a:r>
            <a:endParaRPr lang="en-IN"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92088"/>
          </a:xfrm>
        </p:spPr>
        <p:txBody>
          <a:bodyPr/>
          <a:lstStyle/>
          <a:p>
            <a:r>
              <a:rPr lang="en-US" b="1" dirty="0" smtClean="0"/>
              <a:t>Understand the Basic Steps</a:t>
            </a:r>
            <a:endParaRPr lang="en-IN" b="1"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323528" y="1052736"/>
            <a:ext cx="5832648" cy="4572000"/>
          </a:xfrm>
        </p:spPr>
        <p:txBody>
          <a:bodyPr>
            <a:normAutofit lnSpcReduction="10000"/>
          </a:bodyPr>
          <a:lstStyle/>
          <a:p>
            <a:r>
              <a:rPr lang="en-US" dirty="0" smtClean="0"/>
              <a:t>To establish a connection with a </a:t>
            </a:r>
            <a:r>
              <a:rPr lang="en-US" dirty="0" err="1" smtClean="0"/>
              <a:t>sa</a:t>
            </a:r>
            <a:r>
              <a:rPr lang="en-US" dirty="0" smtClean="0"/>
              <a:t> database and retrieve the desired results, we need to perform various steps. </a:t>
            </a:r>
          </a:p>
          <a:p>
            <a:r>
              <a:rPr lang="en-US" dirty="0" smtClean="0"/>
              <a:t>Steps that need to be performed to implement JDBC in Java application:</a:t>
            </a:r>
          </a:p>
          <a:p>
            <a:pPr lvl="2"/>
            <a:r>
              <a:rPr lang="en-US" dirty="0" smtClean="0"/>
              <a:t>Load and Register the driver (optional form JDBC 4.0+ onwards)</a:t>
            </a:r>
          </a:p>
          <a:p>
            <a:pPr lvl="2"/>
            <a:r>
              <a:rPr lang="en-US" dirty="0" smtClean="0"/>
              <a:t>Obtaining connection</a:t>
            </a:r>
          </a:p>
          <a:p>
            <a:pPr lvl="2"/>
            <a:r>
              <a:rPr lang="en-US" dirty="0" smtClean="0"/>
              <a:t>Create a JDBC statement object</a:t>
            </a:r>
          </a:p>
          <a:p>
            <a:pPr lvl="2"/>
            <a:r>
              <a:rPr lang="en-US" dirty="0" smtClean="0"/>
              <a:t>Execute SQL statement</a:t>
            </a:r>
          </a:p>
          <a:p>
            <a:pPr lvl="2"/>
            <a:r>
              <a:rPr lang="en-US" dirty="0" smtClean="0"/>
              <a:t>Process the Results</a:t>
            </a:r>
          </a:p>
          <a:p>
            <a:pPr lvl="2"/>
            <a:r>
              <a:rPr lang="en-US" dirty="0" smtClean="0"/>
              <a:t>Close the connection</a:t>
            </a:r>
          </a:p>
          <a:p>
            <a:pPr lvl="1"/>
            <a:endParaRPr lang="en-IN" dirty="0"/>
          </a:p>
        </p:txBody>
      </p:sp>
      <p:pic>
        <p:nvPicPr>
          <p:cNvPr id="1026" name="Picture 2" descr="A diagram of the JDBC life cy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836712"/>
            <a:ext cx="2677296"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251520" y="476672"/>
            <a:ext cx="8712968" cy="5112568"/>
          </a:xfrm>
        </p:spPr>
        <p:txBody>
          <a:bodyPr>
            <a:noAutofit/>
          </a:bodyPr>
          <a:lstStyle/>
          <a:p>
            <a:r>
              <a:rPr lang="en-US" sz="2800" dirty="0" smtClean="0"/>
              <a:t>Registering a Driver:</a:t>
            </a:r>
          </a:p>
          <a:p>
            <a:pPr lvl="1"/>
            <a:r>
              <a:rPr lang="en-US" sz="2800" dirty="0" smtClean="0"/>
              <a:t>There are three approaches:</a:t>
            </a:r>
          </a:p>
          <a:p>
            <a:pPr marL="1051560" lvl="2" indent="-457200">
              <a:buAutoNum type="arabicPeriod"/>
            </a:pPr>
            <a:r>
              <a:rPr lang="en-US" sz="2400" dirty="0" smtClean="0"/>
              <a:t>Using </a:t>
            </a:r>
            <a:r>
              <a:rPr lang="en-US" sz="2400" b="1" dirty="0" err="1" smtClean="0"/>
              <a:t>registerDriver</a:t>
            </a:r>
            <a:r>
              <a:rPr lang="en-US" sz="2400" b="1" dirty="0" smtClean="0"/>
              <a:t>() </a:t>
            </a:r>
            <a:r>
              <a:rPr lang="en-US" sz="2400" dirty="0" smtClean="0"/>
              <a:t>of </a:t>
            </a:r>
            <a:r>
              <a:rPr lang="en-US" sz="2400" b="1" dirty="0" err="1" smtClean="0"/>
              <a:t>DriverManager</a:t>
            </a:r>
            <a:r>
              <a:rPr lang="en-US" sz="2400" dirty="0" smtClean="0"/>
              <a:t> class</a:t>
            </a:r>
          </a:p>
          <a:p>
            <a:pPr marL="594360" lvl="2" indent="0">
              <a:buNone/>
            </a:pPr>
            <a:r>
              <a:rPr lang="en-IN" sz="2400" dirty="0" smtClean="0"/>
              <a:t>       </a:t>
            </a:r>
            <a:r>
              <a:rPr lang="en-IN" sz="2400" dirty="0" err="1"/>
              <a:t>DriverManager.registerDriver</a:t>
            </a:r>
            <a:r>
              <a:rPr lang="en-IN" sz="2400" dirty="0"/>
              <a:t>(new </a:t>
            </a:r>
            <a:r>
              <a:rPr lang="en-IN" sz="2400" dirty="0" err="1" smtClean="0"/>
              <a:t>com.mysql.cj.jdbc.Driver</a:t>
            </a:r>
            <a:r>
              <a:rPr lang="en-IN" sz="2400" dirty="0" smtClean="0"/>
              <a:t>());</a:t>
            </a:r>
          </a:p>
          <a:p>
            <a:pPr marL="594360" lvl="2" indent="0">
              <a:buNone/>
            </a:pPr>
            <a:endParaRPr lang="en-IN" sz="2400" b="1" dirty="0"/>
          </a:p>
          <a:p>
            <a:pPr marL="594360" lvl="2" indent="0">
              <a:buNone/>
            </a:pPr>
            <a:r>
              <a:rPr lang="en-US" sz="2400" b="1" dirty="0" smtClean="0"/>
              <a:t>2. Using </a:t>
            </a:r>
            <a:r>
              <a:rPr lang="en-US" sz="2400" b="1" dirty="0" err="1" smtClean="0"/>
              <a:t>Class.forName</a:t>
            </a:r>
            <a:r>
              <a:rPr lang="en-US" sz="2400" b="1" dirty="0" smtClean="0"/>
              <a:t>()</a:t>
            </a:r>
          </a:p>
          <a:p>
            <a:pPr marL="594360" lvl="2" indent="0">
              <a:buNone/>
            </a:pPr>
            <a:r>
              <a:rPr lang="en-US" sz="2400" b="1" dirty="0"/>
              <a:t>	</a:t>
            </a:r>
            <a:r>
              <a:rPr lang="en-IN" sz="2400" dirty="0" err="1"/>
              <a:t>Class.forName</a:t>
            </a:r>
            <a:r>
              <a:rPr lang="en-IN" sz="2400" dirty="0"/>
              <a:t>("</a:t>
            </a:r>
            <a:r>
              <a:rPr lang="en-IN" sz="2400" dirty="0" err="1" smtClean="0"/>
              <a:t>com.mysql.cj.jdbc.Driver</a:t>
            </a:r>
            <a:r>
              <a:rPr lang="en-IN" sz="2400" dirty="0" smtClean="0"/>
              <a:t>");</a:t>
            </a:r>
            <a:r>
              <a:rPr lang="en-US" sz="2400" dirty="0" smtClean="0"/>
              <a:t> </a:t>
            </a:r>
          </a:p>
          <a:p>
            <a:pPr marL="594360" lvl="2" indent="0">
              <a:buNone/>
            </a:pPr>
            <a:endParaRPr lang="en-US" sz="2400" dirty="0"/>
          </a:p>
          <a:p>
            <a:pPr marL="594360" lvl="2" indent="0">
              <a:buNone/>
            </a:pPr>
            <a:r>
              <a:rPr lang="en-US" sz="2400" dirty="0" smtClean="0"/>
              <a:t>3. Using </a:t>
            </a:r>
            <a:r>
              <a:rPr lang="en-US" sz="2400" b="1" dirty="0" smtClean="0"/>
              <a:t>System</a:t>
            </a:r>
            <a:r>
              <a:rPr lang="en-US" sz="2400" dirty="0" smtClean="0"/>
              <a:t> property</a:t>
            </a:r>
          </a:p>
          <a:p>
            <a:pPr marL="594360" lvl="2" indent="0">
              <a:buNone/>
            </a:pPr>
            <a:r>
              <a:rPr lang="en-US" sz="2400" dirty="0"/>
              <a:t>	 </a:t>
            </a:r>
            <a:r>
              <a:rPr lang="en-US" sz="2400" dirty="0" err="1"/>
              <a:t>System.setProperty</a:t>
            </a:r>
            <a:r>
              <a:rPr lang="en-US" sz="2400" dirty="0"/>
              <a:t>("</a:t>
            </a:r>
            <a:r>
              <a:rPr lang="en-US" sz="2400" dirty="0" err="1"/>
              <a:t>jdbc.drivers</a:t>
            </a:r>
            <a:r>
              <a:rPr lang="en-US" sz="2400" dirty="0"/>
              <a:t>", "</a:t>
            </a:r>
            <a:r>
              <a:rPr lang="en-US" sz="2400" dirty="0" err="1"/>
              <a:t>com.mysql.cj.jdbc.Driver</a:t>
            </a:r>
            <a:r>
              <a:rPr lang="en-US" sz="2400" dirty="0"/>
              <a:t>");</a:t>
            </a:r>
            <a:endParaRPr lang="en-IN" sz="2400" dirty="0"/>
          </a:p>
        </p:txBody>
      </p:sp>
      <p:sp>
        <p:nvSpPr>
          <p:cNvPr id="5" name="TextBox 4"/>
          <p:cNvSpPr txBox="1"/>
          <p:nvPr/>
        </p:nvSpPr>
        <p:spPr>
          <a:xfrm>
            <a:off x="899592" y="5003162"/>
            <a:ext cx="8136904" cy="646331"/>
          </a:xfrm>
          <a:prstGeom prst="rect">
            <a:avLst/>
          </a:prstGeom>
          <a:noFill/>
        </p:spPr>
        <p:txBody>
          <a:bodyPr wrap="square" rtlCol="0">
            <a:spAutoFit/>
          </a:bodyPr>
          <a:lstStyle/>
          <a:p>
            <a:r>
              <a:rPr lang="en-US" b="1" dirty="0" smtClean="0"/>
              <a:t>Note</a:t>
            </a:r>
            <a:r>
              <a:rPr lang="en-US" dirty="0" smtClean="0"/>
              <a:t>: This step is optional from JDBC 4.0 because </a:t>
            </a:r>
            <a:r>
              <a:rPr lang="en-US" dirty="0" err="1" smtClean="0"/>
              <a:t>getConnection</a:t>
            </a:r>
            <a:r>
              <a:rPr lang="en-US" dirty="0" smtClean="0"/>
              <a:t>() method of the </a:t>
            </a:r>
            <a:r>
              <a:rPr lang="en-US" dirty="0" err="1" smtClean="0"/>
              <a:t>DriverManager</a:t>
            </a:r>
            <a:r>
              <a:rPr lang="en-US" dirty="0" smtClean="0"/>
              <a:t> class is enhanced to </a:t>
            </a:r>
            <a:r>
              <a:rPr lang="en-US" dirty="0" err="1" smtClean="0"/>
              <a:t>suport</a:t>
            </a:r>
            <a:r>
              <a:rPr lang="en-US" dirty="0" smtClean="0"/>
              <a:t> JAVA Standard Edition Service Provider Mechanism</a:t>
            </a:r>
            <a:endParaRPr lang="en-IN" dirty="0"/>
          </a:p>
        </p:txBody>
      </p:sp>
      <p:sp>
        <p:nvSpPr>
          <p:cNvPr id="6" name="Rectangle 5"/>
          <p:cNvSpPr/>
          <p:nvPr/>
        </p:nvSpPr>
        <p:spPr>
          <a:xfrm>
            <a:off x="7524328" y="6165304"/>
            <a:ext cx="1387559" cy="369332"/>
          </a:xfrm>
          <a:prstGeom prst="rect">
            <a:avLst/>
          </a:prstGeom>
        </p:spPr>
        <p:txBody>
          <a:bodyPr wrap="none">
            <a:spAutoFit/>
          </a:bodyPr>
          <a:lstStyle/>
          <a:p>
            <a:r>
              <a:rPr lang="en-IN" dirty="0" smtClean="0"/>
              <a:t>JDBCApp.java</a:t>
            </a:r>
            <a:endParaRPr lang="en-IN"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251520" y="404664"/>
            <a:ext cx="7772400" cy="4572000"/>
          </a:xfrm>
        </p:spPr>
        <p:txBody>
          <a:bodyPr/>
          <a:lstStyle/>
          <a:p>
            <a:r>
              <a:rPr lang="en-US" dirty="0" smtClean="0"/>
              <a:t>Establishing a connection using </a:t>
            </a:r>
            <a:r>
              <a:rPr lang="en-US" dirty="0" err="1" smtClean="0"/>
              <a:t>DriverManager</a:t>
            </a:r>
            <a:endParaRPr lang="en-US" dirty="0" smtClean="0"/>
          </a:p>
          <a:p>
            <a:endParaRPr lang="en-US" dirty="0"/>
          </a:p>
          <a:p>
            <a:endParaRPr lang="en-US" dirty="0" smtClean="0"/>
          </a:p>
          <a:p>
            <a:endParaRPr lang="en-US" dirty="0"/>
          </a:p>
          <a:p>
            <a:endParaRPr lang="en-US" dirty="0" smtClean="0"/>
          </a:p>
          <a:p>
            <a:endParaRPr lang="en-US" dirty="0"/>
          </a:p>
          <a:p>
            <a:endParaRPr lang="en-US" sz="100" dirty="0" smtClean="0"/>
          </a:p>
          <a:p>
            <a:r>
              <a:rPr lang="en-US" dirty="0" smtClean="0"/>
              <a:t>URL -&gt; </a:t>
            </a:r>
            <a:r>
              <a:rPr lang="en-US" dirty="0" err="1" smtClean="0"/>
              <a:t>jdbc</a:t>
            </a:r>
            <a:r>
              <a:rPr lang="en-US" dirty="0" smtClean="0"/>
              <a:t>:&lt;</a:t>
            </a:r>
            <a:r>
              <a:rPr lang="en-US" dirty="0" err="1" smtClean="0"/>
              <a:t>subprotocol</a:t>
            </a:r>
            <a:r>
              <a:rPr lang="en-US" dirty="0" smtClean="0"/>
              <a:t>&gt;:&lt;info&gt; (&lt;</a:t>
            </a:r>
            <a:r>
              <a:rPr lang="en-US" dirty="0" err="1" smtClean="0"/>
              <a:t>subname</a:t>
            </a:r>
            <a:r>
              <a:rPr lang="en-US" dirty="0" smtClean="0"/>
              <a:t>&gt;)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660228527"/>
              </p:ext>
            </p:extLst>
          </p:nvPr>
        </p:nvGraphicFramePr>
        <p:xfrm>
          <a:off x="755576" y="908720"/>
          <a:ext cx="7772400" cy="2286000"/>
        </p:xfrm>
        <a:graphic>
          <a:graphicData uri="http://schemas.openxmlformats.org/drawingml/2006/table">
            <a:tbl>
              <a:tblPr>
                <a:tableStyleId>{8799B23B-EC83-4686-B30A-512413B5E67A}</a:tableStyleId>
              </a:tblPr>
              <a:tblGrid>
                <a:gridCol w="3886200"/>
                <a:gridCol w="3886200"/>
              </a:tblGrid>
              <a:tr h="0">
                <a:tc>
                  <a:txBody>
                    <a:bodyPr/>
                    <a:lstStyle/>
                    <a:p>
                      <a:r>
                        <a:rPr lang="en-IN" b="1" dirty="0"/>
                        <a:t>Method Signature</a:t>
                      </a:r>
                    </a:p>
                  </a:txBody>
                  <a:tcPr anchor="ctr"/>
                </a:tc>
                <a:tc>
                  <a:txBody>
                    <a:bodyPr/>
                    <a:lstStyle/>
                    <a:p>
                      <a:r>
                        <a:rPr lang="en-IN" b="1" dirty="0"/>
                        <a:t>Description</a:t>
                      </a:r>
                    </a:p>
                  </a:txBody>
                  <a:tcPr anchor="ctr"/>
                </a:tc>
              </a:tr>
              <a:tr h="0">
                <a:tc>
                  <a:txBody>
                    <a:bodyPr/>
                    <a:lstStyle/>
                    <a:p>
                      <a:r>
                        <a:rPr lang="en-IN" dirty="0" err="1"/>
                        <a:t>getConnection</a:t>
                      </a:r>
                      <a:r>
                        <a:rPr lang="en-IN" dirty="0"/>
                        <a:t>(String </a:t>
                      </a:r>
                      <a:r>
                        <a:rPr lang="en-IN" dirty="0" err="1"/>
                        <a:t>url</a:t>
                      </a:r>
                      <a:r>
                        <a:rPr lang="en-IN" dirty="0"/>
                        <a:t>)</a:t>
                      </a:r>
                    </a:p>
                  </a:txBody>
                  <a:tcPr anchor="ctr"/>
                </a:tc>
                <a:tc>
                  <a:txBody>
                    <a:bodyPr/>
                    <a:lstStyle/>
                    <a:p>
                      <a:r>
                        <a:rPr lang="en-US"/>
                        <a:t>Used when authentication is not required or handled in URL.</a:t>
                      </a:r>
                    </a:p>
                  </a:txBody>
                  <a:tcPr anchor="ctr"/>
                </a:tc>
              </a:tr>
              <a:tr h="0">
                <a:tc>
                  <a:txBody>
                    <a:bodyPr/>
                    <a:lstStyle/>
                    <a:p>
                      <a:r>
                        <a:rPr lang="en-IN" dirty="0" err="1"/>
                        <a:t>getConnection</a:t>
                      </a:r>
                      <a:r>
                        <a:rPr lang="en-IN" dirty="0"/>
                        <a:t>(String </a:t>
                      </a:r>
                      <a:r>
                        <a:rPr lang="en-IN" dirty="0" err="1"/>
                        <a:t>url</a:t>
                      </a:r>
                      <a:r>
                        <a:rPr lang="en-IN" dirty="0"/>
                        <a:t>, Properties info)</a:t>
                      </a:r>
                    </a:p>
                  </a:txBody>
                  <a:tcPr anchor="ctr"/>
                </a:tc>
                <a:tc>
                  <a:txBody>
                    <a:bodyPr/>
                    <a:lstStyle/>
                    <a:p>
                      <a:r>
                        <a:rPr lang="en-US"/>
                        <a:t>Passes properties like user and password in a Properties object.</a:t>
                      </a:r>
                    </a:p>
                  </a:txBody>
                  <a:tcPr anchor="ctr"/>
                </a:tc>
              </a:tr>
              <a:tr h="0">
                <a:tc>
                  <a:txBody>
                    <a:bodyPr/>
                    <a:lstStyle/>
                    <a:p>
                      <a:r>
                        <a:rPr lang="en-IN" dirty="0" err="1"/>
                        <a:t>getConnection</a:t>
                      </a:r>
                      <a:r>
                        <a:rPr lang="en-IN" dirty="0"/>
                        <a:t>(String </a:t>
                      </a:r>
                      <a:r>
                        <a:rPr lang="en-IN" dirty="0" err="1"/>
                        <a:t>url</a:t>
                      </a:r>
                      <a:r>
                        <a:rPr lang="en-IN" dirty="0"/>
                        <a:t>, String user, String password)</a:t>
                      </a:r>
                    </a:p>
                  </a:txBody>
                  <a:tcPr anchor="ctr"/>
                </a:tc>
                <a:tc>
                  <a:txBody>
                    <a:bodyPr/>
                    <a:lstStyle/>
                    <a:p>
                      <a:r>
                        <a:rPr lang="en-US" dirty="0"/>
                        <a:t>Most common form, passing credentials explicitly.</a:t>
                      </a:r>
                    </a:p>
                  </a:txBody>
                  <a:tcPr anchor="ct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36530729"/>
              </p:ext>
            </p:extLst>
          </p:nvPr>
        </p:nvGraphicFramePr>
        <p:xfrm>
          <a:off x="683568" y="3861048"/>
          <a:ext cx="7772400" cy="2560320"/>
        </p:xfrm>
        <a:graphic>
          <a:graphicData uri="http://schemas.openxmlformats.org/drawingml/2006/table">
            <a:tbl>
              <a:tblPr>
                <a:tableStyleId>{BC89EF96-8CEA-46FF-86C4-4CE0E7609802}</a:tableStyleId>
              </a:tblPr>
              <a:tblGrid>
                <a:gridCol w="2590800"/>
                <a:gridCol w="2590800"/>
                <a:gridCol w="2590800"/>
              </a:tblGrid>
              <a:tr h="149736">
                <a:tc>
                  <a:txBody>
                    <a:bodyPr/>
                    <a:lstStyle/>
                    <a:p>
                      <a:r>
                        <a:rPr lang="en-IN" dirty="0"/>
                        <a:t>Component</a:t>
                      </a:r>
                    </a:p>
                  </a:txBody>
                  <a:tcPr anchor="ctr"/>
                </a:tc>
                <a:tc>
                  <a:txBody>
                    <a:bodyPr/>
                    <a:lstStyle/>
                    <a:p>
                      <a:r>
                        <a:rPr lang="en-IN" dirty="0"/>
                        <a:t>Example Value</a:t>
                      </a:r>
                    </a:p>
                  </a:txBody>
                  <a:tcPr anchor="ctr"/>
                </a:tc>
                <a:tc>
                  <a:txBody>
                    <a:bodyPr/>
                    <a:lstStyle/>
                    <a:p>
                      <a:r>
                        <a:rPr lang="en-IN"/>
                        <a:t>Meaning</a:t>
                      </a:r>
                    </a:p>
                  </a:txBody>
                  <a:tcPr anchor="ctr"/>
                </a:tc>
              </a:tr>
              <a:tr h="0">
                <a:tc>
                  <a:txBody>
                    <a:bodyPr/>
                    <a:lstStyle/>
                    <a:p>
                      <a:r>
                        <a:rPr lang="en-IN" b="1" dirty="0" err="1"/>
                        <a:t>jdbc</a:t>
                      </a:r>
                      <a:r>
                        <a:rPr lang="en-IN" b="1" dirty="0"/>
                        <a:t>:</a:t>
                      </a:r>
                    </a:p>
                  </a:txBody>
                  <a:tcPr anchor="ctr"/>
                </a:tc>
                <a:tc>
                  <a:txBody>
                    <a:bodyPr/>
                    <a:lstStyle/>
                    <a:p>
                      <a:r>
                        <a:rPr lang="en-IN"/>
                        <a:t>(constant)</a:t>
                      </a:r>
                    </a:p>
                  </a:txBody>
                  <a:tcPr anchor="ctr"/>
                </a:tc>
                <a:tc>
                  <a:txBody>
                    <a:bodyPr/>
                    <a:lstStyle/>
                    <a:p>
                      <a:r>
                        <a:rPr lang="en-US"/>
                        <a:t>Indicates this is a JDBC URL.</a:t>
                      </a:r>
                    </a:p>
                  </a:txBody>
                  <a:tcPr anchor="ctr"/>
                </a:tc>
              </a:tr>
              <a:tr h="0">
                <a:tc>
                  <a:txBody>
                    <a:bodyPr/>
                    <a:lstStyle/>
                    <a:p>
                      <a:r>
                        <a:rPr lang="en-IN" b="1" dirty="0"/>
                        <a:t>&lt;</a:t>
                      </a:r>
                      <a:r>
                        <a:rPr lang="en-IN" b="1" dirty="0" err="1"/>
                        <a:t>subprotocol</a:t>
                      </a:r>
                      <a:r>
                        <a:rPr lang="en-IN" b="1" dirty="0"/>
                        <a:t>&gt;</a:t>
                      </a:r>
                    </a:p>
                  </a:txBody>
                  <a:tcPr anchor="ctr"/>
                </a:tc>
                <a:tc>
                  <a:txBody>
                    <a:bodyPr/>
                    <a:lstStyle/>
                    <a:p>
                      <a:r>
                        <a:rPr lang="en-IN"/>
                        <a:t>mysql, oracle, postgresql</a:t>
                      </a:r>
                    </a:p>
                  </a:txBody>
                  <a:tcPr anchor="ctr"/>
                </a:tc>
                <a:tc>
                  <a:txBody>
                    <a:bodyPr/>
                    <a:lstStyle/>
                    <a:p>
                      <a:r>
                        <a:rPr lang="en-US"/>
                        <a:t>Specifies the database type / driver.</a:t>
                      </a:r>
                    </a:p>
                  </a:txBody>
                  <a:tcPr anchor="ctr"/>
                </a:tc>
              </a:tr>
              <a:tr h="0">
                <a:tc>
                  <a:txBody>
                    <a:bodyPr/>
                    <a:lstStyle/>
                    <a:p>
                      <a:r>
                        <a:rPr lang="en-IN" b="1" dirty="0"/>
                        <a:t>&lt;</a:t>
                      </a:r>
                      <a:r>
                        <a:rPr lang="en-IN" b="1" dirty="0" err="1"/>
                        <a:t>subname</a:t>
                      </a:r>
                      <a:r>
                        <a:rPr lang="en-IN" b="1" dirty="0" smtClean="0"/>
                        <a:t>&gt; or&lt;info&gt;</a:t>
                      </a:r>
                      <a:endParaRPr lang="en-IN" b="1" dirty="0"/>
                    </a:p>
                  </a:txBody>
                  <a:tcPr anchor="ctr"/>
                </a:tc>
                <a:tc>
                  <a:txBody>
                    <a:bodyPr/>
                    <a:lstStyle/>
                    <a:p>
                      <a:r>
                        <a:rPr lang="en-IN"/>
                        <a:t>database-specific</a:t>
                      </a:r>
                    </a:p>
                  </a:txBody>
                  <a:tcPr anchor="ctr"/>
                </a:tc>
                <a:tc>
                  <a:txBody>
                    <a:bodyPr/>
                    <a:lstStyle/>
                    <a:p>
                      <a:r>
                        <a:rPr lang="en-US" dirty="0"/>
                        <a:t>Contains the </a:t>
                      </a:r>
                      <a:r>
                        <a:rPr lang="en-US" dirty="0" smtClean="0"/>
                        <a:t>server address, </a:t>
                      </a:r>
                      <a:r>
                        <a:rPr lang="en-US" dirty="0"/>
                        <a:t>port, database name, and options.</a:t>
                      </a:r>
                    </a:p>
                  </a:txBody>
                  <a:tcPr anchor="ct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23528" y="404664"/>
            <a:ext cx="7772400" cy="4572000"/>
          </a:xfrm>
        </p:spPr>
        <p:txBody>
          <a:bodyPr/>
          <a:lstStyle/>
          <a:p>
            <a:r>
              <a:rPr lang="en-US" dirty="0" smtClean="0"/>
              <a:t>Creating a JDBC Statement object – What type of SQL statement you are going to execute. </a:t>
            </a:r>
          </a:p>
          <a:p>
            <a:pPr lvl="1"/>
            <a:r>
              <a:rPr lang="en-US" dirty="0" smtClean="0"/>
              <a:t>We can execute SQL statements only after creating the JDBC statement object. </a:t>
            </a:r>
          </a:p>
          <a:p>
            <a:pPr lvl="2"/>
            <a:r>
              <a:rPr lang="en-US" sz="2400" dirty="0" smtClean="0"/>
              <a:t>Statement</a:t>
            </a:r>
          </a:p>
          <a:p>
            <a:pPr lvl="2"/>
            <a:r>
              <a:rPr lang="en-US" sz="2400" dirty="0" err="1" smtClean="0"/>
              <a:t>PreparedStatement</a:t>
            </a:r>
            <a:endParaRPr lang="en-US" sz="2400" dirty="0" smtClean="0"/>
          </a:p>
          <a:p>
            <a:pPr lvl="2"/>
            <a:r>
              <a:rPr lang="en-US" sz="2400" dirty="0" err="1" smtClean="0"/>
              <a:t>CallableStatement</a:t>
            </a:r>
            <a:endParaRPr lang="en-US" sz="2400" dirty="0" smtClean="0"/>
          </a:p>
          <a:p>
            <a:pPr lvl="1"/>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461288144"/>
              </p:ext>
            </p:extLst>
          </p:nvPr>
        </p:nvGraphicFramePr>
        <p:xfrm>
          <a:off x="611560" y="3933056"/>
          <a:ext cx="7772400" cy="2286000"/>
        </p:xfrm>
        <a:graphic>
          <a:graphicData uri="http://schemas.openxmlformats.org/drawingml/2006/table">
            <a:tbl>
              <a:tblPr/>
              <a:tblGrid>
                <a:gridCol w="3886200"/>
                <a:gridCol w="3886200"/>
              </a:tblGrid>
              <a:tr h="0">
                <a:tc>
                  <a:txBody>
                    <a:bodyPr/>
                    <a:lstStyle/>
                    <a:p>
                      <a:r>
                        <a:rPr lang="en-IN" dirty="0"/>
                        <a:t>Method</a:t>
                      </a:r>
                    </a:p>
                  </a:txBody>
                  <a:tcPr anchor="ctr">
                    <a:lnL>
                      <a:noFill/>
                    </a:lnL>
                    <a:lnR>
                      <a:noFill/>
                    </a:lnR>
                    <a:lnT>
                      <a:noFill/>
                    </a:lnT>
                    <a:lnB>
                      <a:noFill/>
                    </a:lnB>
                  </a:tcPr>
                </a:tc>
                <a:tc>
                  <a:txBody>
                    <a:bodyPr/>
                    <a:lstStyle/>
                    <a:p>
                      <a:r>
                        <a:rPr lang="en-IN"/>
                        <a:t>Purpose</a:t>
                      </a:r>
                    </a:p>
                  </a:txBody>
                  <a:tcPr anchor="ctr">
                    <a:lnL>
                      <a:noFill/>
                    </a:lnL>
                    <a:lnR>
                      <a:noFill/>
                    </a:lnR>
                    <a:lnT>
                      <a:noFill/>
                    </a:lnT>
                    <a:lnB>
                      <a:noFill/>
                    </a:lnB>
                  </a:tcPr>
                </a:tc>
              </a:tr>
              <a:tr h="0">
                <a:tc>
                  <a:txBody>
                    <a:bodyPr/>
                    <a:lstStyle/>
                    <a:p>
                      <a:r>
                        <a:rPr lang="en-IN"/>
                        <a:t>executeQuery(String sql)</a:t>
                      </a:r>
                    </a:p>
                  </a:txBody>
                  <a:tcPr anchor="ctr">
                    <a:lnL>
                      <a:noFill/>
                    </a:lnL>
                    <a:lnR>
                      <a:noFill/>
                    </a:lnR>
                    <a:lnT>
                      <a:noFill/>
                    </a:lnT>
                    <a:lnB>
                      <a:noFill/>
                    </a:lnB>
                  </a:tcPr>
                </a:tc>
                <a:tc>
                  <a:txBody>
                    <a:bodyPr/>
                    <a:lstStyle/>
                    <a:p>
                      <a:r>
                        <a:rPr lang="en-US"/>
                        <a:t>Executes a </a:t>
                      </a:r>
                      <a:r>
                        <a:rPr lang="en-US" b="1"/>
                        <a:t>SELECT</a:t>
                      </a:r>
                      <a:r>
                        <a:rPr lang="en-US"/>
                        <a:t> query and returns a ResultSet.</a:t>
                      </a:r>
                    </a:p>
                  </a:txBody>
                  <a:tcPr anchor="ctr">
                    <a:lnL>
                      <a:noFill/>
                    </a:lnL>
                    <a:lnR>
                      <a:noFill/>
                    </a:lnR>
                    <a:lnT>
                      <a:noFill/>
                    </a:lnT>
                    <a:lnB>
                      <a:noFill/>
                    </a:lnB>
                  </a:tcPr>
                </a:tc>
              </a:tr>
              <a:tr h="0">
                <a:tc>
                  <a:txBody>
                    <a:bodyPr/>
                    <a:lstStyle/>
                    <a:p>
                      <a:r>
                        <a:rPr lang="en-IN" dirty="0" err="1"/>
                        <a:t>executeUpdate</a:t>
                      </a:r>
                      <a:r>
                        <a:rPr lang="en-IN" dirty="0"/>
                        <a:t>(String </a:t>
                      </a:r>
                      <a:r>
                        <a:rPr lang="en-IN" dirty="0" err="1"/>
                        <a:t>sql</a:t>
                      </a:r>
                      <a:r>
                        <a:rPr lang="en-IN" dirty="0"/>
                        <a:t>)</a:t>
                      </a:r>
                    </a:p>
                  </a:txBody>
                  <a:tcPr anchor="ctr">
                    <a:lnL>
                      <a:noFill/>
                    </a:lnL>
                    <a:lnR>
                      <a:noFill/>
                    </a:lnR>
                    <a:lnT>
                      <a:noFill/>
                    </a:lnT>
                    <a:lnB>
                      <a:noFill/>
                    </a:lnB>
                  </a:tcPr>
                </a:tc>
                <a:tc>
                  <a:txBody>
                    <a:bodyPr/>
                    <a:lstStyle/>
                    <a:p>
                      <a:r>
                        <a:rPr lang="en-US"/>
                        <a:t>Executes </a:t>
                      </a:r>
                      <a:r>
                        <a:rPr lang="en-US" b="1"/>
                        <a:t>INSERT</a:t>
                      </a:r>
                      <a:r>
                        <a:rPr lang="en-US"/>
                        <a:t>, </a:t>
                      </a:r>
                      <a:r>
                        <a:rPr lang="en-US" b="1"/>
                        <a:t>UPDATE</a:t>
                      </a:r>
                      <a:r>
                        <a:rPr lang="en-US"/>
                        <a:t>, or </a:t>
                      </a:r>
                      <a:r>
                        <a:rPr lang="en-US" b="1"/>
                        <a:t>DELETE</a:t>
                      </a:r>
                      <a:r>
                        <a:rPr lang="en-US"/>
                        <a:t>, returns number of rows affected.</a:t>
                      </a:r>
                    </a:p>
                  </a:txBody>
                  <a:tcPr anchor="ctr">
                    <a:lnL>
                      <a:noFill/>
                    </a:lnL>
                    <a:lnR>
                      <a:noFill/>
                    </a:lnR>
                    <a:lnT>
                      <a:noFill/>
                    </a:lnT>
                    <a:lnB>
                      <a:noFill/>
                    </a:lnB>
                  </a:tcPr>
                </a:tc>
              </a:tr>
              <a:tr h="0">
                <a:tc>
                  <a:txBody>
                    <a:bodyPr/>
                    <a:lstStyle/>
                    <a:p>
                      <a:r>
                        <a:rPr lang="en-IN"/>
                        <a:t>execute(String sql)</a:t>
                      </a:r>
                    </a:p>
                  </a:txBody>
                  <a:tcPr anchor="ctr">
                    <a:lnL>
                      <a:noFill/>
                    </a:lnL>
                    <a:lnR>
                      <a:noFill/>
                    </a:lnR>
                    <a:lnT>
                      <a:noFill/>
                    </a:lnT>
                    <a:lnB>
                      <a:noFill/>
                    </a:lnB>
                  </a:tcPr>
                </a:tc>
                <a:tc>
                  <a:txBody>
                    <a:bodyPr/>
                    <a:lstStyle/>
                    <a:p>
                      <a:r>
                        <a:rPr lang="en-US" dirty="0"/>
                        <a:t>Executes any SQL statement; returns true if a </a:t>
                      </a:r>
                      <a:r>
                        <a:rPr lang="en-US" dirty="0" err="1"/>
                        <a:t>ResultSet</a:t>
                      </a:r>
                      <a:r>
                        <a:rPr lang="en-US" dirty="0"/>
                        <a:t> object is returned.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dirty="0" smtClean="0"/>
              <a:t>Dr SURESH YADLAPATI</a:t>
            </a:r>
            <a:endParaRPr lang="en-IN"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444082178"/>
              </p:ext>
            </p:extLst>
          </p:nvPr>
        </p:nvGraphicFramePr>
        <p:xfrm>
          <a:off x="534412" y="1031093"/>
          <a:ext cx="7772400" cy="2011680"/>
        </p:xfrm>
        <a:graphic>
          <a:graphicData uri="http://schemas.openxmlformats.org/drawingml/2006/table">
            <a:tbl>
              <a:tblPr>
                <a:tableStyleId>{BC89EF96-8CEA-46FF-86C4-4CE0E7609802}</a:tableStyleId>
              </a:tblPr>
              <a:tblGrid>
                <a:gridCol w="3058108"/>
                <a:gridCol w="4714292"/>
              </a:tblGrid>
              <a:tr h="0">
                <a:tc>
                  <a:txBody>
                    <a:bodyPr/>
                    <a:lstStyle/>
                    <a:p>
                      <a:r>
                        <a:rPr lang="en-IN" b="1" dirty="0"/>
                        <a:t>Method</a:t>
                      </a:r>
                    </a:p>
                  </a:txBody>
                  <a:tcPr anchor="ctr"/>
                </a:tc>
                <a:tc>
                  <a:txBody>
                    <a:bodyPr/>
                    <a:lstStyle/>
                    <a:p>
                      <a:r>
                        <a:rPr lang="en-IN" b="1" dirty="0"/>
                        <a:t>Purpose</a:t>
                      </a:r>
                    </a:p>
                  </a:txBody>
                  <a:tcPr anchor="ctr"/>
                </a:tc>
              </a:tr>
              <a:tr h="0">
                <a:tc>
                  <a:txBody>
                    <a:bodyPr/>
                    <a:lstStyle/>
                    <a:p>
                      <a:r>
                        <a:rPr lang="en-IN" b="1" dirty="0" err="1"/>
                        <a:t>executeQuery</a:t>
                      </a:r>
                      <a:r>
                        <a:rPr lang="en-IN" b="1" dirty="0"/>
                        <a:t>(String </a:t>
                      </a:r>
                      <a:r>
                        <a:rPr lang="en-IN" b="1" dirty="0" err="1"/>
                        <a:t>sql</a:t>
                      </a:r>
                      <a:r>
                        <a:rPr lang="en-IN" b="1" dirty="0"/>
                        <a:t>)</a:t>
                      </a:r>
                    </a:p>
                  </a:txBody>
                  <a:tcPr anchor="ctr"/>
                </a:tc>
                <a:tc>
                  <a:txBody>
                    <a:bodyPr/>
                    <a:lstStyle/>
                    <a:p>
                      <a:r>
                        <a:rPr lang="en-US"/>
                        <a:t>Executes a SELECT query and returns a ResultSet.</a:t>
                      </a:r>
                    </a:p>
                  </a:txBody>
                  <a:tcPr anchor="ctr"/>
                </a:tc>
              </a:tr>
              <a:tr h="0">
                <a:tc>
                  <a:txBody>
                    <a:bodyPr/>
                    <a:lstStyle/>
                    <a:p>
                      <a:r>
                        <a:rPr lang="en-IN" b="1" dirty="0" err="1"/>
                        <a:t>executeUpdate</a:t>
                      </a:r>
                      <a:r>
                        <a:rPr lang="en-IN" b="1" dirty="0"/>
                        <a:t>(String </a:t>
                      </a:r>
                      <a:r>
                        <a:rPr lang="en-IN" b="1" dirty="0" err="1"/>
                        <a:t>sql</a:t>
                      </a:r>
                      <a:r>
                        <a:rPr lang="en-IN" b="1" dirty="0"/>
                        <a:t>)</a:t>
                      </a:r>
                    </a:p>
                  </a:txBody>
                  <a:tcPr anchor="ctr"/>
                </a:tc>
                <a:tc>
                  <a:txBody>
                    <a:bodyPr/>
                    <a:lstStyle/>
                    <a:p>
                      <a:r>
                        <a:rPr lang="en-US"/>
                        <a:t>Executes INSERT, UPDATE, or DELETE, returns number of rows affected.</a:t>
                      </a:r>
                    </a:p>
                  </a:txBody>
                  <a:tcPr anchor="ctr"/>
                </a:tc>
              </a:tr>
              <a:tr h="0">
                <a:tc>
                  <a:txBody>
                    <a:bodyPr/>
                    <a:lstStyle/>
                    <a:p>
                      <a:r>
                        <a:rPr lang="en-IN" b="1" dirty="0"/>
                        <a:t>execute(String </a:t>
                      </a:r>
                      <a:r>
                        <a:rPr lang="en-IN" b="1" dirty="0" err="1"/>
                        <a:t>sql</a:t>
                      </a:r>
                      <a:r>
                        <a:rPr lang="en-IN" b="1" dirty="0"/>
                        <a:t>)</a:t>
                      </a:r>
                    </a:p>
                  </a:txBody>
                  <a:tcPr anchor="ctr"/>
                </a:tc>
                <a:tc>
                  <a:txBody>
                    <a:bodyPr/>
                    <a:lstStyle/>
                    <a:p>
                      <a:r>
                        <a:rPr lang="en-US" dirty="0"/>
                        <a:t>Executes any SQL statement; returns true if a </a:t>
                      </a:r>
                      <a:r>
                        <a:rPr lang="en-US" dirty="0" err="1"/>
                        <a:t>ResultSet</a:t>
                      </a:r>
                      <a:r>
                        <a:rPr lang="en-US" dirty="0"/>
                        <a:t> object is returned.</a:t>
                      </a:r>
                    </a:p>
                  </a:txBody>
                  <a:tcPr anchor="ctr"/>
                </a:tc>
              </a:tr>
            </a:tbl>
          </a:graphicData>
        </a:graphic>
      </p:graphicFrame>
      <p:sp>
        <p:nvSpPr>
          <p:cNvPr id="6" name="Rectangle 5"/>
          <p:cNvSpPr/>
          <p:nvPr/>
        </p:nvSpPr>
        <p:spPr>
          <a:xfrm>
            <a:off x="352160" y="188640"/>
            <a:ext cx="8136904" cy="830997"/>
          </a:xfrm>
          <a:prstGeom prst="rect">
            <a:avLst/>
          </a:prstGeom>
        </p:spPr>
        <p:txBody>
          <a:bodyPr wrap="square">
            <a:spAutoFit/>
          </a:bodyPr>
          <a:lstStyle/>
          <a:p>
            <a:r>
              <a:rPr lang="en-US" sz="2400" b="1" dirty="0"/>
              <a:t>Executing SQL Statements: </a:t>
            </a:r>
            <a:r>
              <a:rPr lang="en-US" sz="2400" dirty="0"/>
              <a:t>After creating Statement object, </a:t>
            </a:r>
            <a:r>
              <a:rPr lang="en-US" sz="2400" dirty="0" err="1"/>
              <a:t>sthis</a:t>
            </a:r>
            <a:r>
              <a:rPr lang="en-US" sz="2400" dirty="0"/>
              <a:t> object can be used to </a:t>
            </a:r>
            <a:r>
              <a:rPr lang="en-US" sz="2400" dirty="0" err="1"/>
              <a:t>excute</a:t>
            </a:r>
            <a:r>
              <a:rPr lang="en-US" sz="2400" dirty="0"/>
              <a:t> SQL statements</a:t>
            </a:r>
            <a:endParaRPr lang="en-US" dirty="0"/>
          </a:p>
        </p:txBody>
      </p:sp>
      <p:sp>
        <p:nvSpPr>
          <p:cNvPr id="7" name="TextBox 6"/>
          <p:cNvSpPr txBox="1"/>
          <p:nvPr/>
        </p:nvSpPr>
        <p:spPr>
          <a:xfrm>
            <a:off x="539552" y="3140968"/>
            <a:ext cx="8136904" cy="1754326"/>
          </a:xfrm>
          <a:prstGeom prst="rect">
            <a:avLst/>
          </a:prstGeom>
          <a:noFill/>
        </p:spPr>
        <p:txBody>
          <a:bodyPr wrap="square" rtlCol="0">
            <a:spAutoFit/>
          </a:bodyPr>
          <a:lstStyle/>
          <a:p>
            <a:r>
              <a:rPr lang="en-US" sz="2400" dirty="0"/>
              <a:t>If statement produces a </a:t>
            </a:r>
            <a:r>
              <a:rPr lang="en-US" sz="2400" dirty="0" err="1"/>
              <a:t>ResultSet</a:t>
            </a:r>
            <a:r>
              <a:rPr lang="en-US" sz="2400" dirty="0"/>
              <a:t> object after executing SQL statement, the </a:t>
            </a:r>
            <a:r>
              <a:rPr lang="en-US" sz="2400" dirty="0" err="1"/>
              <a:t>ResultSet</a:t>
            </a:r>
            <a:r>
              <a:rPr lang="en-US" sz="2400" dirty="0"/>
              <a:t> instance is used to retrieve the results. </a:t>
            </a:r>
            <a:endParaRPr lang="en-US" sz="2400" dirty="0" smtClean="0"/>
          </a:p>
          <a:p>
            <a:pPr lvl="1"/>
            <a:r>
              <a:rPr lang="en-IN" sz="2000" dirty="0"/>
              <a:t>while (</a:t>
            </a:r>
            <a:r>
              <a:rPr lang="en-IN" sz="2000" dirty="0" err="1"/>
              <a:t>rs.next</a:t>
            </a:r>
            <a:r>
              <a:rPr lang="en-IN" sz="2000" dirty="0"/>
              <a:t>()) {</a:t>
            </a:r>
          </a:p>
          <a:p>
            <a:pPr lvl="1"/>
            <a:r>
              <a:rPr lang="en-IN" sz="2000" dirty="0" smtClean="0"/>
              <a:t>	</a:t>
            </a:r>
            <a:r>
              <a:rPr lang="en-IN" sz="2000" dirty="0" err="1" smtClean="0"/>
              <a:t>System.out.println</a:t>
            </a:r>
            <a:r>
              <a:rPr lang="en-IN" sz="2000" dirty="0" smtClean="0"/>
              <a:t>(</a:t>
            </a:r>
            <a:r>
              <a:rPr lang="en-IN" sz="2000" dirty="0" err="1" smtClean="0"/>
              <a:t>rs.getInt</a:t>
            </a:r>
            <a:r>
              <a:rPr lang="en-IN" sz="2000" dirty="0"/>
              <a:t>("</a:t>
            </a:r>
            <a:r>
              <a:rPr lang="en-IN" sz="2000" dirty="0" err="1"/>
              <a:t>rollno</a:t>
            </a:r>
            <a:r>
              <a:rPr lang="en-IN" sz="2000" dirty="0"/>
              <a:t>") ;</a:t>
            </a:r>
          </a:p>
          <a:p>
            <a:pPr lvl="1"/>
            <a:r>
              <a:rPr lang="en-IN" sz="2000" dirty="0"/>
              <a:t>} </a:t>
            </a:r>
          </a:p>
        </p:txBody>
      </p:sp>
      <p:sp>
        <p:nvSpPr>
          <p:cNvPr id="8" name="TextBox 7"/>
          <p:cNvSpPr txBox="1"/>
          <p:nvPr/>
        </p:nvSpPr>
        <p:spPr>
          <a:xfrm>
            <a:off x="521312" y="5013176"/>
            <a:ext cx="5688632" cy="954107"/>
          </a:xfrm>
          <a:prstGeom prst="rect">
            <a:avLst/>
          </a:prstGeom>
          <a:noFill/>
        </p:spPr>
        <p:txBody>
          <a:bodyPr wrap="square" rtlCol="0">
            <a:spAutoFit/>
          </a:bodyPr>
          <a:lstStyle/>
          <a:p>
            <a:r>
              <a:rPr lang="en-US" sz="2800" dirty="0" smtClean="0"/>
              <a:t>Finally close the connection.</a:t>
            </a:r>
          </a:p>
          <a:p>
            <a:r>
              <a:rPr lang="en-US" sz="2800" dirty="0" err="1" smtClean="0"/>
              <a:t>connection.close</a:t>
            </a:r>
            <a:r>
              <a:rPr lang="en-US" sz="2800" dirty="0" smtClean="0"/>
              <a:t>()</a:t>
            </a:r>
            <a:endParaRPr lang="en-IN" sz="2800"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20080"/>
          </a:xfrm>
        </p:spPr>
        <p:txBody>
          <a:bodyPr>
            <a:normAutofit fontScale="90000"/>
          </a:bodyPr>
          <a:lstStyle/>
          <a:p>
            <a:r>
              <a:rPr lang="en-IN" dirty="0" err="1"/>
              <a:t>ResultSet</a:t>
            </a:r>
            <a:r>
              <a:rPr lang="en-IN" dirty="0"/>
              <a:t> Interface in JDBC</a:t>
            </a:r>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95536" y="980728"/>
            <a:ext cx="7772400" cy="4572000"/>
          </a:xfrm>
        </p:spPr>
        <p:txBody>
          <a:bodyPr>
            <a:normAutofit lnSpcReduction="10000"/>
          </a:bodyPr>
          <a:lstStyle/>
          <a:p>
            <a:r>
              <a:rPr lang="en-US" dirty="0" smtClean="0"/>
              <a:t>The </a:t>
            </a:r>
            <a:r>
              <a:rPr lang="en-US" b="1" dirty="0" err="1"/>
              <a:t>ResultSet</a:t>
            </a:r>
            <a:r>
              <a:rPr lang="en-US" dirty="0"/>
              <a:t> interface in </a:t>
            </a:r>
            <a:r>
              <a:rPr lang="en-US" b="1" dirty="0"/>
              <a:t>JDBC (Java Database Connectivity)</a:t>
            </a:r>
            <a:r>
              <a:rPr lang="en-US" dirty="0"/>
              <a:t> is used to </a:t>
            </a:r>
            <a:r>
              <a:rPr lang="en-US" b="1" dirty="0"/>
              <a:t>represent the data retrieved from a database</a:t>
            </a:r>
            <a:r>
              <a:rPr lang="en-US" dirty="0"/>
              <a:t> after executing a query. </a:t>
            </a:r>
            <a:endParaRPr lang="en-US" dirty="0" smtClean="0"/>
          </a:p>
          <a:p>
            <a:r>
              <a:rPr lang="en-US" dirty="0" smtClean="0"/>
              <a:t>It </a:t>
            </a:r>
            <a:r>
              <a:rPr lang="en-US" dirty="0"/>
              <a:t>provides methods to </a:t>
            </a:r>
            <a:r>
              <a:rPr lang="en-US" b="1" dirty="0"/>
              <a:t>read, navigate, and manipulate </a:t>
            </a:r>
            <a:r>
              <a:rPr lang="en-US" b="1" dirty="0" smtClean="0"/>
              <a:t>query </a:t>
            </a:r>
            <a:r>
              <a:rPr lang="en-US" b="1" dirty="0"/>
              <a:t>results</a:t>
            </a:r>
            <a:r>
              <a:rPr lang="en-US" dirty="0" smtClean="0"/>
              <a:t>.</a:t>
            </a:r>
          </a:p>
          <a:p>
            <a:r>
              <a:rPr lang="en-US" b="1" dirty="0"/>
              <a:t>Key Points of </a:t>
            </a:r>
            <a:r>
              <a:rPr lang="en-US" b="1" dirty="0" err="1"/>
              <a:t>ResultSet</a:t>
            </a:r>
            <a:r>
              <a:rPr lang="en-US" b="1" dirty="0"/>
              <a:t> Interface</a:t>
            </a:r>
          </a:p>
          <a:p>
            <a:pPr lvl="1"/>
            <a:r>
              <a:rPr lang="en-US" dirty="0"/>
              <a:t>It is part of the </a:t>
            </a:r>
            <a:r>
              <a:rPr lang="en-US" b="1" dirty="0" err="1"/>
              <a:t>java.sql</a:t>
            </a:r>
            <a:r>
              <a:rPr lang="en-US" b="1" dirty="0"/>
              <a:t> package</a:t>
            </a:r>
            <a:r>
              <a:rPr lang="en-US" dirty="0"/>
              <a:t>.</a:t>
            </a:r>
          </a:p>
          <a:p>
            <a:pPr lvl="1"/>
            <a:r>
              <a:rPr lang="en-US" dirty="0"/>
              <a:t>Created when you execute a </a:t>
            </a:r>
            <a:r>
              <a:rPr lang="en-US" b="1" dirty="0"/>
              <a:t>SELECT query</a:t>
            </a:r>
            <a:r>
              <a:rPr lang="en-US" dirty="0"/>
              <a:t> using a Statement, </a:t>
            </a:r>
            <a:r>
              <a:rPr lang="en-US" dirty="0" err="1"/>
              <a:t>PreparedStatement</a:t>
            </a:r>
            <a:r>
              <a:rPr lang="en-US" dirty="0"/>
              <a:t>, or </a:t>
            </a:r>
            <a:r>
              <a:rPr lang="en-US" dirty="0" err="1"/>
              <a:t>CallableStatement</a:t>
            </a:r>
            <a:r>
              <a:rPr lang="en-US" dirty="0"/>
              <a:t>.</a:t>
            </a:r>
          </a:p>
          <a:p>
            <a:pPr lvl="1"/>
            <a:r>
              <a:rPr lang="en-US" dirty="0"/>
              <a:t>Acts like a </a:t>
            </a:r>
            <a:r>
              <a:rPr lang="en-US" b="1" dirty="0"/>
              <a:t>cursor</a:t>
            </a:r>
            <a:r>
              <a:rPr lang="en-US" dirty="0"/>
              <a:t> that points to one row of the result set at a time.</a:t>
            </a:r>
          </a:p>
          <a:p>
            <a:endParaRPr lang="en-IN" dirty="0"/>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720080"/>
          </a:xfrm>
        </p:spPr>
        <p:txBody>
          <a:bodyPr>
            <a:normAutofit fontScale="90000"/>
          </a:bodyPr>
          <a:lstStyle/>
          <a:p>
            <a:r>
              <a:rPr lang="en-US" b="1" dirty="0" smtClean="0"/>
              <a:t>Commonly used methods</a:t>
            </a:r>
            <a:endParaRPr lang="en-IN" b="1"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553371720"/>
              </p:ext>
            </p:extLst>
          </p:nvPr>
        </p:nvGraphicFramePr>
        <p:xfrm>
          <a:off x="539552" y="980728"/>
          <a:ext cx="8352928" cy="5328592"/>
        </p:xfrm>
        <a:graphic>
          <a:graphicData uri="http://schemas.openxmlformats.org/drawingml/2006/table">
            <a:tbl>
              <a:tblPr>
                <a:tableStyleId>{616DA210-FB5B-4158-B5E0-FEB733F419BA}</a:tableStyleId>
              </a:tblPr>
              <a:tblGrid>
                <a:gridCol w="3189300"/>
                <a:gridCol w="5163628"/>
              </a:tblGrid>
              <a:tr h="372836">
                <a:tc>
                  <a:txBody>
                    <a:bodyPr/>
                    <a:lstStyle/>
                    <a:p>
                      <a:pPr algn="ctr"/>
                      <a:r>
                        <a:rPr lang="en-IN" sz="1600" dirty="0"/>
                        <a:t>Method Name</a:t>
                      </a:r>
                    </a:p>
                  </a:txBody>
                  <a:tcPr marL="69273" marR="69273" marT="34636" marB="34636" anchor="ctr"/>
                </a:tc>
                <a:tc>
                  <a:txBody>
                    <a:bodyPr/>
                    <a:lstStyle/>
                    <a:p>
                      <a:pPr algn="ctr"/>
                      <a:r>
                        <a:rPr lang="en-IN" sz="1600" dirty="0"/>
                        <a:t>Purpose</a:t>
                      </a:r>
                    </a:p>
                  </a:txBody>
                  <a:tcPr marL="69273" marR="69273" marT="34636" marB="34636" anchor="ctr"/>
                </a:tc>
              </a:tr>
              <a:tr h="577402">
                <a:tc>
                  <a:txBody>
                    <a:bodyPr/>
                    <a:lstStyle/>
                    <a:p>
                      <a:r>
                        <a:rPr lang="en-IN" sz="1600" b="1" dirty="0" err="1"/>
                        <a:t>boolean</a:t>
                      </a:r>
                      <a:r>
                        <a:rPr lang="en-IN" sz="1600" b="1" dirty="0"/>
                        <a:t> next()</a:t>
                      </a:r>
                    </a:p>
                  </a:txBody>
                  <a:tcPr marL="69273" marR="69273" marT="34636" marB="34636" anchor="ctr"/>
                </a:tc>
                <a:tc>
                  <a:txBody>
                    <a:bodyPr/>
                    <a:lstStyle/>
                    <a:p>
                      <a:r>
                        <a:rPr lang="en-US" sz="1600" b="1"/>
                        <a:t>Moves the cursor to the next row. Returns false if no more rows.</a:t>
                      </a:r>
                    </a:p>
                  </a:txBody>
                  <a:tcPr marL="69273" marR="69273" marT="34636" marB="34636" anchor="ctr"/>
                </a:tc>
              </a:tr>
              <a:tr h="577402">
                <a:tc>
                  <a:txBody>
                    <a:bodyPr/>
                    <a:lstStyle/>
                    <a:p>
                      <a:r>
                        <a:rPr lang="en-IN" sz="1600" b="1" dirty="0" err="1"/>
                        <a:t>int</a:t>
                      </a:r>
                      <a:r>
                        <a:rPr lang="en-IN" sz="1600" b="1" dirty="0"/>
                        <a:t> </a:t>
                      </a:r>
                      <a:r>
                        <a:rPr lang="en-IN" sz="1600" b="1" dirty="0" err="1"/>
                        <a:t>getInt</a:t>
                      </a:r>
                      <a:r>
                        <a:rPr lang="en-IN" sz="1600" b="1" dirty="0"/>
                        <a:t>(String </a:t>
                      </a:r>
                      <a:r>
                        <a:rPr lang="en-IN" sz="1600" b="1" dirty="0" err="1"/>
                        <a:t>columnLabel</a:t>
                      </a:r>
                      <a:r>
                        <a:rPr lang="en-IN" sz="1600" b="1" dirty="0"/>
                        <a:t>)</a:t>
                      </a:r>
                    </a:p>
                  </a:txBody>
                  <a:tcPr marL="69273" marR="69273" marT="34636" marB="34636" anchor="ctr"/>
                </a:tc>
                <a:tc>
                  <a:txBody>
                    <a:bodyPr/>
                    <a:lstStyle/>
                    <a:p>
                      <a:r>
                        <a:rPr lang="en-US" sz="1600" b="1"/>
                        <a:t>Retrieves an integer from the specified column name.</a:t>
                      </a:r>
                    </a:p>
                  </a:txBody>
                  <a:tcPr marL="69273" marR="69273" marT="34636" marB="34636" anchor="ctr"/>
                </a:tc>
              </a:tr>
              <a:tr h="577402">
                <a:tc>
                  <a:txBody>
                    <a:bodyPr/>
                    <a:lstStyle/>
                    <a:p>
                      <a:r>
                        <a:rPr lang="en-IN" sz="1600" b="1" dirty="0"/>
                        <a:t>String </a:t>
                      </a:r>
                      <a:r>
                        <a:rPr lang="en-IN" sz="1600" b="1" dirty="0" err="1"/>
                        <a:t>getString</a:t>
                      </a:r>
                      <a:r>
                        <a:rPr lang="en-IN" sz="1600" b="1" dirty="0"/>
                        <a:t>(String </a:t>
                      </a:r>
                      <a:r>
                        <a:rPr lang="en-IN" sz="1600" b="1" dirty="0" err="1"/>
                        <a:t>columnLabel</a:t>
                      </a:r>
                      <a:r>
                        <a:rPr lang="en-IN" sz="1600" b="1" dirty="0"/>
                        <a:t>)</a:t>
                      </a:r>
                    </a:p>
                  </a:txBody>
                  <a:tcPr marL="69273" marR="69273" marT="34636" marB="34636" anchor="ctr"/>
                </a:tc>
                <a:tc>
                  <a:txBody>
                    <a:bodyPr/>
                    <a:lstStyle/>
                    <a:p>
                      <a:r>
                        <a:rPr lang="en-US" sz="1600" b="1" dirty="0"/>
                        <a:t>Retrieves a string from the specified column name.</a:t>
                      </a:r>
                    </a:p>
                  </a:txBody>
                  <a:tcPr marL="69273" marR="69273" marT="34636" marB="34636" anchor="ctr"/>
                </a:tc>
              </a:tr>
              <a:tr h="577402">
                <a:tc>
                  <a:txBody>
                    <a:bodyPr/>
                    <a:lstStyle/>
                    <a:p>
                      <a:r>
                        <a:rPr lang="en-IN" sz="1600" b="1" dirty="0"/>
                        <a:t>double </a:t>
                      </a:r>
                      <a:r>
                        <a:rPr lang="en-IN" sz="1600" b="1" dirty="0" err="1"/>
                        <a:t>getDouble</a:t>
                      </a:r>
                      <a:r>
                        <a:rPr lang="en-IN" sz="1600" b="1" dirty="0"/>
                        <a:t>(String </a:t>
                      </a:r>
                      <a:r>
                        <a:rPr lang="en-IN" sz="1600" b="1" dirty="0" err="1"/>
                        <a:t>columnLabel</a:t>
                      </a:r>
                      <a:r>
                        <a:rPr lang="en-IN" sz="1600" b="1" dirty="0"/>
                        <a:t>)</a:t>
                      </a:r>
                    </a:p>
                  </a:txBody>
                  <a:tcPr marL="69273" marR="69273" marT="34636" marB="34636" anchor="ctr"/>
                </a:tc>
                <a:tc>
                  <a:txBody>
                    <a:bodyPr/>
                    <a:lstStyle/>
                    <a:p>
                      <a:r>
                        <a:rPr lang="en-US" sz="1600" b="1"/>
                        <a:t>Retrieves a double from the specified column name.</a:t>
                      </a:r>
                    </a:p>
                  </a:txBody>
                  <a:tcPr marL="69273" marR="69273" marT="34636" marB="34636" anchor="ctr"/>
                </a:tc>
              </a:tr>
              <a:tr h="577402">
                <a:tc>
                  <a:txBody>
                    <a:bodyPr/>
                    <a:lstStyle/>
                    <a:p>
                      <a:r>
                        <a:rPr lang="en-IN" sz="1600" b="1" dirty="0" err="1"/>
                        <a:t>boolean</a:t>
                      </a:r>
                      <a:r>
                        <a:rPr lang="en-IN" sz="1600" b="1" dirty="0"/>
                        <a:t> first()</a:t>
                      </a:r>
                    </a:p>
                  </a:txBody>
                  <a:tcPr marL="69273" marR="69273" marT="34636" marB="34636" anchor="ctr"/>
                </a:tc>
                <a:tc>
                  <a:txBody>
                    <a:bodyPr/>
                    <a:lstStyle/>
                    <a:p>
                      <a:r>
                        <a:rPr lang="en-US" sz="1600" b="1"/>
                        <a:t>Moves cursor to the first row (only for scrollable ResultSets).</a:t>
                      </a:r>
                    </a:p>
                  </a:txBody>
                  <a:tcPr marL="69273" marR="69273" marT="34636" marB="34636" anchor="ctr"/>
                </a:tc>
              </a:tr>
              <a:tr h="372836">
                <a:tc>
                  <a:txBody>
                    <a:bodyPr/>
                    <a:lstStyle/>
                    <a:p>
                      <a:r>
                        <a:rPr lang="en-IN" sz="1600" b="1"/>
                        <a:t>boolean last()</a:t>
                      </a:r>
                    </a:p>
                  </a:txBody>
                  <a:tcPr marL="69273" marR="69273" marT="34636" marB="34636" anchor="ctr"/>
                </a:tc>
                <a:tc>
                  <a:txBody>
                    <a:bodyPr/>
                    <a:lstStyle/>
                    <a:p>
                      <a:r>
                        <a:rPr lang="en-US" sz="1600" b="1" dirty="0"/>
                        <a:t>Moves cursor to the last row (scrollable).</a:t>
                      </a:r>
                    </a:p>
                  </a:txBody>
                  <a:tcPr marL="69273" marR="69273" marT="34636" marB="34636" anchor="ctr"/>
                </a:tc>
              </a:tr>
              <a:tr h="577402">
                <a:tc>
                  <a:txBody>
                    <a:bodyPr/>
                    <a:lstStyle/>
                    <a:p>
                      <a:r>
                        <a:rPr lang="en-IN" sz="1600" b="1"/>
                        <a:t>boolean previous()</a:t>
                      </a:r>
                    </a:p>
                  </a:txBody>
                  <a:tcPr marL="69273" marR="69273" marT="34636" marB="34636" anchor="ctr"/>
                </a:tc>
                <a:tc>
                  <a:txBody>
                    <a:bodyPr/>
                    <a:lstStyle/>
                    <a:p>
                      <a:r>
                        <a:rPr lang="en-US" sz="1600" b="1" dirty="0"/>
                        <a:t>Moves cursor to the previous row (scrollable).</a:t>
                      </a:r>
                    </a:p>
                  </a:txBody>
                  <a:tcPr marL="69273" marR="69273" marT="34636" marB="34636" anchor="ctr"/>
                </a:tc>
              </a:tr>
              <a:tr h="372836">
                <a:tc>
                  <a:txBody>
                    <a:bodyPr/>
                    <a:lstStyle/>
                    <a:p>
                      <a:r>
                        <a:rPr lang="en-IN" sz="1600" b="1"/>
                        <a:t>void close()</a:t>
                      </a:r>
                    </a:p>
                  </a:txBody>
                  <a:tcPr marL="69273" marR="69273" marT="34636" marB="34636" anchor="ctr"/>
                </a:tc>
                <a:tc>
                  <a:txBody>
                    <a:bodyPr/>
                    <a:lstStyle/>
                    <a:p>
                      <a:r>
                        <a:rPr lang="en-IN" sz="1600" b="1"/>
                        <a:t>Closes the ResultSet object.</a:t>
                      </a:r>
                    </a:p>
                  </a:txBody>
                  <a:tcPr marL="69273" marR="69273" marT="34636" marB="34636" anchor="ctr"/>
                </a:tc>
              </a:tr>
              <a:tr h="372836">
                <a:tc>
                  <a:txBody>
                    <a:bodyPr/>
                    <a:lstStyle/>
                    <a:p>
                      <a:r>
                        <a:rPr lang="en-IN" sz="1600" b="1"/>
                        <a:t>boolean absolute(int row)</a:t>
                      </a:r>
                    </a:p>
                  </a:txBody>
                  <a:tcPr marL="69273" marR="69273" marT="34636" marB="34636" anchor="ctr"/>
                </a:tc>
                <a:tc>
                  <a:txBody>
                    <a:bodyPr/>
                    <a:lstStyle/>
                    <a:p>
                      <a:r>
                        <a:rPr lang="en-US" sz="1600" b="1"/>
                        <a:t>Moves cursor to the specified row number.</a:t>
                      </a:r>
                    </a:p>
                  </a:txBody>
                  <a:tcPr marL="69273" marR="69273" marT="34636" marB="34636" anchor="ctr"/>
                </a:tc>
              </a:tr>
              <a:tr h="372836">
                <a:tc>
                  <a:txBody>
                    <a:bodyPr/>
                    <a:lstStyle/>
                    <a:p>
                      <a:r>
                        <a:rPr lang="en-IN" sz="1600" b="1" dirty="0" err="1"/>
                        <a:t>boolean</a:t>
                      </a:r>
                      <a:r>
                        <a:rPr lang="en-IN" sz="1600" b="1" dirty="0"/>
                        <a:t> relative(</a:t>
                      </a:r>
                      <a:r>
                        <a:rPr lang="en-IN" sz="1600" b="1" dirty="0" err="1"/>
                        <a:t>int</a:t>
                      </a:r>
                      <a:r>
                        <a:rPr lang="en-IN" sz="1600" b="1" dirty="0"/>
                        <a:t> rows)</a:t>
                      </a:r>
                    </a:p>
                  </a:txBody>
                  <a:tcPr marL="69273" marR="69273" marT="34636" marB="34636" anchor="ctr"/>
                </a:tc>
                <a:tc>
                  <a:txBody>
                    <a:bodyPr/>
                    <a:lstStyle/>
                    <a:p>
                      <a:r>
                        <a:rPr lang="en-US" sz="1600" b="1" dirty="0"/>
                        <a:t>Moves cursor relative to current row.</a:t>
                      </a:r>
                    </a:p>
                  </a:txBody>
                  <a:tcPr marL="69273" marR="69273" marT="34636" marB="34636" anchor="ct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73930718"/>
              </p:ext>
            </p:extLst>
          </p:nvPr>
        </p:nvGraphicFramePr>
        <p:xfrm>
          <a:off x="683568" y="1844824"/>
          <a:ext cx="7772400" cy="1828800"/>
        </p:xfrm>
        <a:graphic>
          <a:graphicData uri="http://schemas.openxmlformats.org/drawingml/2006/table">
            <a:tbl>
              <a:tblPr>
                <a:tableStyleId>{8799B23B-EC83-4686-B30A-512413B5E67A}</a:tableStyleId>
              </a:tblPr>
              <a:tblGrid>
                <a:gridCol w="2520280"/>
                <a:gridCol w="5252120"/>
              </a:tblGrid>
              <a:tr h="0">
                <a:tc>
                  <a:txBody>
                    <a:bodyPr/>
                    <a:lstStyle/>
                    <a:p>
                      <a:r>
                        <a:rPr lang="en-IN" dirty="0"/>
                        <a:t>Method</a:t>
                      </a:r>
                    </a:p>
                  </a:txBody>
                  <a:tcPr anchor="ctr"/>
                </a:tc>
                <a:tc>
                  <a:txBody>
                    <a:bodyPr/>
                    <a:lstStyle/>
                    <a:p>
                      <a:r>
                        <a:rPr lang="en-IN"/>
                        <a:t>Meaning</a:t>
                      </a:r>
                    </a:p>
                  </a:txBody>
                  <a:tcPr anchor="ctr"/>
                </a:tc>
              </a:tr>
              <a:tr h="0">
                <a:tc>
                  <a:txBody>
                    <a:bodyPr/>
                    <a:lstStyle/>
                    <a:p>
                      <a:r>
                        <a:rPr lang="en-IN" dirty="0" err="1" smtClean="0"/>
                        <a:t>boolean</a:t>
                      </a:r>
                      <a:r>
                        <a:rPr lang="en-IN" dirty="0" smtClean="0"/>
                        <a:t> </a:t>
                      </a:r>
                      <a:r>
                        <a:rPr lang="en-IN" dirty="0" err="1" smtClean="0"/>
                        <a:t>isBeforeFirst</a:t>
                      </a:r>
                      <a:r>
                        <a:rPr lang="en-IN" dirty="0"/>
                        <a:t>()</a:t>
                      </a:r>
                    </a:p>
                  </a:txBody>
                  <a:tcPr anchor="ctr"/>
                </a:tc>
                <a:tc>
                  <a:txBody>
                    <a:bodyPr/>
                    <a:lstStyle/>
                    <a:p>
                      <a:r>
                        <a:rPr lang="en-IN" dirty="0"/>
                        <a:t>Before the first row.</a:t>
                      </a:r>
                    </a:p>
                  </a:txBody>
                  <a:tcPr anchor="ctr"/>
                </a:tc>
              </a:tr>
              <a:tr h="0">
                <a:tc>
                  <a:txBody>
                    <a:bodyPr/>
                    <a:lstStyle/>
                    <a:p>
                      <a:r>
                        <a:rPr lang="en-IN" dirty="0" err="1" smtClean="0"/>
                        <a:t>boolean</a:t>
                      </a:r>
                      <a:r>
                        <a:rPr lang="en-IN" dirty="0" smtClean="0"/>
                        <a:t> </a:t>
                      </a:r>
                      <a:r>
                        <a:rPr lang="en-IN" dirty="0" err="1" smtClean="0"/>
                        <a:t>isAfterLast</a:t>
                      </a:r>
                      <a:r>
                        <a:rPr lang="en-IN" dirty="0"/>
                        <a:t>()</a:t>
                      </a:r>
                    </a:p>
                  </a:txBody>
                  <a:tcPr anchor="ctr"/>
                </a:tc>
                <a:tc>
                  <a:txBody>
                    <a:bodyPr/>
                    <a:lstStyle/>
                    <a:p>
                      <a:r>
                        <a:rPr lang="en-IN"/>
                        <a:t>After the last row.</a:t>
                      </a:r>
                    </a:p>
                  </a:txBody>
                  <a:tcPr anchor="ctr"/>
                </a:tc>
              </a:tr>
              <a:tr h="0">
                <a:tc>
                  <a:txBody>
                    <a:bodyPr/>
                    <a:lstStyle/>
                    <a:p>
                      <a:r>
                        <a:rPr lang="en-IN" dirty="0" err="1" smtClean="0"/>
                        <a:t>boolean</a:t>
                      </a:r>
                      <a:r>
                        <a:rPr lang="en-IN" dirty="0" smtClean="0"/>
                        <a:t> </a:t>
                      </a:r>
                      <a:r>
                        <a:rPr lang="en-IN" dirty="0" err="1" smtClean="0"/>
                        <a:t>isFirst</a:t>
                      </a:r>
                      <a:r>
                        <a:rPr lang="en-IN" dirty="0"/>
                        <a:t>()</a:t>
                      </a:r>
                    </a:p>
                  </a:txBody>
                  <a:tcPr anchor="ctr"/>
                </a:tc>
                <a:tc>
                  <a:txBody>
                    <a:bodyPr/>
                    <a:lstStyle/>
                    <a:p>
                      <a:r>
                        <a:rPr lang="en-US"/>
                        <a:t>Currently on the first row.</a:t>
                      </a:r>
                    </a:p>
                  </a:txBody>
                  <a:tcPr anchor="ctr"/>
                </a:tc>
              </a:tr>
              <a:tr h="0">
                <a:tc>
                  <a:txBody>
                    <a:bodyPr/>
                    <a:lstStyle/>
                    <a:p>
                      <a:r>
                        <a:rPr lang="en-IN" dirty="0" err="1" smtClean="0"/>
                        <a:t>boolean</a:t>
                      </a:r>
                      <a:r>
                        <a:rPr lang="en-IN" dirty="0" smtClean="0"/>
                        <a:t> </a:t>
                      </a:r>
                      <a:r>
                        <a:rPr lang="en-IN" dirty="0" err="1" smtClean="0"/>
                        <a:t>isLast</a:t>
                      </a:r>
                      <a:r>
                        <a:rPr lang="en-IN" dirty="0"/>
                        <a:t>()</a:t>
                      </a:r>
                    </a:p>
                  </a:txBody>
                  <a:tcPr anchor="ctr"/>
                </a:tc>
                <a:tc>
                  <a:txBody>
                    <a:bodyPr/>
                    <a:lstStyle/>
                    <a:p>
                      <a:r>
                        <a:rPr lang="en-US" dirty="0"/>
                        <a:t>Currently on the last row.</a:t>
                      </a:r>
                    </a:p>
                  </a:txBody>
                  <a:tcPr anchor="ctr"/>
                </a:tc>
              </a:tr>
            </a:tbl>
          </a:graphicData>
        </a:graphic>
      </p:graphicFrame>
    </p:spTree>
    <p:extLst>
      <p:ext uri="{BB962C8B-B14F-4D97-AF65-F5344CB8AC3E}">
        <p14:creationId xmlns:p14="http://schemas.microsoft.com/office/powerpoint/2010/main" val="346857778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648072"/>
          </a:xfrm>
        </p:spPr>
        <p:txBody>
          <a:bodyPr>
            <a:normAutofit fontScale="90000"/>
          </a:bodyPr>
          <a:lstStyle/>
          <a:p>
            <a:r>
              <a:rPr lang="en-US" dirty="0" smtClean="0"/>
              <a:t>Types of </a:t>
            </a:r>
            <a:r>
              <a:rPr lang="en-US" dirty="0" err="1" smtClean="0"/>
              <a:t>ResultSet</a:t>
            </a:r>
            <a:endParaRPr lang="en-IN"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860458265"/>
              </p:ext>
            </p:extLst>
          </p:nvPr>
        </p:nvGraphicFramePr>
        <p:xfrm>
          <a:off x="466416" y="836712"/>
          <a:ext cx="7772400" cy="2286000"/>
        </p:xfrm>
        <a:graphic>
          <a:graphicData uri="http://schemas.openxmlformats.org/drawingml/2006/table">
            <a:tbl>
              <a:tblPr>
                <a:tableStyleId>{ED083AE6-46FA-4A59-8FB0-9F97EB10719F}</a:tableStyleId>
              </a:tblPr>
              <a:tblGrid>
                <a:gridCol w="3886200"/>
                <a:gridCol w="3886200"/>
              </a:tblGrid>
              <a:tr h="0">
                <a:tc>
                  <a:txBody>
                    <a:bodyPr/>
                    <a:lstStyle/>
                    <a:p>
                      <a:r>
                        <a:rPr lang="en-IN" b="1" dirty="0"/>
                        <a:t>Type Constant</a:t>
                      </a:r>
                    </a:p>
                  </a:txBody>
                  <a:tcPr anchor="ctr"/>
                </a:tc>
                <a:tc>
                  <a:txBody>
                    <a:bodyPr/>
                    <a:lstStyle/>
                    <a:p>
                      <a:r>
                        <a:rPr lang="en-IN" b="1" dirty="0"/>
                        <a:t>Description</a:t>
                      </a:r>
                    </a:p>
                  </a:txBody>
                  <a:tcPr anchor="ctr"/>
                </a:tc>
              </a:tr>
              <a:tr h="0">
                <a:tc>
                  <a:txBody>
                    <a:bodyPr/>
                    <a:lstStyle/>
                    <a:p>
                      <a:r>
                        <a:rPr lang="en-IN" b="1" dirty="0" err="1" smtClean="0"/>
                        <a:t>ResultSet.TYPE_FORWARD_ONLY</a:t>
                      </a:r>
                      <a:r>
                        <a:rPr lang="en-IN" b="1" dirty="0" smtClean="0"/>
                        <a:t> </a:t>
                      </a:r>
                      <a:r>
                        <a:rPr lang="en-IN" b="0" dirty="0" smtClean="0"/>
                        <a:t>(default)</a:t>
                      </a:r>
                      <a:endParaRPr lang="en-IN" b="0" dirty="0"/>
                    </a:p>
                  </a:txBody>
                  <a:tcPr anchor="ctr"/>
                </a:tc>
                <a:tc>
                  <a:txBody>
                    <a:bodyPr/>
                    <a:lstStyle/>
                    <a:p>
                      <a:r>
                        <a:rPr lang="en-US"/>
                        <a:t>Cursor moves only forward. (Default)</a:t>
                      </a:r>
                    </a:p>
                  </a:txBody>
                  <a:tcPr anchor="ctr"/>
                </a:tc>
              </a:tr>
              <a:tr h="0">
                <a:tc>
                  <a:txBody>
                    <a:bodyPr/>
                    <a:lstStyle/>
                    <a:p>
                      <a:r>
                        <a:rPr lang="en-IN" dirty="0" err="1"/>
                        <a:t>ResultSet.TYPE_SCROLL_INSENSITIVE</a:t>
                      </a:r>
                      <a:endParaRPr lang="en-IN" dirty="0"/>
                    </a:p>
                  </a:txBody>
                  <a:tcPr anchor="ctr"/>
                </a:tc>
                <a:tc>
                  <a:txBody>
                    <a:bodyPr/>
                    <a:lstStyle/>
                    <a:p>
                      <a:r>
                        <a:rPr lang="en-US" dirty="0"/>
                        <a:t>Cursor can move both forward and backward; does not reflect database changes.</a:t>
                      </a:r>
                    </a:p>
                  </a:txBody>
                  <a:tcPr anchor="ctr"/>
                </a:tc>
              </a:tr>
              <a:tr h="0">
                <a:tc>
                  <a:txBody>
                    <a:bodyPr/>
                    <a:lstStyle/>
                    <a:p>
                      <a:r>
                        <a:rPr lang="en-IN" dirty="0" err="1"/>
                        <a:t>ResultSet.TYPE_SCROLL_SENSITIVE</a:t>
                      </a:r>
                      <a:endParaRPr lang="en-IN" dirty="0"/>
                    </a:p>
                  </a:txBody>
                  <a:tcPr anchor="ctr"/>
                </a:tc>
                <a:tc>
                  <a:txBody>
                    <a:bodyPr/>
                    <a:lstStyle/>
                    <a:p>
                      <a:r>
                        <a:rPr lang="en-US" dirty="0"/>
                        <a:t>Cursor can move both forward and backward; reflects database changes.</a:t>
                      </a:r>
                    </a:p>
                  </a:txBody>
                  <a:tcPr anchor="ct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8545889"/>
              </p:ext>
            </p:extLst>
          </p:nvPr>
        </p:nvGraphicFramePr>
        <p:xfrm>
          <a:off x="476696" y="3645024"/>
          <a:ext cx="7772400" cy="1645920"/>
        </p:xfrm>
        <a:graphic>
          <a:graphicData uri="http://schemas.openxmlformats.org/drawingml/2006/table">
            <a:tbl>
              <a:tblPr>
                <a:tableStyleId>{8799B23B-EC83-4686-B30A-512413B5E67A}</a:tableStyleId>
              </a:tblPr>
              <a:tblGrid>
                <a:gridCol w="3886200"/>
                <a:gridCol w="3886200"/>
              </a:tblGrid>
              <a:tr h="338468">
                <a:tc>
                  <a:txBody>
                    <a:bodyPr/>
                    <a:lstStyle/>
                    <a:p>
                      <a:r>
                        <a:rPr lang="en-IN" b="1" dirty="0"/>
                        <a:t>Constant</a:t>
                      </a:r>
                    </a:p>
                  </a:txBody>
                  <a:tcPr anchor="ctr"/>
                </a:tc>
                <a:tc>
                  <a:txBody>
                    <a:bodyPr/>
                    <a:lstStyle/>
                    <a:p>
                      <a:r>
                        <a:rPr lang="en-IN" b="1" dirty="0"/>
                        <a:t>Description</a:t>
                      </a:r>
                    </a:p>
                  </a:txBody>
                  <a:tcPr anchor="ctr"/>
                </a:tc>
              </a:tr>
              <a:tr h="0">
                <a:tc>
                  <a:txBody>
                    <a:bodyPr/>
                    <a:lstStyle/>
                    <a:p>
                      <a:r>
                        <a:rPr lang="en-IN" b="1" dirty="0" err="1" smtClean="0"/>
                        <a:t>ResultSet.CONCUR_READ_ONLY</a:t>
                      </a:r>
                      <a:r>
                        <a:rPr lang="en-IN" b="1" dirty="0" smtClean="0"/>
                        <a:t> </a:t>
                      </a:r>
                      <a:r>
                        <a:rPr lang="en-IN" b="0" dirty="0" smtClean="0"/>
                        <a:t>(Default)</a:t>
                      </a:r>
                      <a:endParaRPr lang="en-IN" b="0" dirty="0"/>
                    </a:p>
                  </a:txBody>
                  <a:tcPr anchor="ctr"/>
                </a:tc>
                <a:tc>
                  <a:txBody>
                    <a:bodyPr/>
                    <a:lstStyle/>
                    <a:p>
                      <a:r>
                        <a:rPr lang="en-US" dirty="0"/>
                        <a:t>Cannot update the database through the </a:t>
                      </a:r>
                      <a:r>
                        <a:rPr lang="en-US" dirty="0" err="1"/>
                        <a:t>ResultSet</a:t>
                      </a:r>
                      <a:r>
                        <a:rPr lang="en-US" dirty="0"/>
                        <a:t>.</a:t>
                      </a:r>
                    </a:p>
                  </a:txBody>
                  <a:tcPr anchor="ctr"/>
                </a:tc>
              </a:tr>
              <a:tr h="0">
                <a:tc>
                  <a:txBody>
                    <a:bodyPr/>
                    <a:lstStyle/>
                    <a:p>
                      <a:r>
                        <a:rPr lang="en-IN" dirty="0" err="1"/>
                        <a:t>ResultSet.CONCUR_UPDATABLE</a:t>
                      </a:r>
                      <a:endParaRPr lang="en-IN" dirty="0"/>
                    </a:p>
                  </a:txBody>
                  <a:tcPr anchor="ctr"/>
                </a:tc>
                <a:tc>
                  <a:txBody>
                    <a:bodyPr/>
                    <a:lstStyle/>
                    <a:p>
                      <a:r>
                        <a:rPr lang="en-US" dirty="0"/>
                        <a:t>Can update the database through the </a:t>
                      </a:r>
                      <a:r>
                        <a:rPr lang="en-US" dirty="0" err="1"/>
                        <a:t>ResultSet</a:t>
                      </a:r>
                      <a:r>
                        <a:rPr lang="en-US" dirty="0"/>
                        <a:t>.</a:t>
                      </a:r>
                    </a:p>
                  </a:txBody>
                  <a:tcPr anchor="ctr"/>
                </a:tc>
              </a:tr>
            </a:tbl>
          </a:graphicData>
        </a:graphic>
      </p:graphicFrame>
      <p:sp>
        <p:nvSpPr>
          <p:cNvPr id="7" name="TextBox 6"/>
          <p:cNvSpPr txBox="1"/>
          <p:nvPr/>
        </p:nvSpPr>
        <p:spPr>
          <a:xfrm>
            <a:off x="467544" y="2924944"/>
            <a:ext cx="2520280" cy="646331"/>
          </a:xfrm>
          <a:prstGeom prst="rect">
            <a:avLst/>
          </a:prstGeom>
          <a:noFill/>
        </p:spPr>
        <p:txBody>
          <a:bodyPr wrap="square" rtlCol="0">
            <a:spAutoFit/>
          </a:bodyPr>
          <a:lstStyle/>
          <a:p>
            <a:endParaRPr lang="en-US" b="1" dirty="0" smtClean="0"/>
          </a:p>
          <a:p>
            <a:r>
              <a:rPr lang="en-US" b="1" dirty="0" smtClean="0"/>
              <a:t>Concurrency Modes </a:t>
            </a:r>
            <a:endParaRPr lang="en-IN" b="1" dirty="0"/>
          </a:p>
        </p:txBody>
      </p:sp>
      <p:sp>
        <p:nvSpPr>
          <p:cNvPr id="8" name="Rectangle 7"/>
          <p:cNvSpPr/>
          <p:nvPr/>
        </p:nvSpPr>
        <p:spPr>
          <a:xfrm>
            <a:off x="467544" y="5462634"/>
            <a:ext cx="7848872" cy="646331"/>
          </a:xfrm>
          <a:prstGeom prst="rect">
            <a:avLst/>
          </a:prstGeom>
        </p:spPr>
        <p:txBody>
          <a:bodyPr wrap="square">
            <a:spAutoFit/>
          </a:bodyPr>
          <a:lstStyle/>
          <a:p>
            <a:r>
              <a:rPr lang="en-IN" dirty="0"/>
              <a:t>Statement </a:t>
            </a:r>
            <a:r>
              <a:rPr lang="en-IN" dirty="0" err="1"/>
              <a:t>stmt</a:t>
            </a:r>
            <a:r>
              <a:rPr lang="en-IN" dirty="0"/>
              <a:t> = </a:t>
            </a:r>
            <a:r>
              <a:rPr lang="en-IN" dirty="0" err="1"/>
              <a:t>con.createStatement</a:t>
            </a:r>
            <a:r>
              <a:rPr lang="en-IN" dirty="0"/>
              <a:t>(</a:t>
            </a:r>
            <a:r>
              <a:rPr lang="en-IN" dirty="0" err="1"/>
              <a:t>ResultSet.TYPE_SCROLL_INSENSITIVE</a:t>
            </a:r>
            <a:r>
              <a:rPr lang="en-IN" dirty="0"/>
              <a:t>, </a:t>
            </a:r>
            <a:r>
              <a:rPr lang="en-IN" dirty="0" err="1"/>
              <a:t>ResultSet.CONCUR_READ_ONLY</a:t>
            </a:r>
            <a:r>
              <a:rPr lang="en-IN" dirty="0"/>
              <a:t>);</a:t>
            </a:r>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820472" cy="1152128"/>
          </a:xfrm>
        </p:spPr>
        <p:txBody>
          <a:bodyPr>
            <a:normAutofit fontScale="90000"/>
          </a:bodyPr>
          <a:lstStyle/>
          <a:p>
            <a:r>
              <a:rPr lang="en-US" b="1" dirty="0"/>
              <a:t>Working with Batch updates: </a:t>
            </a:r>
            <a:r>
              <a:rPr lang="en-US" b="1" dirty="0" smtClean="0"/>
              <a:t> with </a:t>
            </a:r>
            <a:r>
              <a:rPr lang="en-US" b="1" dirty="0"/>
              <a:t>the Statement object</a:t>
            </a:r>
            <a:endParaRPr lang="en-IN" b="1"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323528" y="1412776"/>
            <a:ext cx="7772400" cy="4572000"/>
          </a:xfrm>
        </p:spPr>
        <p:txBody>
          <a:bodyPr/>
          <a:lstStyle/>
          <a:p>
            <a:r>
              <a:rPr lang="en-US" dirty="0"/>
              <a:t>A </a:t>
            </a:r>
            <a:r>
              <a:rPr lang="en-US" b="1" dirty="0"/>
              <a:t>batch update</a:t>
            </a:r>
            <a:r>
              <a:rPr lang="en-US" dirty="0"/>
              <a:t> in JDBC allows you to send multiple SQL statements to the </a:t>
            </a:r>
            <a:r>
              <a:rPr lang="en-US" dirty="0" smtClean="0"/>
              <a:t>database </a:t>
            </a:r>
            <a:r>
              <a:rPr lang="en-US" dirty="0"/>
              <a:t>in one round-trip. </a:t>
            </a:r>
            <a:endParaRPr lang="en-US" dirty="0" smtClean="0"/>
          </a:p>
          <a:p>
            <a:r>
              <a:rPr lang="en-US" dirty="0"/>
              <a:t>This reduces network traffic and improves performance significantly, especially when executing a large number of insert, update, or delete operations.</a:t>
            </a:r>
            <a:endParaRPr lang="en-IN" dirty="0"/>
          </a:p>
        </p:txBody>
      </p:sp>
      <p:sp>
        <p:nvSpPr>
          <p:cNvPr id="5" name="Rectangle 4"/>
          <p:cNvSpPr/>
          <p:nvPr/>
        </p:nvSpPr>
        <p:spPr>
          <a:xfrm>
            <a:off x="611560" y="3717032"/>
            <a:ext cx="7920880" cy="1569660"/>
          </a:xfrm>
          <a:prstGeom prst="rect">
            <a:avLst/>
          </a:prstGeom>
        </p:spPr>
        <p:txBody>
          <a:bodyPr wrap="square">
            <a:spAutoFit/>
          </a:bodyPr>
          <a:lstStyle/>
          <a:p>
            <a:r>
              <a:rPr lang="en-US" sz="2400" b="1" dirty="0"/>
              <a:t>Advantages of Batch Updates</a:t>
            </a:r>
          </a:p>
          <a:p>
            <a:pPr marL="342900" indent="-342900">
              <a:buFont typeface="Arial" pitchFamily="34" charset="0"/>
              <a:buChar char="•"/>
            </a:pPr>
            <a:r>
              <a:rPr lang="en-US" sz="2400" dirty="0"/>
              <a:t>Better performance due to reduced database round-trips.</a:t>
            </a:r>
          </a:p>
          <a:p>
            <a:pPr marL="342900" indent="-342900">
              <a:buFont typeface="Arial" pitchFamily="34" charset="0"/>
              <a:buChar char="•"/>
            </a:pPr>
            <a:r>
              <a:rPr lang="en-US" sz="2400" dirty="0"/>
              <a:t>Easy to group logically related operations.</a:t>
            </a:r>
          </a:p>
          <a:p>
            <a:pPr marL="342900" indent="-342900">
              <a:buFont typeface="Arial" pitchFamily="34" charset="0"/>
              <a:buChar char="•"/>
            </a:pPr>
            <a:r>
              <a:rPr lang="en-US" sz="2400" dirty="0"/>
              <a:t>Useful in bulk insert/update/delete operations.</a:t>
            </a:r>
          </a:p>
        </p:txBody>
      </p:sp>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11" name="Content Placeholder 10"/>
          <p:cNvGraphicFramePr>
            <a:graphicFrameLocks noGrp="1"/>
          </p:cNvGraphicFramePr>
          <p:nvPr>
            <p:ph sz="quarter" idx="1"/>
            <p:extLst>
              <p:ext uri="{D42A27DB-BD31-4B8C-83A1-F6EECF244321}">
                <p14:modId xmlns:p14="http://schemas.microsoft.com/office/powerpoint/2010/main" val="3240974763"/>
              </p:ext>
            </p:extLst>
          </p:nvPr>
        </p:nvGraphicFramePr>
        <p:xfrm>
          <a:off x="395536" y="404665"/>
          <a:ext cx="8568952" cy="5334000"/>
        </p:xfrm>
        <a:graphic>
          <a:graphicData uri="http://schemas.openxmlformats.org/drawingml/2006/table">
            <a:tbl>
              <a:tblPr>
                <a:tableStyleId>{3C2FFA5D-87B4-456A-9821-1D502468CF0F}</a:tableStyleId>
              </a:tblPr>
              <a:tblGrid>
                <a:gridCol w="3096121"/>
                <a:gridCol w="5472831"/>
              </a:tblGrid>
              <a:tr h="345848">
                <a:tc>
                  <a:txBody>
                    <a:bodyPr/>
                    <a:lstStyle/>
                    <a:p>
                      <a:pPr algn="ctr"/>
                      <a:r>
                        <a:rPr lang="en-IN" b="1" dirty="0"/>
                        <a:t>Method</a:t>
                      </a:r>
                    </a:p>
                  </a:txBody>
                  <a:tcPr anchor="ctr"/>
                </a:tc>
                <a:tc>
                  <a:txBody>
                    <a:bodyPr/>
                    <a:lstStyle/>
                    <a:p>
                      <a:pPr algn="ctr"/>
                      <a:r>
                        <a:rPr lang="en-IN" b="1" dirty="0"/>
                        <a:t>Description</a:t>
                      </a:r>
                    </a:p>
                  </a:txBody>
                  <a:tcPr anchor="ctr"/>
                </a:tc>
              </a:tr>
              <a:tr h="951081">
                <a:tc>
                  <a:txBody>
                    <a:bodyPr/>
                    <a:lstStyle/>
                    <a:p>
                      <a:r>
                        <a:rPr lang="en-IN" sz="2800" dirty="0" err="1"/>
                        <a:t>addBatch</a:t>
                      </a:r>
                      <a:r>
                        <a:rPr lang="en-IN" sz="2800" dirty="0"/>
                        <a:t>(String </a:t>
                      </a:r>
                      <a:r>
                        <a:rPr lang="en-IN" sz="2800" dirty="0" err="1"/>
                        <a:t>sql</a:t>
                      </a:r>
                      <a:r>
                        <a:rPr lang="en-IN" sz="2800" dirty="0"/>
                        <a:t>)</a:t>
                      </a:r>
                    </a:p>
                  </a:txBody>
                  <a:tcPr anchor="ctr"/>
                </a:tc>
                <a:tc>
                  <a:txBody>
                    <a:bodyPr/>
                    <a:lstStyle/>
                    <a:p>
                      <a:r>
                        <a:rPr lang="en-US" sz="2200" dirty="0" smtClean="0"/>
                        <a:t>The </a:t>
                      </a:r>
                      <a:r>
                        <a:rPr lang="en-US" sz="2200" b="1" dirty="0" err="1" smtClean="0"/>
                        <a:t>addBatch</a:t>
                      </a:r>
                      <a:r>
                        <a:rPr lang="en-US" sz="2200" b="1" dirty="0" smtClean="0"/>
                        <a:t>()</a:t>
                      </a:r>
                      <a:r>
                        <a:rPr lang="en-US" sz="2200" dirty="0" smtClean="0"/>
                        <a:t> method of Statement, </a:t>
                      </a:r>
                      <a:r>
                        <a:rPr lang="en-US" sz="2200" dirty="0" err="1" smtClean="0"/>
                        <a:t>PreparedStatement</a:t>
                      </a:r>
                      <a:r>
                        <a:rPr lang="en-US" sz="2200" dirty="0" smtClean="0"/>
                        <a:t>, and </a:t>
                      </a:r>
                      <a:r>
                        <a:rPr lang="en-US" sz="2200" dirty="0" err="1" smtClean="0"/>
                        <a:t>CallableStatement</a:t>
                      </a:r>
                      <a:r>
                        <a:rPr lang="en-US" sz="2200" dirty="0" smtClean="0"/>
                        <a:t> is used to add individual statements to the batch. </a:t>
                      </a:r>
                    </a:p>
                  </a:txBody>
                  <a:tcPr anchor="ctr"/>
                </a:tc>
              </a:tr>
              <a:tr h="1527494">
                <a:tc>
                  <a:txBody>
                    <a:bodyPr/>
                    <a:lstStyle/>
                    <a:p>
                      <a:r>
                        <a:rPr lang="en-IN" sz="2800" dirty="0" err="1" smtClean="0"/>
                        <a:t>int</a:t>
                      </a:r>
                      <a:r>
                        <a:rPr lang="en-IN" sz="2800" baseline="0" dirty="0" smtClean="0"/>
                        <a:t>[] </a:t>
                      </a:r>
                      <a:r>
                        <a:rPr lang="en-IN" sz="2800" dirty="0" err="1" smtClean="0"/>
                        <a:t>executeBatch</a:t>
                      </a:r>
                      <a:r>
                        <a:rPr lang="en-IN" sz="2800" dirty="0"/>
                        <a:t>()</a:t>
                      </a:r>
                    </a:p>
                  </a:txBody>
                  <a:tcPr anchor="ctr"/>
                </a:tc>
                <a:tc>
                  <a:txBody>
                    <a:bodyPr/>
                    <a:lstStyle/>
                    <a:p>
                      <a:r>
                        <a:rPr lang="en-US" sz="2200" dirty="0" smtClean="0"/>
                        <a:t>The </a:t>
                      </a:r>
                      <a:r>
                        <a:rPr lang="en-US" sz="2200" b="1" dirty="0" err="1" smtClean="0"/>
                        <a:t>executeBatch</a:t>
                      </a:r>
                      <a:r>
                        <a:rPr lang="en-US" sz="2200" b="1" dirty="0" smtClean="0"/>
                        <a:t>()</a:t>
                      </a:r>
                      <a:r>
                        <a:rPr lang="en-US" sz="2200" dirty="0" smtClean="0"/>
                        <a:t> is used to start the execution of all the statements grouped together.</a:t>
                      </a:r>
                    </a:p>
                    <a:p>
                      <a:r>
                        <a:rPr lang="en-US" sz="2200" dirty="0" smtClean="0"/>
                        <a:t>The </a:t>
                      </a:r>
                      <a:r>
                        <a:rPr lang="en-US" sz="2200" b="1" dirty="0" err="1" smtClean="0"/>
                        <a:t>executeBatch</a:t>
                      </a:r>
                      <a:r>
                        <a:rPr lang="en-US" sz="2200" b="1" dirty="0" smtClean="0"/>
                        <a:t>()</a:t>
                      </a:r>
                      <a:r>
                        <a:rPr lang="en-US" sz="2200" dirty="0" smtClean="0"/>
                        <a:t> returns an array of integers, and each element of the array represents the update count for the respective update statement.</a:t>
                      </a:r>
                    </a:p>
                  </a:txBody>
                  <a:tcPr anchor="ctr"/>
                </a:tc>
              </a:tr>
              <a:tr h="1856097">
                <a:tc>
                  <a:txBody>
                    <a:bodyPr/>
                    <a:lstStyle/>
                    <a:p>
                      <a:r>
                        <a:rPr lang="en-IN" sz="2800" dirty="0" err="1"/>
                        <a:t>clearBatch</a:t>
                      </a:r>
                      <a:r>
                        <a:rPr lang="en-IN" sz="2800" dirty="0"/>
                        <a:t>()</a:t>
                      </a:r>
                    </a:p>
                  </a:txBody>
                  <a:tcPr anchor="ctr"/>
                </a:tc>
                <a:tc>
                  <a:txBody>
                    <a:bodyPr/>
                    <a:lstStyle/>
                    <a:p>
                      <a:r>
                        <a:rPr lang="en-US" sz="2200" dirty="0" smtClean="0"/>
                        <a:t>Just as you can add statements to a batch for processing, you can remove them with the </a:t>
                      </a:r>
                      <a:r>
                        <a:rPr lang="en-US" sz="2200" b="1" dirty="0" err="1" smtClean="0"/>
                        <a:t>clearBatch</a:t>
                      </a:r>
                      <a:r>
                        <a:rPr lang="en-US" sz="2200" b="1" dirty="0" smtClean="0"/>
                        <a:t>()</a:t>
                      </a:r>
                      <a:r>
                        <a:rPr lang="en-US" sz="2200" dirty="0" smtClean="0"/>
                        <a:t> method. </a:t>
                      </a:r>
                    </a:p>
                    <a:p>
                      <a:r>
                        <a:rPr lang="en-US" sz="2200" dirty="0" smtClean="0"/>
                        <a:t>This method removes all the statements you added with the </a:t>
                      </a:r>
                      <a:r>
                        <a:rPr lang="en-US" sz="2200" dirty="0" err="1" smtClean="0"/>
                        <a:t>addBatch</a:t>
                      </a:r>
                      <a:r>
                        <a:rPr lang="en-US" sz="2200" dirty="0" smtClean="0"/>
                        <a:t>() method. However, you cannot selectively choose which statement to remove.</a:t>
                      </a:r>
                      <a:endParaRPr lang="en-US" sz="2200" dirty="0"/>
                    </a:p>
                  </a:txBody>
                  <a:tcPr anchor="ctr"/>
                </a:tc>
              </a:tr>
            </a:tbl>
          </a:graphicData>
        </a:graphic>
      </p:graphicFrame>
    </p:spTree>
    <p:extLst>
      <p:ext uri="{BB962C8B-B14F-4D97-AF65-F5344CB8AC3E}">
        <p14:creationId xmlns:p14="http://schemas.microsoft.com/office/powerpoint/2010/main" val="13292036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626464" y="1484784"/>
            <a:ext cx="7772400" cy="3888432"/>
          </a:xfrm>
        </p:spPr>
        <p:txBody>
          <a:bodyPr>
            <a:normAutofit/>
          </a:bodyPr>
          <a:lstStyle/>
          <a:p>
            <a:r>
              <a:rPr lang="en-US" dirty="0"/>
              <a:t>Create a Statement object using either </a:t>
            </a:r>
            <a:r>
              <a:rPr lang="en-US" dirty="0" err="1"/>
              <a:t>createStatement</a:t>
            </a:r>
            <a:r>
              <a:rPr lang="en-US" dirty="0"/>
              <a:t>() methods.</a:t>
            </a:r>
          </a:p>
          <a:p>
            <a:r>
              <a:rPr lang="en-US" dirty="0"/>
              <a:t>Set auto-commit to false using </a:t>
            </a:r>
            <a:r>
              <a:rPr lang="en-US" dirty="0" err="1"/>
              <a:t>setAutoCommit</a:t>
            </a:r>
            <a:r>
              <a:rPr lang="en-US" dirty="0" smtClean="0"/>
              <a:t>().</a:t>
            </a:r>
            <a:r>
              <a:rPr lang="en-US" b="1" dirty="0" smtClean="0"/>
              <a:t>(Optional Statement)</a:t>
            </a:r>
            <a:endParaRPr lang="en-US" b="1" dirty="0"/>
          </a:p>
          <a:p>
            <a:r>
              <a:rPr lang="en-US" dirty="0"/>
              <a:t>Add as many as SQL statements you like into batch using </a:t>
            </a:r>
            <a:r>
              <a:rPr lang="en-US" b="1" dirty="0" err="1"/>
              <a:t>addBatch</a:t>
            </a:r>
            <a:r>
              <a:rPr lang="en-US" b="1" dirty="0"/>
              <a:t>() </a:t>
            </a:r>
            <a:r>
              <a:rPr lang="en-US" dirty="0"/>
              <a:t>method on created statement object.</a:t>
            </a:r>
          </a:p>
          <a:p>
            <a:r>
              <a:rPr lang="en-US" dirty="0"/>
              <a:t>Execute all the SQL statements using </a:t>
            </a:r>
            <a:r>
              <a:rPr lang="en-US" b="1" dirty="0" err="1"/>
              <a:t>executeBatch</a:t>
            </a:r>
            <a:r>
              <a:rPr lang="en-US" b="1" dirty="0"/>
              <a:t>() </a:t>
            </a:r>
            <a:r>
              <a:rPr lang="en-US" dirty="0"/>
              <a:t>method on created statement object</a:t>
            </a:r>
            <a:r>
              <a:rPr lang="en-US" dirty="0" smtClean="0"/>
              <a:t>. </a:t>
            </a:r>
            <a:endParaRPr lang="en-US" dirty="0"/>
          </a:p>
          <a:p>
            <a:pPr marL="0" indent="0">
              <a:buNone/>
            </a:pPr>
            <a:endParaRPr lang="en-IN" dirty="0"/>
          </a:p>
        </p:txBody>
      </p:sp>
      <p:sp>
        <p:nvSpPr>
          <p:cNvPr id="5" name="TextBox 4"/>
          <p:cNvSpPr txBox="1"/>
          <p:nvPr/>
        </p:nvSpPr>
        <p:spPr>
          <a:xfrm>
            <a:off x="179512" y="332656"/>
            <a:ext cx="5832648" cy="830997"/>
          </a:xfrm>
          <a:prstGeom prst="rect">
            <a:avLst/>
          </a:prstGeom>
          <a:noFill/>
        </p:spPr>
        <p:txBody>
          <a:bodyPr wrap="square" rtlCol="0">
            <a:spAutoFit/>
          </a:bodyPr>
          <a:lstStyle/>
          <a:p>
            <a:r>
              <a:rPr lang="en-US" sz="4800" b="1" dirty="0" smtClean="0"/>
              <a:t>Steps to be followed</a:t>
            </a:r>
            <a:endParaRPr lang="en-IN" sz="4800" b="1" dirty="0"/>
          </a:p>
        </p:txBody>
      </p:sp>
    </p:spTree>
    <p:extLst>
      <p:ext uri="{BB962C8B-B14F-4D97-AF65-F5344CB8AC3E}">
        <p14:creationId xmlns:p14="http://schemas.microsoft.com/office/powerpoint/2010/main" val="24442486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34082"/>
          </a:xfrm>
        </p:spPr>
        <p:txBody>
          <a:bodyPr>
            <a:normAutofit fontScale="90000"/>
          </a:bodyPr>
          <a:lstStyle/>
          <a:p>
            <a:r>
              <a:rPr lang="en-US" b="1" u="sng" dirty="0" err="1" smtClean="0">
                <a:solidFill>
                  <a:schemeClr val="tx1"/>
                </a:solidFill>
              </a:rPr>
              <a:t>PreparedStatement</a:t>
            </a:r>
            <a:r>
              <a:rPr lang="en-US" b="1" u="sng" dirty="0" smtClean="0">
                <a:solidFill>
                  <a:schemeClr val="tx1"/>
                </a:solidFill>
              </a:rPr>
              <a:t> interface</a:t>
            </a:r>
            <a:endParaRPr lang="en-IN" dirty="0">
              <a:solidFill>
                <a:schemeClr val="tx1"/>
              </a:solidFill>
            </a:endParaRPr>
          </a:p>
        </p:txBody>
      </p:sp>
      <p:sp>
        <p:nvSpPr>
          <p:cNvPr id="3" name="Content Placeholder 2"/>
          <p:cNvSpPr>
            <a:spLocks noGrp="1"/>
          </p:cNvSpPr>
          <p:nvPr>
            <p:ph sz="quarter" idx="1"/>
          </p:nvPr>
        </p:nvSpPr>
        <p:spPr>
          <a:xfrm>
            <a:off x="323528" y="1124744"/>
            <a:ext cx="8401080" cy="4572000"/>
          </a:xfrm>
        </p:spPr>
        <p:txBody>
          <a:bodyPr>
            <a:normAutofit/>
          </a:bodyPr>
          <a:lstStyle/>
          <a:p>
            <a:r>
              <a:rPr lang="en-US" dirty="0" smtClean="0"/>
              <a:t>The </a:t>
            </a:r>
            <a:r>
              <a:rPr lang="en-US" dirty="0" err="1" smtClean="0"/>
              <a:t>PreparedStatement</a:t>
            </a:r>
            <a:r>
              <a:rPr lang="en-US" dirty="0" smtClean="0"/>
              <a:t> interface creates an object that represents a precompiled SQL statement.</a:t>
            </a:r>
            <a:endParaRPr lang="en-IN" dirty="0" smtClean="0"/>
          </a:p>
          <a:p>
            <a:r>
              <a:rPr lang="en-US" dirty="0" smtClean="0"/>
              <a:t>A SQL statement is pre-compiled and stored in a </a:t>
            </a:r>
            <a:r>
              <a:rPr lang="en-US" dirty="0" err="1" smtClean="0"/>
              <a:t>PreparedStatement</a:t>
            </a:r>
            <a:r>
              <a:rPr lang="en-US" dirty="0" smtClean="0"/>
              <a:t> object. This object can then be used to efficiently execute SQL statement multiple times. </a:t>
            </a:r>
            <a:endParaRPr lang="en-IN" dirty="0" smtClean="0"/>
          </a:p>
          <a:p>
            <a:pPr lvl="2"/>
            <a:r>
              <a:rPr lang="en-US" b="1" dirty="0" smtClean="0"/>
              <a:t>Note: </a:t>
            </a:r>
            <a:r>
              <a:rPr lang="en-US" dirty="0" smtClean="0"/>
              <a:t>The setter methods for setting IN parameter values must specify types that are compatible with the defined SQL type of the input parameter. For instance, if the IN parameter has SQL type INTEGER, then the method </a:t>
            </a:r>
            <a:r>
              <a:rPr lang="en-US" dirty="0" err="1" smtClean="0"/>
              <a:t>setInt</a:t>
            </a:r>
            <a:r>
              <a:rPr lang="en-US" dirty="0" smtClean="0"/>
              <a:t> should be used.</a:t>
            </a:r>
            <a:endParaRPr lang="en-IN" dirty="0" smtClean="0"/>
          </a:p>
          <a:p>
            <a:pPr>
              <a:buNone/>
            </a:pPr>
            <a:r>
              <a:rPr lang="en-US" dirty="0" smtClean="0"/>
              <a:t>        </a:t>
            </a:r>
          </a:p>
          <a:p>
            <a:pPr>
              <a:buNone/>
            </a:pPr>
            <a:r>
              <a:rPr lang="en-US" dirty="0" smtClean="0"/>
              <a:t>     public interface </a:t>
            </a:r>
            <a:r>
              <a:rPr lang="en-US" b="1" dirty="0" err="1" smtClean="0"/>
              <a:t>PreparedStatement</a:t>
            </a:r>
            <a:r>
              <a:rPr lang="en-US" dirty="0" smtClean="0"/>
              <a:t> extends Statement</a:t>
            </a:r>
            <a:endParaRPr lang="en-IN" dirty="0" smtClean="0"/>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191768796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1753033024"/>
              </p:ext>
            </p:extLst>
          </p:nvPr>
        </p:nvGraphicFramePr>
        <p:xfrm>
          <a:off x="500034" y="428604"/>
          <a:ext cx="8286809" cy="5715040"/>
        </p:xfrm>
        <a:graphic>
          <a:graphicData uri="http://schemas.openxmlformats.org/drawingml/2006/table">
            <a:tbl>
              <a:tblPr/>
              <a:tblGrid>
                <a:gridCol w="975622"/>
                <a:gridCol w="3744416"/>
                <a:gridCol w="3566771"/>
              </a:tblGrid>
              <a:tr h="285752">
                <a:tc>
                  <a:txBody>
                    <a:bodyPr/>
                    <a:lstStyle/>
                    <a:p>
                      <a:pPr marL="0" marR="0">
                        <a:lnSpc>
                          <a:spcPct val="115000"/>
                        </a:lnSpc>
                        <a:spcBef>
                          <a:spcPts val="600"/>
                        </a:spcBef>
                        <a:spcAft>
                          <a:spcPts val="600"/>
                        </a:spcAft>
                      </a:pPr>
                      <a:r>
                        <a:rPr lang="en-US" sz="1200" b="1" u="sng" dirty="0" smtClean="0">
                          <a:latin typeface="Times New Roman"/>
                          <a:ea typeface="Calibri"/>
                          <a:cs typeface="Times New Roman"/>
                        </a:rPr>
                        <a:t>Return Type</a:t>
                      </a:r>
                      <a:endParaRPr lang="en-IN" sz="11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600"/>
                        </a:spcAft>
                      </a:pPr>
                      <a:r>
                        <a:rPr lang="en-US" sz="1600" b="1" u="sng">
                          <a:latin typeface="Times New Roman"/>
                          <a:ea typeface="Calibri"/>
                          <a:cs typeface="Times New Roman"/>
                        </a:rPr>
                        <a:t>Method</a:t>
                      </a:r>
                      <a:endParaRPr lang="en-IN" sz="1400">
                        <a:latin typeface="Calibri"/>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600"/>
                        </a:spcAft>
                      </a:pPr>
                      <a:r>
                        <a:rPr lang="en-US" sz="1600" b="1" u="sng">
                          <a:latin typeface="Times New Roman"/>
                          <a:ea typeface="Calibri"/>
                          <a:cs typeface="Times New Roman"/>
                        </a:rPr>
                        <a:t>Description</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52">
                <a:tc>
                  <a:txBody>
                    <a:bodyPr/>
                    <a:lstStyle/>
                    <a:p>
                      <a:pPr marL="0" marR="0">
                        <a:lnSpc>
                          <a:spcPct val="115000"/>
                        </a:lnSpc>
                        <a:spcBef>
                          <a:spcPts val="0"/>
                        </a:spcBef>
                        <a:spcAft>
                          <a:spcPts val="1000"/>
                        </a:spcAft>
                      </a:pPr>
                      <a:r>
                        <a:rPr lang="en-US" sz="1600" dirty="0" err="1">
                          <a:latin typeface="Times New Roman"/>
                          <a:ea typeface="Calibri"/>
                          <a:cs typeface="Courier New"/>
                        </a:rPr>
                        <a:t>boolean</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execute()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a:latin typeface="Times New Roman"/>
                          <a:ea typeface="Calibri"/>
                          <a:cs typeface="Times New Roman"/>
                        </a:rPr>
                        <a:t>Executes any kind of SQL statement.</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57256">
                <a:tc>
                  <a:txBody>
                    <a:bodyPr/>
                    <a:lstStyle/>
                    <a:p>
                      <a:pPr marL="0" marR="0">
                        <a:lnSpc>
                          <a:spcPct val="115000"/>
                        </a:lnSpc>
                        <a:spcBef>
                          <a:spcPts val="0"/>
                        </a:spcBef>
                        <a:spcAft>
                          <a:spcPts val="1000"/>
                        </a:spcAft>
                      </a:pPr>
                      <a:r>
                        <a:rPr lang="en-US" sz="1600" dirty="0" err="1">
                          <a:latin typeface="Times New Roman"/>
                          <a:ea typeface="Calibri"/>
                          <a:cs typeface="Courier New"/>
                        </a:rPr>
                        <a:t>ResultSet</a:t>
                      </a:r>
                      <a:r>
                        <a:rPr lang="en-US" sz="1600" dirty="0">
                          <a:latin typeface="Times New Roman"/>
                          <a:ea typeface="Calibri"/>
                          <a:cs typeface="Times New Roman"/>
                        </a:rPr>
                        <a:t>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dirty="0" err="1">
                          <a:latin typeface="Times New Roman"/>
                          <a:ea typeface="Calibri"/>
                          <a:cs typeface="Times New Roman"/>
                        </a:rPr>
                        <a:t>executeQuery</a:t>
                      </a:r>
                      <a:r>
                        <a:rPr lang="en-US" sz="1600" dirty="0">
                          <a:latin typeface="Times New Roman"/>
                          <a:ea typeface="Calibri"/>
                          <a:cs typeface="Times New Roman"/>
                        </a:rPr>
                        <a:t>()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Executes the SQL </a:t>
                      </a:r>
                      <a:r>
                        <a:rPr lang="en-US" sz="1600" dirty="0" smtClean="0">
                          <a:latin typeface="Times New Roman"/>
                          <a:ea typeface="Calibri"/>
                          <a:cs typeface="Times New Roman"/>
                        </a:rPr>
                        <a:t>query(select) </a:t>
                      </a:r>
                      <a:r>
                        <a:rPr lang="en-US" sz="1600" dirty="0">
                          <a:latin typeface="Times New Roman"/>
                          <a:ea typeface="Calibri"/>
                          <a:cs typeface="Times New Roman"/>
                        </a:rPr>
                        <a:t>in this </a:t>
                      </a:r>
                      <a:r>
                        <a:rPr lang="en-US" sz="1600" dirty="0" err="1">
                          <a:latin typeface="Times New Roman"/>
                          <a:ea typeface="Calibri"/>
                          <a:cs typeface="Courier New"/>
                        </a:rPr>
                        <a:t>PreparedStatement</a:t>
                      </a:r>
                      <a:r>
                        <a:rPr lang="en-US" sz="1600" dirty="0">
                          <a:latin typeface="Times New Roman"/>
                          <a:ea typeface="Calibri"/>
                          <a:cs typeface="Times New Roman"/>
                        </a:rPr>
                        <a:t> object and returns the result set generated by the query.</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57256">
                <a:tc>
                  <a:txBody>
                    <a:bodyPr/>
                    <a:lstStyle/>
                    <a:p>
                      <a:pPr marL="0" marR="0">
                        <a:lnSpc>
                          <a:spcPct val="115000"/>
                        </a:lnSpc>
                        <a:spcBef>
                          <a:spcPts val="0"/>
                        </a:spcBef>
                        <a:spcAft>
                          <a:spcPts val="1000"/>
                        </a:spcAft>
                      </a:pPr>
                      <a:r>
                        <a:rPr lang="en-US" sz="1600">
                          <a:latin typeface="Times New Roman"/>
                          <a:ea typeface="Calibri"/>
                          <a:cs typeface="Courier New"/>
                        </a:rPr>
                        <a:t>int</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dirty="0" err="1">
                          <a:latin typeface="Times New Roman"/>
                          <a:ea typeface="Calibri"/>
                          <a:cs typeface="Times New Roman"/>
                        </a:rPr>
                        <a:t>executeUpdate</a:t>
                      </a:r>
                      <a:r>
                        <a:rPr lang="en-US" sz="1600" dirty="0">
                          <a:latin typeface="Times New Roman"/>
                          <a:ea typeface="Calibri"/>
                          <a:cs typeface="Times New Roman"/>
                        </a:rPr>
                        <a:t>()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Executes the SQL INSERT, UPDATE or DELETE statement in this </a:t>
                      </a:r>
                      <a:r>
                        <a:rPr lang="en-US" sz="1600" dirty="0" err="1">
                          <a:latin typeface="Times New Roman"/>
                          <a:ea typeface="Calibri"/>
                          <a:cs typeface="Courier New"/>
                        </a:rPr>
                        <a:t>PreparedStatement</a:t>
                      </a:r>
                      <a:r>
                        <a:rPr lang="en-US" sz="1600" dirty="0">
                          <a:latin typeface="Times New Roman"/>
                          <a:ea typeface="Calibri"/>
                          <a:cs typeface="Times New Roman"/>
                        </a:rPr>
                        <a:t> object.</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a:latin typeface="Times New Roman"/>
                          <a:ea typeface="Calibri"/>
                          <a:cs typeface="Courier New"/>
                        </a:rPr>
                        <a:t>void</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setBoolean (int parameterIndex, boolean x)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Java  </a:t>
                      </a:r>
                      <a:r>
                        <a:rPr lang="en-US" sz="1600" dirty="0" err="1">
                          <a:latin typeface="Times New Roman"/>
                          <a:ea typeface="Calibri"/>
                          <a:cs typeface="Times New Roman"/>
                        </a:rPr>
                        <a:t>boolean</a:t>
                      </a:r>
                      <a:r>
                        <a:rPr lang="en-US" sz="1600" dirty="0">
                          <a:latin typeface="Times New Roman"/>
                          <a:ea typeface="Calibri"/>
                          <a:cs typeface="Times New Roman"/>
                        </a:rPr>
                        <a:t> value.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a:latin typeface="Times New Roman"/>
                          <a:ea typeface="Calibri"/>
                          <a:cs typeface="Courier New"/>
                        </a:rPr>
                        <a:t>void</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dirty="0" err="1">
                          <a:latin typeface="Times New Roman"/>
                          <a:ea typeface="Calibri"/>
                          <a:cs typeface="Times New Roman"/>
                        </a:rPr>
                        <a:t>setDate</a:t>
                      </a:r>
                      <a:r>
                        <a:rPr lang="en-US" sz="1600" dirty="0">
                          <a:latin typeface="Times New Roman"/>
                          <a:ea typeface="Calibri"/>
                          <a:cs typeface="Times New Roman"/>
                        </a:rPr>
                        <a:t>(</a:t>
                      </a:r>
                      <a:r>
                        <a:rPr lang="en-US" sz="1600" dirty="0" err="1">
                          <a:latin typeface="Times New Roman"/>
                          <a:ea typeface="Calibri"/>
                          <a:cs typeface="Times New Roman"/>
                        </a:rPr>
                        <a:t>int</a:t>
                      </a:r>
                      <a:r>
                        <a:rPr lang="en-US" sz="1600" dirty="0">
                          <a:latin typeface="Times New Roman"/>
                          <a:ea typeface="Calibri"/>
                          <a:cs typeface="Times New Roman"/>
                        </a:rPr>
                        <a:t> </a:t>
                      </a:r>
                      <a:r>
                        <a:rPr lang="en-US" sz="1600" dirty="0" err="1">
                          <a:latin typeface="Times New Roman"/>
                          <a:ea typeface="Calibri"/>
                          <a:cs typeface="Times New Roman"/>
                        </a:rPr>
                        <a:t>parameterIndex</a:t>
                      </a:r>
                      <a:r>
                        <a:rPr lang="en-US" sz="1600" dirty="0">
                          <a:latin typeface="Times New Roman"/>
                          <a:ea typeface="Calibri"/>
                          <a:cs typeface="Times New Roman"/>
                        </a:rPr>
                        <a:t>, Date x)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a:t>
                      </a:r>
                      <a:r>
                        <a:rPr lang="en-US" sz="1600" dirty="0" err="1">
                          <a:latin typeface="Times New Roman"/>
                          <a:ea typeface="Calibri"/>
                          <a:cs typeface="Times New Roman"/>
                        </a:rPr>
                        <a:t>java.sql.Date</a:t>
                      </a:r>
                      <a:r>
                        <a:rPr lang="en-US" sz="1600" dirty="0">
                          <a:latin typeface="Times New Roman"/>
                          <a:ea typeface="Calibri"/>
                          <a:cs typeface="Times New Roman"/>
                        </a:rPr>
                        <a:t> value.</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dirty="0">
                          <a:latin typeface="Times New Roman"/>
                          <a:ea typeface="Calibri"/>
                          <a:cs typeface="Courier New"/>
                        </a:rPr>
                        <a:t>void</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setDouble(int parameterIndex, double x)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Java double value. </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a:latin typeface="Times New Roman"/>
                          <a:ea typeface="Calibri"/>
                          <a:cs typeface="Courier New"/>
                        </a:rPr>
                        <a:t>void</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setFloat(int parameterIndex, float x)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Java float value.</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a:latin typeface="Times New Roman"/>
                          <a:ea typeface="Calibri"/>
                          <a:cs typeface="Courier New"/>
                        </a:rPr>
                        <a:t>void</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setInt (int parameterIndex, int x)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Java </a:t>
                      </a:r>
                      <a:r>
                        <a:rPr lang="en-US" sz="1600" dirty="0" err="1">
                          <a:latin typeface="Times New Roman"/>
                          <a:ea typeface="Calibri"/>
                          <a:cs typeface="Courier New"/>
                        </a:rPr>
                        <a:t>int</a:t>
                      </a:r>
                      <a:r>
                        <a:rPr lang="en-US" sz="1600" dirty="0">
                          <a:latin typeface="Times New Roman"/>
                          <a:ea typeface="Calibri"/>
                          <a:cs typeface="Times New Roman"/>
                        </a:rPr>
                        <a:t> value.</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504">
                <a:tc>
                  <a:txBody>
                    <a:bodyPr/>
                    <a:lstStyle/>
                    <a:p>
                      <a:pPr marL="0" marR="0">
                        <a:lnSpc>
                          <a:spcPct val="115000"/>
                        </a:lnSpc>
                        <a:spcBef>
                          <a:spcPts val="0"/>
                        </a:spcBef>
                        <a:spcAft>
                          <a:spcPts val="1000"/>
                        </a:spcAft>
                      </a:pPr>
                      <a:r>
                        <a:rPr lang="en-US" sz="1600">
                          <a:latin typeface="Times New Roman"/>
                          <a:ea typeface="Calibri"/>
                          <a:cs typeface="Courier New"/>
                        </a:rPr>
                        <a:t>void</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600">
                          <a:latin typeface="Times New Roman"/>
                          <a:ea typeface="Calibri"/>
                          <a:cs typeface="Times New Roman"/>
                        </a:rPr>
                        <a:t>setLong(int parameterIndex, long x) </a:t>
                      </a:r>
                      <a:endParaRPr lang="en-IN" sz="14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dirty="0">
                          <a:latin typeface="Times New Roman"/>
                          <a:ea typeface="Calibri"/>
                          <a:cs typeface="Times New Roman"/>
                        </a:rPr>
                        <a:t>Sets the designated parameter to a Java long value.</a:t>
                      </a:r>
                      <a:endParaRPr lang="en-IN" sz="1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73030971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lstStyle/>
          <a:p>
            <a:endParaRPr lang="en-IN" dirty="0"/>
          </a:p>
        </p:txBody>
      </p:sp>
      <p:graphicFrame>
        <p:nvGraphicFramePr>
          <p:cNvPr id="4" name="Content Placeholder 3"/>
          <p:cNvGraphicFramePr>
            <a:graphicFrameLocks noGrp="1"/>
          </p:cNvGraphicFramePr>
          <p:nvPr>
            <p:ph sz="quarter" idx="1"/>
          </p:nvPr>
        </p:nvGraphicFramePr>
        <p:xfrm>
          <a:off x="928662" y="1571612"/>
          <a:ext cx="7715304" cy="3071835"/>
        </p:xfrm>
        <a:graphic>
          <a:graphicData uri="http://schemas.openxmlformats.org/drawingml/2006/table">
            <a:tbl>
              <a:tblPr/>
              <a:tblGrid>
                <a:gridCol w="1324384"/>
                <a:gridCol w="2540968"/>
                <a:gridCol w="3849952"/>
              </a:tblGrid>
              <a:tr h="1023945">
                <a:tc>
                  <a:txBody>
                    <a:bodyPr/>
                    <a:lstStyle/>
                    <a:p>
                      <a:pPr marL="0" marR="0">
                        <a:lnSpc>
                          <a:spcPct val="115000"/>
                        </a:lnSpc>
                        <a:spcBef>
                          <a:spcPts val="0"/>
                        </a:spcBef>
                        <a:spcAft>
                          <a:spcPts val="1000"/>
                        </a:spcAft>
                      </a:pPr>
                      <a:r>
                        <a:rPr lang="en-US" sz="1800">
                          <a:latin typeface="Times New Roman"/>
                          <a:ea typeface="Calibri"/>
                          <a:cs typeface="Courier New"/>
                        </a:rPr>
                        <a:t>void</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a:latin typeface="Times New Roman"/>
                          <a:ea typeface="Calibri"/>
                          <a:cs typeface="Times New Roman"/>
                        </a:rPr>
                        <a:t>setNull (int parameterIndex, int sqlType) </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Sets the designated parameter to SQL NULL.</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23945">
                <a:tc>
                  <a:txBody>
                    <a:bodyPr/>
                    <a:lstStyle/>
                    <a:p>
                      <a:pPr marL="0" marR="0" algn="just">
                        <a:lnSpc>
                          <a:spcPct val="115000"/>
                        </a:lnSpc>
                        <a:spcBef>
                          <a:spcPts val="0"/>
                        </a:spcBef>
                        <a:spcAft>
                          <a:spcPts val="1000"/>
                        </a:spcAft>
                      </a:pPr>
                      <a:r>
                        <a:rPr lang="en-US" sz="1800">
                          <a:latin typeface="Times New Roman"/>
                          <a:ea typeface="Calibri"/>
                          <a:cs typeface="Courier New"/>
                        </a:rPr>
                        <a:t>void</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a:latin typeface="Times New Roman"/>
                          <a:ea typeface="Calibri"/>
                          <a:cs typeface="Times New Roman"/>
                        </a:rPr>
                        <a:t>setString (int parameterIndex, String x)</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Sets the designated parameter to a Java </a:t>
                      </a:r>
                      <a:r>
                        <a:rPr lang="en-US" sz="1800">
                          <a:latin typeface="Times New Roman"/>
                          <a:ea typeface="Calibri"/>
                          <a:cs typeface="Courier New"/>
                        </a:rPr>
                        <a:t>String</a:t>
                      </a:r>
                      <a:r>
                        <a:rPr lang="en-US" sz="1800">
                          <a:latin typeface="Times New Roman"/>
                          <a:ea typeface="Calibri"/>
                          <a:cs typeface="Times New Roman"/>
                        </a:rPr>
                        <a:t> value.</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23945">
                <a:tc>
                  <a:txBody>
                    <a:bodyPr/>
                    <a:lstStyle/>
                    <a:p>
                      <a:pPr marL="0" marR="0" algn="just">
                        <a:lnSpc>
                          <a:spcPct val="115000"/>
                        </a:lnSpc>
                        <a:spcBef>
                          <a:spcPts val="0"/>
                        </a:spcBef>
                        <a:spcAft>
                          <a:spcPts val="1000"/>
                        </a:spcAft>
                      </a:pPr>
                      <a:r>
                        <a:rPr lang="en-US" sz="1800">
                          <a:latin typeface="Times New Roman"/>
                          <a:ea typeface="Calibri"/>
                          <a:cs typeface="Courier New"/>
                        </a:rPr>
                        <a:t>void</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a:latin typeface="Times New Roman"/>
                          <a:ea typeface="Calibri"/>
                          <a:cs typeface="Times New Roman"/>
                        </a:rPr>
                        <a:t>setTime (int parameterIndex, Time x)</a:t>
                      </a:r>
                      <a:endParaRPr lang="en-IN" sz="16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Sets the designated parameter to a </a:t>
                      </a:r>
                      <a:r>
                        <a:rPr lang="en-US" sz="1800" dirty="0" err="1">
                          <a:latin typeface="Times New Roman"/>
                          <a:ea typeface="Calibri"/>
                          <a:cs typeface="Times New Roman"/>
                        </a:rPr>
                        <a:t>java.sql.Time</a:t>
                      </a:r>
                      <a:r>
                        <a:rPr lang="en-US" sz="1800" dirty="0">
                          <a:latin typeface="Times New Roman"/>
                          <a:ea typeface="Calibri"/>
                          <a:cs typeface="Times New Roman"/>
                        </a:rPr>
                        <a:t> value.</a:t>
                      </a:r>
                      <a:endParaRPr lang="en-IN" sz="16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Footer Placeholder 2"/>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5253063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lstStyle/>
          <a:p>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574709779"/>
              </p:ext>
            </p:extLst>
          </p:nvPr>
        </p:nvGraphicFramePr>
        <p:xfrm>
          <a:off x="214282" y="642918"/>
          <a:ext cx="8786874" cy="4340382"/>
        </p:xfrm>
        <a:graphic>
          <a:graphicData uri="http://schemas.openxmlformats.org/drawingml/2006/table">
            <a:tbl>
              <a:tblPr/>
              <a:tblGrid>
                <a:gridCol w="4393437"/>
                <a:gridCol w="4393437"/>
              </a:tblGrid>
              <a:tr h="302561">
                <a:tc>
                  <a:txBody>
                    <a:bodyPr/>
                    <a:lstStyle/>
                    <a:p>
                      <a:pPr algn="ctr" fontAlgn="base"/>
                      <a:r>
                        <a:rPr lang="en-IN" sz="3600" b="1" dirty="0"/>
                        <a:t>Statement</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3600" b="1" dirty="0" err="1"/>
                        <a:t>PreparedStatement</a:t>
                      </a:r>
                      <a:endParaRPr lang="en-IN" sz="3600" b="1" dirty="0"/>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29482">
                <a:tc>
                  <a:txBody>
                    <a:bodyPr/>
                    <a:lstStyle/>
                    <a:p>
                      <a:pPr algn="l" fontAlgn="base"/>
                      <a:r>
                        <a:rPr lang="en-IN" sz="2400" b="0" dirty="0"/>
                        <a:t>It is used when SQL query is to be executed only </a:t>
                      </a:r>
                      <a:r>
                        <a:rPr lang="en-IN" sz="2400" b="0" dirty="0" smtClean="0"/>
                        <a:t>once with</a:t>
                      </a:r>
                      <a:r>
                        <a:rPr lang="en-IN" sz="2400" b="0" baseline="0" dirty="0" smtClean="0"/>
                        <a:t> same data</a:t>
                      </a:r>
                      <a:r>
                        <a:rPr lang="en-IN" sz="2400" b="0" dirty="0" smtClean="0"/>
                        <a:t>.</a:t>
                      </a:r>
                      <a:endParaRPr lang="en-IN" sz="2400" b="0" dirty="0"/>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2400" b="0" dirty="0"/>
                        <a:t>It is used when SQL query is to be executed multiple </a:t>
                      </a:r>
                      <a:r>
                        <a:rPr lang="en-IN" sz="2400" b="0" dirty="0" smtClean="0"/>
                        <a:t>times with different data.</a:t>
                      </a:r>
                      <a:endParaRPr lang="en-IN" sz="2400" b="0" dirty="0"/>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29482">
                <a:tc>
                  <a:txBody>
                    <a:bodyPr/>
                    <a:lstStyle/>
                    <a:p>
                      <a:pPr algn="l" fontAlgn="base"/>
                      <a:r>
                        <a:rPr lang="en-IN" sz="2400" b="0" dirty="0"/>
                        <a:t>Performance is very low.</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2400" b="0" dirty="0"/>
                        <a:t>Performance is better than Statement.</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302561">
                <a:tc>
                  <a:txBody>
                    <a:bodyPr/>
                    <a:lstStyle/>
                    <a:p>
                      <a:pPr algn="l" fontAlgn="base"/>
                      <a:r>
                        <a:rPr lang="en-IN" sz="2400" b="0" dirty="0"/>
                        <a:t>It is base interface.</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2400" b="0" dirty="0"/>
                        <a:t>It extends statement interface.</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29482">
                <a:tc>
                  <a:txBody>
                    <a:bodyPr/>
                    <a:lstStyle/>
                    <a:p>
                      <a:pPr algn="l" fontAlgn="base"/>
                      <a:r>
                        <a:rPr lang="en-IN" sz="2400" b="0" dirty="0"/>
                        <a:t>Used to execute normal SQL queries.</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IN" sz="2400" b="0" dirty="0"/>
                        <a:t>Used to execute dynamic SQL queries.</a:t>
                      </a: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29482">
                <a:tc>
                  <a:txBody>
                    <a:bodyPr/>
                    <a:lstStyle/>
                    <a:p>
                      <a:pPr algn="l" fontAlgn="base"/>
                      <a:r>
                        <a:rPr kumimoji="0" lang="en-IN" sz="2400" b="0" kern="1200" dirty="0" smtClean="0">
                          <a:solidFill>
                            <a:schemeClr val="tx1"/>
                          </a:solidFill>
                          <a:latin typeface="+mn-lt"/>
                          <a:ea typeface="+mn-ea"/>
                          <a:cs typeface="+mn-cs"/>
                        </a:rPr>
                        <a:t>For every execution compilation takes place</a:t>
                      </a:r>
                      <a:endParaRPr kumimoji="0" lang="en-IN" sz="2400" b="0" kern="1200" dirty="0">
                        <a:solidFill>
                          <a:schemeClr val="tx1"/>
                        </a:solidFill>
                        <a:latin typeface="+mn-lt"/>
                        <a:ea typeface="+mn-ea"/>
                        <a:cs typeface="+mn-cs"/>
                      </a:endParaRP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kumimoji="0" lang="en-IN" sz="2400" b="0" kern="1200" dirty="0" smtClean="0">
                          <a:solidFill>
                            <a:schemeClr val="tx1"/>
                          </a:solidFill>
                          <a:latin typeface="+mn-lt"/>
                          <a:ea typeface="+mn-ea"/>
                          <a:cs typeface="+mn-cs"/>
                        </a:rPr>
                        <a:t>Compilation only one time</a:t>
                      </a:r>
                      <a:endParaRPr kumimoji="0" lang="en-IN" sz="2400" b="0" kern="1200" dirty="0">
                        <a:solidFill>
                          <a:schemeClr val="tx1"/>
                        </a:solidFill>
                        <a:latin typeface="+mn-lt"/>
                        <a:ea typeface="+mn-ea"/>
                        <a:cs typeface="+mn-cs"/>
                      </a:endParaRPr>
                    </a:p>
                  </a:txBody>
                  <a:tcPr marL="67235" marR="67235" marT="33618" marB="336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
        <p:nvSpPr>
          <p:cNvPr id="3" name="Footer Placeholder 2"/>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109119737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1143000"/>
          </a:xfrm>
        </p:spPr>
        <p:txBody>
          <a:bodyPr/>
          <a:lstStyle/>
          <a:p>
            <a:endParaRPr lang="en-IN" dirty="0"/>
          </a:p>
        </p:txBody>
      </p:sp>
      <p:sp>
        <p:nvSpPr>
          <p:cNvPr id="3" name="Content Placeholder 2"/>
          <p:cNvSpPr>
            <a:spLocks noGrp="1"/>
          </p:cNvSpPr>
          <p:nvPr>
            <p:ph sz="quarter" idx="1"/>
          </p:nvPr>
        </p:nvSpPr>
        <p:spPr>
          <a:xfrm>
            <a:off x="285720" y="1447800"/>
            <a:ext cx="8401080" cy="4572000"/>
          </a:xfrm>
        </p:spPr>
        <p:txBody>
          <a:bodyPr/>
          <a:lstStyle/>
          <a:p>
            <a:r>
              <a:rPr lang="en-IN" dirty="0" smtClean="0"/>
              <a:t>Procedure</a:t>
            </a:r>
          </a:p>
          <a:p>
            <a:r>
              <a:rPr lang="en-IN" dirty="0" smtClean="0"/>
              <a:t>Function</a:t>
            </a:r>
          </a:p>
          <a:p>
            <a:r>
              <a:rPr lang="en-IN" dirty="0" smtClean="0"/>
              <a:t>IN</a:t>
            </a:r>
          </a:p>
          <a:p>
            <a:r>
              <a:rPr lang="en-IN" dirty="0" smtClean="0"/>
              <a:t>OUT</a:t>
            </a:r>
          </a:p>
          <a:p>
            <a:r>
              <a:rPr lang="en-IN" dirty="0" smtClean="0"/>
              <a:t>INOUT</a:t>
            </a:r>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264832426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96908"/>
          </a:xfrm>
        </p:spPr>
        <p:txBody>
          <a:bodyPr/>
          <a:lstStyle/>
          <a:p>
            <a:r>
              <a:rPr lang="en-IN" dirty="0" err="1" smtClean="0"/>
              <a:t>CallableStatement</a:t>
            </a:r>
            <a:endParaRPr lang="en-IN" dirty="0"/>
          </a:p>
        </p:txBody>
      </p:sp>
      <p:sp>
        <p:nvSpPr>
          <p:cNvPr id="3" name="Content Placeholder 2"/>
          <p:cNvSpPr>
            <a:spLocks noGrp="1"/>
          </p:cNvSpPr>
          <p:nvPr>
            <p:ph sz="quarter" idx="1"/>
          </p:nvPr>
        </p:nvSpPr>
        <p:spPr>
          <a:xfrm>
            <a:off x="357158" y="1071546"/>
            <a:ext cx="8329642" cy="4572000"/>
          </a:xfrm>
        </p:spPr>
        <p:txBody>
          <a:bodyPr/>
          <a:lstStyle/>
          <a:p>
            <a:r>
              <a:rPr lang="en-IN" dirty="0" smtClean="0"/>
              <a:t>To call a stored procedure from the database we have to use </a:t>
            </a:r>
            <a:r>
              <a:rPr lang="en-IN" dirty="0" err="1" smtClean="0"/>
              <a:t>CallableStatement</a:t>
            </a:r>
            <a:r>
              <a:rPr lang="en-IN" dirty="0" smtClean="0"/>
              <a:t> interface</a:t>
            </a:r>
          </a:p>
          <a:p>
            <a:pPr lvl="1">
              <a:buNone/>
            </a:pPr>
            <a:r>
              <a:rPr lang="en-IN" dirty="0" err="1" smtClean="0"/>
              <a:t>CallableStatement</a:t>
            </a:r>
            <a:r>
              <a:rPr lang="en-IN" dirty="0" smtClean="0"/>
              <a:t> </a:t>
            </a:r>
            <a:r>
              <a:rPr lang="en-IN" dirty="0" err="1" smtClean="0"/>
              <a:t>cs</a:t>
            </a:r>
            <a:r>
              <a:rPr lang="en-IN" dirty="0" smtClean="0"/>
              <a:t> = </a:t>
            </a:r>
            <a:r>
              <a:rPr lang="en-IN" dirty="0" err="1" smtClean="0"/>
              <a:t>con.prepareCall</a:t>
            </a:r>
            <a:r>
              <a:rPr lang="en-IN" dirty="0" smtClean="0"/>
              <a:t>(“{call </a:t>
            </a:r>
            <a:r>
              <a:rPr lang="en-IN" dirty="0" err="1" smtClean="0"/>
              <a:t>proc_name</a:t>
            </a:r>
            <a:r>
              <a:rPr lang="en-IN" dirty="0" smtClean="0"/>
              <a:t>(?,?)}”);</a:t>
            </a:r>
          </a:p>
          <a:p>
            <a:pPr lvl="1">
              <a:buNone/>
            </a:pPr>
            <a:endParaRPr lang="en-IN" sz="700" dirty="0" smtClean="0"/>
          </a:p>
          <a:p>
            <a:r>
              <a:rPr lang="en-IN" dirty="0" smtClean="0"/>
              <a:t>Driver S/W will implement the interfaces</a:t>
            </a:r>
          </a:p>
          <a:p>
            <a:r>
              <a:rPr lang="en-IN" dirty="0" smtClean="0"/>
              <a:t>JDBC Types  - JDBC “BRIDGE” Types</a:t>
            </a:r>
          </a:p>
          <a:p>
            <a:pPr>
              <a:buNone/>
            </a:pPr>
            <a:r>
              <a:rPr lang="en-IN" dirty="0" smtClean="0"/>
              <a:t>	</a:t>
            </a:r>
          </a:p>
          <a:p>
            <a:pPr>
              <a:buNone/>
            </a:pPr>
            <a:r>
              <a:rPr lang="en-IN" dirty="0" smtClean="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014993144"/>
              </p:ext>
            </p:extLst>
          </p:nvPr>
        </p:nvGraphicFramePr>
        <p:xfrm>
          <a:off x="1619672" y="3546728"/>
          <a:ext cx="6096000" cy="3017520"/>
        </p:xfrm>
        <a:graphic>
          <a:graphicData uri="http://schemas.openxmlformats.org/drawingml/2006/table">
            <a:tbl>
              <a:tblPr firstRow="1" bandRow="1">
                <a:tableStyleId>{073A0DAA-6AF3-43AB-8588-CEC1D06C72B9}</a:tableStyleId>
              </a:tblPr>
              <a:tblGrid>
                <a:gridCol w="2032000"/>
                <a:gridCol w="2032000"/>
                <a:gridCol w="2032000"/>
              </a:tblGrid>
              <a:tr h="337707">
                <a:tc>
                  <a:txBody>
                    <a:bodyPr/>
                    <a:lstStyle/>
                    <a:p>
                      <a:r>
                        <a:rPr lang="en-IN" dirty="0" smtClean="0"/>
                        <a:t>Java Types</a:t>
                      </a:r>
                      <a:endParaRPr lang="en-IN" dirty="0"/>
                    </a:p>
                  </a:txBody>
                  <a:tcPr/>
                </a:tc>
                <a:tc>
                  <a:txBody>
                    <a:bodyPr/>
                    <a:lstStyle/>
                    <a:p>
                      <a:r>
                        <a:rPr lang="en-IN" dirty="0" smtClean="0"/>
                        <a:t>JDBC Types</a:t>
                      </a:r>
                      <a:endParaRPr lang="en-IN" dirty="0"/>
                    </a:p>
                  </a:txBody>
                  <a:tcPr/>
                </a:tc>
                <a:tc>
                  <a:txBody>
                    <a:bodyPr/>
                    <a:lstStyle/>
                    <a:p>
                      <a:r>
                        <a:rPr lang="en-IN" dirty="0" smtClean="0"/>
                        <a:t>Database</a:t>
                      </a:r>
                      <a:r>
                        <a:rPr lang="en-IN" baseline="0" dirty="0" smtClean="0"/>
                        <a:t> Types</a:t>
                      </a:r>
                      <a:endParaRPr lang="en-IN" dirty="0"/>
                    </a:p>
                  </a:txBody>
                  <a:tcPr/>
                </a:tc>
              </a:tr>
              <a:tr h="337707">
                <a:tc>
                  <a:txBody>
                    <a:bodyPr/>
                    <a:lstStyle/>
                    <a:p>
                      <a:r>
                        <a:rPr lang="en-IN" b="1" dirty="0" err="1" smtClean="0"/>
                        <a:t>int</a:t>
                      </a:r>
                      <a:endParaRPr lang="en-IN" b="1" dirty="0"/>
                    </a:p>
                  </a:txBody>
                  <a:tcPr/>
                </a:tc>
                <a:tc>
                  <a:txBody>
                    <a:bodyPr/>
                    <a:lstStyle/>
                    <a:p>
                      <a:r>
                        <a:rPr lang="en-IN" b="1" dirty="0" err="1" smtClean="0"/>
                        <a:t>Types.INTEGER</a:t>
                      </a:r>
                      <a:endParaRPr lang="en-IN" b="1" dirty="0"/>
                    </a:p>
                  </a:txBody>
                  <a:tcPr/>
                </a:tc>
                <a:tc>
                  <a:txBody>
                    <a:bodyPr/>
                    <a:lstStyle/>
                    <a:p>
                      <a:r>
                        <a:rPr lang="en-IN" b="1" dirty="0" err="1" smtClean="0"/>
                        <a:t>int</a:t>
                      </a:r>
                      <a:r>
                        <a:rPr lang="en-IN" b="1" dirty="0" smtClean="0"/>
                        <a:t>, number</a:t>
                      </a:r>
                      <a:endParaRPr lang="en-IN" b="1" dirty="0"/>
                    </a:p>
                  </a:txBody>
                  <a:tcPr/>
                </a:tc>
              </a:tr>
              <a:tr h="337707">
                <a:tc>
                  <a:txBody>
                    <a:bodyPr/>
                    <a:lstStyle/>
                    <a:p>
                      <a:r>
                        <a:rPr lang="en-IN" b="1" dirty="0" smtClean="0"/>
                        <a:t>float, double</a:t>
                      </a:r>
                      <a:endParaRPr lang="en-IN" b="1" dirty="0"/>
                    </a:p>
                  </a:txBody>
                  <a:tcPr/>
                </a:tc>
                <a:tc>
                  <a:txBody>
                    <a:bodyPr/>
                    <a:lstStyle/>
                    <a:p>
                      <a:r>
                        <a:rPr lang="en-IN" b="1" dirty="0" err="1" smtClean="0"/>
                        <a:t>Types.FLOAT</a:t>
                      </a:r>
                      <a:r>
                        <a:rPr lang="en-IN" b="1" dirty="0" smtClean="0"/>
                        <a:t>,</a:t>
                      </a:r>
                      <a:r>
                        <a:rPr lang="en-IN" b="1" baseline="0" dirty="0" smtClean="0"/>
                        <a:t> </a:t>
                      </a:r>
                      <a:r>
                        <a:rPr lang="en-IN" b="1" baseline="0" dirty="0" err="1" smtClean="0"/>
                        <a:t>Types.DECIMAL</a:t>
                      </a:r>
                      <a:r>
                        <a:rPr lang="en-IN" b="1" baseline="0" dirty="0" smtClean="0"/>
                        <a:t>, </a:t>
                      </a:r>
                      <a:r>
                        <a:rPr lang="en-IN" b="1" baseline="0" dirty="0" err="1" smtClean="0"/>
                        <a:t>Types.DOUBLE</a:t>
                      </a:r>
                      <a:endParaRPr lang="en-IN" b="1" dirty="0"/>
                    </a:p>
                  </a:txBody>
                  <a:tcPr/>
                </a:tc>
                <a:tc>
                  <a:txBody>
                    <a:bodyPr/>
                    <a:lstStyle/>
                    <a:p>
                      <a:r>
                        <a:rPr lang="en-IN" b="1" dirty="0" smtClean="0"/>
                        <a:t>Float, double</a:t>
                      </a:r>
                      <a:endParaRPr lang="en-IN" b="1" dirty="0"/>
                    </a:p>
                  </a:txBody>
                  <a:tcPr/>
                </a:tc>
              </a:tr>
              <a:tr h="337707">
                <a:tc>
                  <a:txBody>
                    <a:bodyPr/>
                    <a:lstStyle/>
                    <a:p>
                      <a:r>
                        <a:rPr lang="en-IN" b="1" dirty="0" smtClean="0"/>
                        <a:t>String</a:t>
                      </a:r>
                      <a:endParaRPr lang="en-IN" b="1" dirty="0"/>
                    </a:p>
                  </a:txBody>
                  <a:tcPr/>
                </a:tc>
                <a:tc>
                  <a:txBody>
                    <a:bodyPr/>
                    <a:lstStyle/>
                    <a:p>
                      <a:r>
                        <a:rPr lang="en-IN" b="1" dirty="0" err="1" smtClean="0"/>
                        <a:t>Types.VARCHAR</a:t>
                      </a:r>
                      <a:endParaRPr lang="en-IN" b="1" dirty="0"/>
                    </a:p>
                  </a:txBody>
                  <a:tcPr/>
                </a:tc>
                <a:tc>
                  <a:txBody>
                    <a:bodyPr/>
                    <a:lstStyle/>
                    <a:p>
                      <a:r>
                        <a:rPr lang="en-IN" b="1" dirty="0" smtClean="0"/>
                        <a:t>varchar,varchar2</a:t>
                      </a:r>
                      <a:endParaRPr lang="en-IN" b="1" dirty="0"/>
                    </a:p>
                  </a:txBody>
                  <a:tcPr/>
                </a:tc>
              </a:tr>
              <a:tr h="337707">
                <a:tc>
                  <a:txBody>
                    <a:bodyPr/>
                    <a:lstStyle/>
                    <a:p>
                      <a:r>
                        <a:rPr lang="en-IN" b="1" dirty="0" err="1" smtClean="0"/>
                        <a:t>Java.sql.Date</a:t>
                      </a:r>
                      <a:endParaRPr lang="en-IN" b="1" dirty="0"/>
                    </a:p>
                  </a:txBody>
                  <a:tcPr/>
                </a:tc>
                <a:tc>
                  <a:txBody>
                    <a:bodyPr/>
                    <a:lstStyle/>
                    <a:p>
                      <a:r>
                        <a:rPr lang="en-IN" b="1" dirty="0" err="1" smtClean="0"/>
                        <a:t>Types.DATE</a:t>
                      </a:r>
                      <a:endParaRPr lang="en-IN" b="1" dirty="0"/>
                    </a:p>
                  </a:txBody>
                  <a:tcPr/>
                </a:tc>
                <a:tc>
                  <a:txBody>
                    <a:bodyPr/>
                    <a:lstStyle/>
                    <a:p>
                      <a:r>
                        <a:rPr lang="en-IN" b="1" dirty="0" smtClean="0"/>
                        <a:t>date</a:t>
                      </a:r>
                      <a:endParaRPr lang="en-IN" b="1" dirty="0"/>
                    </a:p>
                  </a:txBody>
                  <a:tcPr/>
                </a:tc>
              </a:tr>
              <a:tr h="504020">
                <a:tc>
                  <a:txBody>
                    <a:bodyPr/>
                    <a:lstStyle/>
                    <a:p>
                      <a:pPr algn="ctr"/>
                      <a:r>
                        <a:rPr lang="en-IN" dirty="0" smtClean="0"/>
                        <a:t>.</a:t>
                      </a:r>
                    </a:p>
                    <a:p>
                      <a:pPr algn="ctr"/>
                      <a:r>
                        <a:rPr lang="en-IN" dirty="0" smtClean="0"/>
                        <a:t>.</a:t>
                      </a:r>
                    </a:p>
                  </a:txBody>
                  <a:tcPr/>
                </a:tc>
                <a:tc>
                  <a:txBody>
                    <a:bodyPr/>
                    <a:lstStyle/>
                    <a:p>
                      <a:pPr algn="ctr"/>
                      <a:r>
                        <a:rPr lang="en-IN" dirty="0" smtClean="0"/>
                        <a:t>.</a:t>
                      </a:r>
                    </a:p>
                    <a:p>
                      <a:pPr algn="ctr"/>
                      <a:r>
                        <a:rPr lang="en-IN" dirty="0" smtClean="0"/>
                        <a:t>.</a:t>
                      </a:r>
                    </a:p>
                  </a:txBody>
                  <a:tcPr/>
                </a:tc>
                <a:tc>
                  <a:txBody>
                    <a:bodyPr/>
                    <a:lstStyle/>
                    <a:p>
                      <a:pPr algn="ctr"/>
                      <a:r>
                        <a:rPr lang="en-IN" dirty="0" smtClean="0"/>
                        <a:t>.</a:t>
                      </a:r>
                    </a:p>
                    <a:p>
                      <a:pPr algn="ctr"/>
                      <a:r>
                        <a:rPr lang="en-IN" dirty="0" smtClean="0"/>
                        <a:t>.</a:t>
                      </a:r>
                    </a:p>
                  </a:txBody>
                  <a:tcPr/>
                </a:tc>
              </a:tr>
            </a:tbl>
          </a:graphicData>
        </a:graphic>
      </p:graphicFrame>
      <p:sp>
        <p:nvSpPr>
          <p:cNvPr id="5" name="Footer Placeholder 4"/>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7859493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642918"/>
            <a:ext cx="8401080" cy="285752"/>
          </a:xfrm>
        </p:spPr>
        <p:txBody>
          <a:bodyPr>
            <a:normAutofit fontScale="90000"/>
          </a:bodyPr>
          <a:lstStyle/>
          <a:p>
            <a:r>
              <a:rPr lang="en-IN" dirty="0" smtClean="0"/>
              <a:t/>
            </a:r>
            <a:br>
              <a:rPr lang="en-IN" dirty="0" smtClean="0"/>
            </a:br>
            <a:r>
              <a:rPr lang="en-IN" dirty="0" smtClean="0"/>
              <a:t/>
            </a:r>
            <a:br>
              <a:rPr lang="en-IN" dirty="0" smtClean="0"/>
            </a:br>
            <a:r>
              <a:rPr lang="en-IN" dirty="0" smtClean="0"/>
              <a:t/>
            </a:r>
            <a:br>
              <a:rPr lang="en-IN" dirty="0" smtClean="0"/>
            </a:br>
            <a:r>
              <a:rPr lang="en-IN" dirty="0" smtClean="0"/>
              <a:t>Procedure  </a:t>
            </a:r>
            <a:endParaRPr lang="en-IN" dirty="0"/>
          </a:p>
        </p:txBody>
      </p:sp>
      <p:sp>
        <p:nvSpPr>
          <p:cNvPr id="3" name="Content Placeholder 2"/>
          <p:cNvSpPr>
            <a:spLocks noGrp="1"/>
          </p:cNvSpPr>
          <p:nvPr>
            <p:ph sz="quarter" idx="1"/>
          </p:nvPr>
        </p:nvSpPr>
        <p:spPr>
          <a:xfrm>
            <a:off x="285720" y="1447800"/>
            <a:ext cx="8401080" cy="4572000"/>
          </a:xfrm>
        </p:spPr>
        <p:txBody>
          <a:bodyPr>
            <a:normAutofit fontScale="92500" lnSpcReduction="10000"/>
          </a:bodyPr>
          <a:lstStyle/>
          <a:p>
            <a:pPr>
              <a:buNone/>
            </a:pPr>
            <a:r>
              <a:rPr lang="en-IN" dirty="0" smtClean="0"/>
              <a:t>DELIMITER //   </a:t>
            </a:r>
          </a:p>
          <a:p>
            <a:pPr>
              <a:buNone/>
            </a:pPr>
            <a:r>
              <a:rPr lang="en-IN" b="1" dirty="0" smtClean="0"/>
              <a:t>CREATE</a:t>
            </a:r>
            <a:r>
              <a:rPr lang="en-IN" dirty="0" smtClean="0"/>
              <a:t> [or REPLACE] </a:t>
            </a:r>
            <a:r>
              <a:rPr lang="en-IN" b="1" dirty="0" smtClean="0"/>
              <a:t>PROCEDURE</a:t>
            </a:r>
            <a:r>
              <a:rPr lang="en-IN" dirty="0" smtClean="0"/>
              <a:t> </a:t>
            </a:r>
            <a:r>
              <a:rPr lang="en-IN" dirty="0" err="1" smtClean="0"/>
              <a:t>procedure_name</a:t>
            </a:r>
            <a:r>
              <a:rPr lang="en-IN" dirty="0" smtClean="0"/>
              <a:t> [[IN | </a:t>
            </a:r>
            <a:r>
              <a:rPr lang="en-IN" b="1" dirty="0" smtClean="0"/>
              <a:t>OUT</a:t>
            </a:r>
            <a:r>
              <a:rPr lang="en-IN" dirty="0" smtClean="0"/>
              <a:t> | INOUT] </a:t>
            </a:r>
            <a:r>
              <a:rPr lang="en-IN" dirty="0" err="1" smtClean="0"/>
              <a:t>parameter_name</a:t>
            </a:r>
            <a:r>
              <a:rPr lang="en-IN" dirty="0" smtClean="0"/>
              <a:t> </a:t>
            </a:r>
            <a:r>
              <a:rPr lang="en-IN" dirty="0" err="1" smtClean="0"/>
              <a:t>datatype</a:t>
            </a:r>
            <a:r>
              <a:rPr lang="en-IN" dirty="0" smtClean="0"/>
              <a:t> [, parameter </a:t>
            </a:r>
            <a:r>
              <a:rPr lang="en-IN" dirty="0" err="1" smtClean="0"/>
              <a:t>datatype</a:t>
            </a:r>
            <a:r>
              <a:rPr lang="en-IN" dirty="0" smtClean="0"/>
              <a:t>]) ]    </a:t>
            </a:r>
          </a:p>
          <a:p>
            <a:pPr>
              <a:buNone/>
            </a:pPr>
            <a:r>
              <a:rPr lang="en-IN" b="1" dirty="0" smtClean="0"/>
              <a:t>BEGIN</a:t>
            </a:r>
            <a:r>
              <a:rPr lang="en-IN" dirty="0" smtClean="0"/>
              <a:t>    </a:t>
            </a:r>
          </a:p>
          <a:p>
            <a:pPr>
              <a:buNone/>
            </a:pPr>
            <a:r>
              <a:rPr lang="en-IN" dirty="0" smtClean="0"/>
              <a:t>    </a:t>
            </a:r>
            <a:r>
              <a:rPr lang="en-IN" dirty="0" err="1" smtClean="0"/>
              <a:t>Declaration_section</a:t>
            </a:r>
            <a:r>
              <a:rPr lang="en-IN" dirty="0" smtClean="0"/>
              <a:t>    </a:t>
            </a:r>
          </a:p>
          <a:p>
            <a:pPr>
              <a:buNone/>
            </a:pPr>
            <a:r>
              <a:rPr lang="en-IN" dirty="0" smtClean="0"/>
              <a:t>    </a:t>
            </a:r>
            <a:r>
              <a:rPr lang="en-IN" dirty="0" err="1" smtClean="0"/>
              <a:t>Executable_section</a:t>
            </a:r>
            <a:r>
              <a:rPr lang="en-IN" dirty="0" smtClean="0"/>
              <a:t>    </a:t>
            </a:r>
          </a:p>
          <a:p>
            <a:pPr>
              <a:buNone/>
            </a:pPr>
            <a:r>
              <a:rPr lang="en-IN" b="1" dirty="0" smtClean="0"/>
              <a:t>END</a:t>
            </a:r>
            <a:r>
              <a:rPr lang="en-IN" dirty="0" smtClean="0"/>
              <a:t> //</a:t>
            </a:r>
          </a:p>
          <a:p>
            <a:pPr>
              <a:buNone/>
            </a:pPr>
            <a:r>
              <a:rPr lang="en-IN" dirty="0" smtClean="0"/>
              <a:t>DELIMITER; </a:t>
            </a:r>
          </a:p>
          <a:p>
            <a:pPr>
              <a:buNone/>
            </a:pPr>
            <a:endParaRPr lang="en-IN" dirty="0" smtClean="0"/>
          </a:p>
          <a:p>
            <a:pPr>
              <a:buNone/>
            </a:pPr>
            <a:r>
              <a:rPr lang="en-IN" dirty="0" smtClean="0"/>
              <a:t>CALL </a:t>
            </a:r>
            <a:r>
              <a:rPr lang="en-IN" dirty="0" err="1" smtClean="0"/>
              <a:t>procedure_name</a:t>
            </a:r>
            <a:r>
              <a:rPr lang="en-IN" dirty="0" smtClean="0"/>
              <a:t> ( parameter(s));</a:t>
            </a:r>
          </a:p>
          <a:p>
            <a:pPr>
              <a:buNone/>
            </a:pPr>
            <a:endParaRPr lang="en-IN" dirty="0" smtClean="0"/>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7626078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1143000"/>
          </a:xfrm>
        </p:spPr>
        <p:txBody>
          <a:bodyPr/>
          <a:lstStyle/>
          <a:p>
            <a:r>
              <a:rPr lang="en-IN" dirty="0" smtClean="0"/>
              <a:t>Steps to call stores Procedure</a:t>
            </a:r>
            <a:endParaRPr lang="en-IN" dirty="0"/>
          </a:p>
        </p:txBody>
      </p:sp>
      <p:sp>
        <p:nvSpPr>
          <p:cNvPr id="3" name="Content Placeholder 2"/>
          <p:cNvSpPr>
            <a:spLocks noGrp="1"/>
          </p:cNvSpPr>
          <p:nvPr>
            <p:ph sz="quarter" idx="1"/>
          </p:nvPr>
        </p:nvSpPr>
        <p:spPr>
          <a:xfrm>
            <a:off x="357158" y="1447800"/>
            <a:ext cx="8329642" cy="4572000"/>
          </a:xfrm>
        </p:spPr>
        <p:txBody>
          <a:bodyPr/>
          <a:lstStyle/>
          <a:p>
            <a:r>
              <a:rPr lang="en-IN" dirty="0" smtClean="0"/>
              <a:t>Make sure stored procedure is in database.</a:t>
            </a:r>
          </a:p>
          <a:p>
            <a:r>
              <a:rPr lang="en-IN" dirty="0" smtClean="0"/>
              <a:t>Create a callable statement interface object</a:t>
            </a:r>
          </a:p>
          <a:p>
            <a:r>
              <a:rPr lang="en-IN" dirty="0" smtClean="0"/>
              <a:t>Provide values for every IN parameter by using corresponding setter methods.</a:t>
            </a:r>
          </a:p>
          <a:p>
            <a:r>
              <a:rPr lang="en-IN" dirty="0" smtClean="0"/>
              <a:t>For every OUT parameters we have to register with JDBC types.</a:t>
            </a:r>
          </a:p>
          <a:p>
            <a:r>
              <a:rPr lang="en-IN" dirty="0" smtClean="0"/>
              <a:t>Execute Procedure call.</a:t>
            </a:r>
          </a:p>
          <a:p>
            <a:r>
              <a:rPr lang="en-IN" dirty="0" smtClean="0"/>
              <a:t>Get results by using getter methods from OUT parameter.</a:t>
            </a:r>
          </a:p>
          <a:p>
            <a:endParaRPr lang="en-IN" dirty="0" smtClean="0"/>
          </a:p>
          <a:p>
            <a:endParaRPr lang="en-IN" dirty="0" smtClean="0"/>
          </a:p>
          <a:p>
            <a:endParaRPr lang="en-IN" dirty="0"/>
          </a:p>
        </p:txBody>
      </p:sp>
      <p:sp>
        <p:nvSpPr>
          <p:cNvPr id="4" name="Footer Placeholder 3"/>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9599321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285728"/>
            <a:ext cx="8643998" cy="5715040"/>
          </a:xfrm>
        </p:spPr>
        <p:txBody>
          <a:bodyPr>
            <a:normAutofit/>
          </a:bodyPr>
          <a:lstStyle/>
          <a:p>
            <a:r>
              <a:rPr lang="en-IN" dirty="0" smtClean="0"/>
              <a:t>Create a callable statement interface object</a:t>
            </a:r>
          </a:p>
          <a:p>
            <a:pPr>
              <a:buNone/>
            </a:pPr>
            <a:r>
              <a:rPr lang="en-IN" dirty="0" smtClean="0"/>
              <a:t>     </a:t>
            </a:r>
            <a:r>
              <a:rPr lang="en-IN" sz="2400" b="1" dirty="0" err="1" smtClean="0"/>
              <a:t>CallableStatement</a:t>
            </a:r>
            <a:r>
              <a:rPr lang="en-IN" sz="2400" b="1" dirty="0" smtClean="0"/>
              <a:t> </a:t>
            </a:r>
            <a:r>
              <a:rPr lang="en-IN" sz="2400" b="1" dirty="0" err="1" smtClean="0"/>
              <a:t>cs</a:t>
            </a:r>
            <a:r>
              <a:rPr lang="en-IN" sz="2400" b="1" dirty="0" smtClean="0"/>
              <a:t> = </a:t>
            </a:r>
            <a:r>
              <a:rPr lang="en-IN" sz="2400" b="1" dirty="0" err="1" smtClean="0"/>
              <a:t>con.prepareCall</a:t>
            </a:r>
            <a:r>
              <a:rPr lang="en-IN" sz="2400" b="1" dirty="0" smtClean="0"/>
              <a:t>("{call </a:t>
            </a:r>
            <a:r>
              <a:rPr lang="en-IN" sz="2400" b="1" dirty="0" err="1" smtClean="0"/>
              <a:t>emp_sal</a:t>
            </a:r>
            <a:r>
              <a:rPr lang="en-IN" sz="2400" b="1" dirty="0" smtClean="0"/>
              <a:t>(?,?)}");</a:t>
            </a:r>
            <a:endParaRPr lang="en-IN" b="1" dirty="0" smtClean="0"/>
          </a:p>
          <a:p>
            <a:pPr>
              <a:buNone/>
            </a:pPr>
            <a:endParaRPr lang="en-IN" dirty="0" smtClean="0"/>
          </a:p>
          <a:p>
            <a:r>
              <a:rPr lang="en-IN" dirty="0" smtClean="0"/>
              <a:t>Provide values for every IN parameter by using corresponding setter methods.</a:t>
            </a:r>
          </a:p>
          <a:p>
            <a:pPr>
              <a:buNone/>
            </a:pPr>
            <a:r>
              <a:rPr lang="en-IN" dirty="0" smtClean="0"/>
              <a:t>		</a:t>
            </a:r>
            <a:r>
              <a:rPr lang="en-IN" sz="2800" b="1" dirty="0" err="1" smtClean="0"/>
              <a:t>cs.setXXX</a:t>
            </a:r>
            <a:r>
              <a:rPr lang="en-IN" sz="2800" b="1" dirty="0" smtClean="0"/>
              <a:t>(1, value);</a:t>
            </a:r>
            <a:endParaRPr lang="en-IN" b="1" dirty="0" smtClean="0"/>
          </a:p>
          <a:p>
            <a:r>
              <a:rPr lang="en-IN" dirty="0" smtClean="0"/>
              <a:t>For every OUT parameters we have to register with JDBC types.</a:t>
            </a:r>
          </a:p>
          <a:p>
            <a:pPr>
              <a:buNone/>
            </a:pPr>
            <a:r>
              <a:rPr lang="en-IN" dirty="0" smtClean="0"/>
              <a:t>		</a:t>
            </a:r>
            <a:r>
              <a:rPr lang="en-IN" sz="2800" b="1" dirty="0" err="1" smtClean="0"/>
              <a:t>cs.registerOutParameter</a:t>
            </a:r>
            <a:r>
              <a:rPr lang="en-IN" sz="2800" b="1" dirty="0" smtClean="0"/>
              <a:t>(2, Types.XXX);</a:t>
            </a:r>
            <a:endParaRPr lang="en-IN" b="1" dirty="0" smtClean="0"/>
          </a:p>
          <a:p>
            <a:r>
              <a:rPr lang="en-IN" dirty="0" smtClean="0"/>
              <a:t>Execute Procedure call.</a:t>
            </a:r>
          </a:p>
          <a:p>
            <a:pPr lvl="1">
              <a:buNone/>
            </a:pPr>
            <a:r>
              <a:rPr lang="en-IN" dirty="0" smtClean="0"/>
              <a:t>          </a:t>
            </a:r>
            <a:r>
              <a:rPr lang="en-IN" sz="2800" b="1" dirty="0" err="1" smtClean="0"/>
              <a:t>cs.execute</a:t>
            </a:r>
            <a:r>
              <a:rPr lang="en-IN" sz="2800" b="1" dirty="0" smtClean="0"/>
              <a:t>() </a:t>
            </a:r>
            <a:endParaRPr lang="en-IN" b="1" dirty="0" smtClean="0"/>
          </a:p>
          <a:p>
            <a:r>
              <a:rPr lang="en-IN" dirty="0" smtClean="0"/>
              <a:t>Get results by using getter methods from OUT parameter.</a:t>
            </a:r>
          </a:p>
          <a:p>
            <a:pPr lvl="1">
              <a:buNone/>
            </a:pPr>
            <a:r>
              <a:rPr lang="en-IN" sz="2800" b="1" dirty="0" smtClean="0"/>
              <a:t>		</a:t>
            </a:r>
            <a:r>
              <a:rPr lang="en-IN" sz="2800" b="1" dirty="0" err="1" smtClean="0"/>
              <a:t>cs.getXXX</a:t>
            </a:r>
            <a:r>
              <a:rPr lang="en-IN" sz="2800" b="1" dirty="0" smtClean="0"/>
              <a:t>(2)</a:t>
            </a:r>
          </a:p>
          <a:p>
            <a:pPr lvl="1">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dirty="0" smtClean="0"/>
          </a:p>
          <a:p>
            <a:pPr>
              <a:buNone/>
            </a:pPr>
            <a:endParaRPr lang="en-IN" dirty="0"/>
          </a:p>
        </p:txBody>
      </p:sp>
      <p:sp>
        <p:nvSpPr>
          <p:cNvPr id="2" name="Footer Placeholder 1"/>
          <p:cNvSpPr>
            <a:spLocks noGrp="1"/>
          </p:cNvSpPr>
          <p:nvPr>
            <p:ph type="ftr" sz="quarter" idx="11"/>
          </p:nvPr>
        </p:nvSpPr>
        <p:spPr/>
        <p:txBody>
          <a:bodyPr/>
          <a:lstStyle/>
          <a:p>
            <a:r>
              <a:rPr lang="en-IN" smtClean="0"/>
              <a:t>Dr Suresh Yadlapati</a:t>
            </a:r>
            <a:endParaRPr lang="en-IN"/>
          </a:p>
        </p:txBody>
      </p:sp>
    </p:spTree>
    <p:extLst>
      <p:ext uri="{BB962C8B-B14F-4D97-AF65-F5344CB8AC3E}">
        <p14:creationId xmlns:p14="http://schemas.microsoft.com/office/powerpoint/2010/main" val="47456180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7772400" cy="1143000"/>
          </a:xfrm>
        </p:spPr>
        <p:txBody>
          <a:bodyPr>
            <a:normAutofit fontScale="90000"/>
          </a:bodyPr>
          <a:lstStyle/>
          <a:p>
            <a:r>
              <a:rPr lang="en-US" dirty="0" smtClean="0"/>
              <a:t>Creation of Procedure in MySQL – Procedure language</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467544" y="1556792"/>
            <a:ext cx="3816424" cy="4572000"/>
          </a:xfrm>
        </p:spPr>
        <p:txBody>
          <a:bodyPr>
            <a:normAutofit fontScale="70000" lnSpcReduction="20000"/>
          </a:bodyPr>
          <a:lstStyle/>
          <a:p>
            <a:pPr marL="0" indent="0">
              <a:buNone/>
            </a:pPr>
            <a:r>
              <a:rPr lang="en-IN" dirty="0"/>
              <a:t>DELIMITER //</a:t>
            </a:r>
          </a:p>
          <a:p>
            <a:pPr marL="0" indent="0">
              <a:buNone/>
            </a:pPr>
            <a:r>
              <a:rPr lang="en-IN" dirty="0"/>
              <a:t> </a:t>
            </a:r>
            <a:r>
              <a:rPr lang="en-IN" dirty="0" smtClean="0"/>
              <a:t>CREATE </a:t>
            </a:r>
            <a:r>
              <a:rPr lang="en-IN" dirty="0"/>
              <a:t>PROCEDURE </a:t>
            </a:r>
            <a:r>
              <a:rPr lang="en-IN" dirty="0" err="1" smtClean="0"/>
              <a:t>AddNumbers</a:t>
            </a:r>
            <a:r>
              <a:rPr lang="en-IN" dirty="0"/>
              <a:t>()</a:t>
            </a:r>
          </a:p>
          <a:p>
            <a:pPr marL="0" indent="0">
              <a:buNone/>
            </a:pPr>
            <a:r>
              <a:rPr lang="en-IN" dirty="0"/>
              <a:t>BEGIN</a:t>
            </a:r>
          </a:p>
          <a:p>
            <a:pPr marL="0" indent="0">
              <a:buNone/>
            </a:pPr>
            <a:r>
              <a:rPr lang="en-IN" dirty="0"/>
              <a:t>    DECLARE num1 INT DEFAULT 10;</a:t>
            </a:r>
          </a:p>
          <a:p>
            <a:pPr marL="0" indent="0">
              <a:buNone/>
            </a:pPr>
            <a:r>
              <a:rPr lang="en-IN" dirty="0"/>
              <a:t>    DECLARE num2 INT DEFAULT 20;</a:t>
            </a:r>
          </a:p>
          <a:p>
            <a:pPr marL="0" indent="0">
              <a:buNone/>
            </a:pPr>
            <a:r>
              <a:rPr lang="en-IN" dirty="0"/>
              <a:t>    DECLARE result INT;</a:t>
            </a:r>
          </a:p>
          <a:p>
            <a:pPr marL="0" indent="0">
              <a:buNone/>
            </a:pPr>
            <a:r>
              <a:rPr lang="en-IN" dirty="0"/>
              <a:t> </a:t>
            </a:r>
          </a:p>
          <a:p>
            <a:pPr marL="0" indent="0">
              <a:buNone/>
            </a:pPr>
            <a:r>
              <a:rPr lang="en-IN" dirty="0"/>
              <a:t>    SET result = num1 + num2;</a:t>
            </a:r>
          </a:p>
          <a:p>
            <a:pPr marL="0" indent="0">
              <a:buNone/>
            </a:pPr>
            <a:r>
              <a:rPr lang="en-IN" dirty="0"/>
              <a:t> </a:t>
            </a:r>
          </a:p>
          <a:p>
            <a:pPr marL="0" indent="0">
              <a:buNone/>
            </a:pPr>
            <a:r>
              <a:rPr lang="en-IN" dirty="0"/>
              <a:t>    SELECT CONCAT('The sum </a:t>
            </a:r>
            <a:r>
              <a:rPr lang="en-IN" dirty="0" smtClean="0"/>
              <a:t>  </a:t>
            </a:r>
            <a:r>
              <a:rPr lang="en-IN" dirty="0"/>
              <a:t>is ', result) AS Output;</a:t>
            </a:r>
          </a:p>
          <a:p>
            <a:pPr marL="0" indent="0">
              <a:buNone/>
            </a:pPr>
            <a:r>
              <a:rPr lang="en-IN" dirty="0"/>
              <a:t>END //</a:t>
            </a:r>
          </a:p>
          <a:p>
            <a:pPr marL="0" indent="0">
              <a:buNone/>
            </a:pPr>
            <a:r>
              <a:rPr lang="en-IN" dirty="0"/>
              <a:t> </a:t>
            </a:r>
            <a:r>
              <a:rPr lang="en-IN" dirty="0" smtClean="0"/>
              <a:t>DELIMITER </a:t>
            </a:r>
            <a:r>
              <a:rPr lang="en-IN" dirty="0"/>
              <a:t>;</a:t>
            </a:r>
          </a:p>
          <a:p>
            <a:pPr marL="0" indent="0">
              <a:buNone/>
            </a:pPr>
            <a:r>
              <a:rPr lang="en-IN" dirty="0"/>
              <a:t> </a:t>
            </a:r>
            <a:r>
              <a:rPr lang="en-IN" b="1" dirty="0" smtClean="0"/>
              <a:t>CALL </a:t>
            </a:r>
            <a:r>
              <a:rPr lang="en-IN" b="1" dirty="0"/>
              <a:t>PROCEDURE </a:t>
            </a:r>
            <a:r>
              <a:rPr lang="en-IN" b="1" dirty="0" err="1"/>
              <a:t>AddFixedNumbers</a:t>
            </a:r>
            <a:r>
              <a:rPr lang="en-IN" b="1" dirty="0" smtClean="0"/>
              <a:t>();</a:t>
            </a:r>
            <a:endParaRPr lang="en-IN" dirty="0"/>
          </a:p>
        </p:txBody>
      </p:sp>
      <p:sp>
        <p:nvSpPr>
          <p:cNvPr id="5" name="TextBox 4"/>
          <p:cNvSpPr txBox="1"/>
          <p:nvPr/>
        </p:nvSpPr>
        <p:spPr>
          <a:xfrm>
            <a:off x="4932040" y="1700808"/>
            <a:ext cx="4032448" cy="2308324"/>
          </a:xfrm>
          <a:prstGeom prst="rect">
            <a:avLst/>
          </a:prstGeom>
          <a:noFill/>
        </p:spPr>
        <p:txBody>
          <a:bodyPr wrap="square" rtlCol="0">
            <a:spAutoFit/>
          </a:bodyPr>
          <a:lstStyle/>
          <a:p>
            <a:r>
              <a:rPr lang="en-US" dirty="0" smtClean="0"/>
              <a:t>Void </a:t>
            </a:r>
            <a:r>
              <a:rPr lang="en-US" dirty="0" err="1" smtClean="0"/>
              <a:t>AddNumbers</a:t>
            </a:r>
            <a:r>
              <a:rPr lang="en-US" dirty="0" smtClean="0"/>
              <a:t>()</a:t>
            </a:r>
          </a:p>
          <a:p>
            <a:r>
              <a:rPr lang="en-US" dirty="0" smtClean="0"/>
              <a:t>{</a:t>
            </a:r>
          </a:p>
          <a:p>
            <a:r>
              <a:rPr lang="en-US" dirty="0"/>
              <a:t> </a:t>
            </a:r>
            <a:r>
              <a:rPr lang="en-US" dirty="0" smtClean="0"/>
              <a:t>   </a:t>
            </a:r>
            <a:r>
              <a:rPr lang="en-US" dirty="0" err="1" smtClean="0"/>
              <a:t>int</a:t>
            </a:r>
            <a:r>
              <a:rPr lang="en-US" dirty="0" smtClean="0"/>
              <a:t> num1=10;</a:t>
            </a:r>
          </a:p>
          <a:p>
            <a:r>
              <a:rPr lang="en-US" dirty="0" smtClean="0"/>
              <a:t>    </a:t>
            </a:r>
            <a:r>
              <a:rPr lang="en-US" dirty="0" err="1" smtClean="0"/>
              <a:t>int</a:t>
            </a:r>
            <a:r>
              <a:rPr lang="en-US" dirty="0" smtClean="0"/>
              <a:t> num2=20;</a:t>
            </a:r>
          </a:p>
          <a:p>
            <a:r>
              <a:rPr lang="en-US" dirty="0" smtClean="0"/>
              <a:t>    </a:t>
            </a:r>
            <a:r>
              <a:rPr lang="en-US" dirty="0" err="1" smtClean="0"/>
              <a:t>int</a:t>
            </a:r>
            <a:r>
              <a:rPr lang="en-US" dirty="0" smtClean="0"/>
              <a:t> result;</a:t>
            </a:r>
          </a:p>
          <a:p>
            <a:r>
              <a:rPr lang="en-US" dirty="0" smtClean="0"/>
              <a:t>    result=num1+num2;</a:t>
            </a:r>
          </a:p>
          <a:p>
            <a:r>
              <a:rPr lang="en-US" dirty="0" smtClean="0"/>
              <a:t>    </a:t>
            </a:r>
            <a:r>
              <a:rPr lang="en-US" dirty="0" err="1" smtClean="0"/>
              <a:t>System.out.println</a:t>
            </a:r>
            <a:r>
              <a:rPr lang="en-US" dirty="0" smtClean="0"/>
              <a:t>(“The Sum </a:t>
            </a:r>
            <a:r>
              <a:rPr lang="en-US" dirty="0" err="1" smtClean="0"/>
              <a:t>is”+result</a:t>
            </a:r>
            <a:r>
              <a:rPr lang="en-US" dirty="0" smtClean="0"/>
              <a:t>);</a:t>
            </a:r>
          </a:p>
          <a:p>
            <a:r>
              <a:rPr lang="en-US" dirty="0"/>
              <a:t>}</a:t>
            </a:r>
            <a:endParaRPr lang="en-IN" dirty="0"/>
          </a:p>
        </p:txBody>
      </p:sp>
    </p:spTree>
    <p:extLst>
      <p:ext uri="{BB962C8B-B14F-4D97-AF65-F5344CB8AC3E}">
        <p14:creationId xmlns:p14="http://schemas.microsoft.com/office/powerpoint/2010/main" val="350137357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424936" cy="504056"/>
          </a:xfrm>
        </p:spPr>
        <p:txBody>
          <a:bodyPr>
            <a:normAutofit fontScale="90000"/>
          </a:bodyPr>
          <a:lstStyle/>
          <a:p>
            <a:r>
              <a:rPr lang="en-US" sz="2800" dirty="0" smtClean="0"/>
              <a:t>Creation of Procedure in MySQL – Procedure language</a:t>
            </a:r>
            <a:endParaRPr lang="en-IN" sz="2800"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251520" y="836712"/>
            <a:ext cx="4248472" cy="4752528"/>
          </a:xfrm>
        </p:spPr>
        <p:txBody>
          <a:bodyPr>
            <a:normAutofit fontScale="70000" lnSpcReduction="20000"/>
          </a:bodyPr>
          <a:lstStyle/>
          <a:p>
            <a:pPr marL="0" indent="0">
              <a:buNone/>
            </a:pPr>
            <a:r>
              <a:rPr lang="en-IN" dirty="0"/>
              <a:t>DELIMITER //</a:t>
            </a:r>
          </a:p>
          <a:p>
            <a:pPr marL="0" indent="0">
              <a:buNone/>
            </a:pPr>
            <a:r>
              <a:rPr lang="en-IN" dirty="0" smtClean="0"/>
              <a:t> CREATE PROCEDURE </a:t>
            </a:r>
            <a:r>
              <a:rPr lang="en-IN" dirty="0" err="1" smtClean="0"/>
              <a:t>AddNumbers</a:t>
            </a:r>
            <a:r>
              <a:rPr lang="en-IN" dirty="0" smtClean="0"/>
              <a:t>( </a:t>
            </a:r>
          </a:p>
          <a:p>
            <a:pPr marL="0" indent="0">
              <a:buNone/>
            </a:pPr>
            <a:r>
              <a:rPr lang="en-IN" dirty="0" smtClean="0"/>
              <a:t>IN num1 INT, IN num2 INT)</a:t>
            </a:r>
          </a:p>
          <a:p>
            <a:pPr marL="0" indent="0">
              <a:buNone/>
            </a:pPr>
            <a:endParaRPr lang="en-IN" dirty="0" smtClean="0"/>
          </a:p>
          <a:p>
            <a:pPr marL="0" indent="0">
              <a:buNone/>
            </a:pPr>
            <a:r>
              <a:rPr lang="en-IN" dirty="0" smtClean="0"/>
              <a:t>BEGIN</a:t>
            </a:r>
          </a:p>
          <a:p>
            <a:pPr marL="0" indent="0">
              <a:buNone/>
            </a:pPr>
            <a:r>
              <a:rPr lang="en-IN" dirty="0" smtClean="0"/>
              <a:t>    DECLARE result INT;</a:t>
            </a:r>
          </a:p>
          <a:p>
            <a:pPr marL="0" indent="0">
              <a:buNone/>
            </a:pPr>
            <a:r>
              <a:rPr lang="en-IN" dirty="0"/>
              <a:t> </a:t>
            </a:r>
            <a:endParaRPr lang="en-IN" dirty="0" smtClean="0"/>
          </a:p>
          <a:p>
            <a:pPr marL="0" indent="0">
              <a:buNone/>
            </a:pPr>
            <a:r>
              <a:rPr lang="en-IN" dirty="0" smtClean="0"/>
              <a:t>    SET result = num1 + num2;</a:t>
            </a:r>
          </a:p>
          <a:p>
            <a:pPr marL="0" indent="0">
              <a:buNone/>
            </a:pPr>
            <a:r>
              <a:rPr lang="en-IN" dirty="0" smtClean="0"/>
              <a:t> </a:t>
            </a:r>
          </a:p>
          <a:p>
            <a:pPr marL="0" indent="0">
              <a:buNone/>
            </a:pPr>
            <a:r>
              <a:rPr lang="en-IN" dirty="0" smtClean="0"/>
              <a:t>   SELECT CONCAT('The sum   is ', result) AS Output;</a:t>
            </a:r>
          </a:p>
          <a:p>
            <a:pPr marL="0" indent="0">
              <a:buNone/>
            </a:pPr>
            <a:r>
              <a:rPr lang="en-IN" dirty="0" smtClean="0"/>
              <a:t>END //</a:t>
            </a:r>
          </a:p>
          <a:p>
            <a:pPr marL="0" indent="0">
              <a:buNone/>
            </a:pPr>
            <a:endParaRPr lang="en-IN" dirty="0"/>
          </a:p>
          <a:p>
            <a:pPr marL="0" indent="0">
              <a:buNone/>
            </a:pPr>
            <a:r>
              <a:rPr lang="en-IN" dirty="0"/>
              <a:t> </a:t>
            </a:r>
            <a:r>
              <a:rPr lang="en-IN" dirty="0" smtClean="0"/>
              <a:t>DELIMITER </a:t>
            </a:r>
            <a:r>
              <a:rPr lang="en-IN" dirty="0"/>
              <a:t>;</a:t>
            </a:r>
          </a:p>
          <a:p>
            <a:pPr marL="0" indent="0">
              <a:buNone/>
            </a:pPr>
            <a:r>
              <a:rPr lang="en-IN" sz="1900" b="1" dirty="0"/>
              <a:t> </a:t>
            </a:r>
            <a:endParaRPr lang="en-IN" sz="1900" b="1" dirty="0" smtClean="0"/>
          </a:p>
          <a:p>
            <a:pPr marL="0" indent="0">
              <a:buNone/>
            </a:pPr>
            <a:r>
              <a:rPr lang="en-IN" sz="1900" b="1" dirty="0" smtClean="0"/>
              <a:t>CALL </a:t>
            </a:r>
            <a:r>
              <a:rPr lang="en-IN" sz="1900" b="1" dirty="0"/>
              <a:t>PROCEDURE </a:t>
            </a:r>
            <a:r>
              <a:rPr lang="en-IN" sz="1900" b="1" dirty="0" err="1" smtClean="0"/>
              <a:t>AddFixedNumbers</a:t>
            </a:r>
            <a:r>
              <a:rPr lang="en-IN" sz="1900" b="1" dirty="0" smtClean="0"/>
              <a:t>(10,20);</a:t>
            </a:r>
            <a:endParaRPr lang="en-IN" sz="1900" b="1" dirty="0"/>
          </a:p>
        </p:txBody>
      </p:sp>
      <p:sp>
        <p:nvSpPr>
          <p:cNvPr id="5" name="TextBox 4"/>
          <p:cNvSpPr txBox="1"/>
          <p:nvPr/>
        </p:nvSpPr>
        <p:spPr>
          <a:xfrm>
            <a:off x="4572000" y="1196752"/>
            <a:ext cx="4680520" cy="1754326"/>
          </a:xfrm>
          <a:prstGeom prst="rect">
            <a:avLst/>
          </a:prstGeom>
          <a:noFill/>
        </p:spPr>
        <p:txBody>
          <a:bodyPr wrap="square" rtlCol="0">
            <a:spAutoFit/>
          </a:bodyPr>
          <a:lstStyle/>
          <a:p>
            <a:r>
              <a:rPr lang="en-US" dirty="0" smtClean="0"/>
              <a:t>Void </a:t>
            </a:r>
            <a:r>
              <a:rPr lang="en-US" dirty="0" err="1" smtClean="0"/>
              <a:t>AddNumbers</a:t>
            </a:r>
            <a:r>
              <a:rPr lang="en-US" dirty="0" smtClean="0"/>
              <a:t>(</a:t>
            </a:r>
            <a:r>
              <a:rPr lang="en-US" dirty="0" err="1" smtClean="0"/>
              <a:t>int</a:t>
            </a:r>
            <a:r>
              <a:rPr lang="en-US" dirty="0" smtClean="0"/>
              <a:t> num1, </a:t>
            </a:r>
            <a:r>
              <a:rPr lang="en-US" dirty="0" err="1" smtClean="0"/>
              <a:t>int</a:t>
            </a:r>
            <a:r>
              <a:rPr lang="en-US" dirty="0" smtClean="0"/>
              <a:t> num2)</a:t>
            </a:r>
          </a:p>
          <a:p>
            <a:r>
              <a:rPr lang="en-US" dirty="0" smtClean="0"/>
              <a:t>{ </a:t>
            </a:r>
          </a:p>
          <a:p>
            <a:r>
              <a:rPr lang="en-US" dirty="0" smtClean="0"/>
              <a:t>    </a:t>
            </a:r>
            <a:r>
              <a:rPr lang="en-US" dirty="0" err="1" smtClean="0"/>
              <a:t>int</a:t>
            </a:r>
            <a:r>
              <a:rPr lang="en-US" dirty="0" smtClean="0"/>
              <a:t> result;</a:t>
            </a:r>
          </a:p>
          <a:p>
            <a:r>
              <a:rPr lang="en-US" dirty="0" smtClean="0"/>
              <a:t>    result=num1+num2;</a:t>
            </a:r>
          </a:p>
          <a:p>
            <a:r>
              <a:rPr lang="en-US" dirty="0" smtClean="0"/>
              <a:t>    </a:t>
            </a:r>
            <a:r>
              <a:rPr lang="en-US" dirty="0" err="1" smtClean="0"/>
              <a:t>System.out.println</a:t>
            </a:r>
            <a:r>
              <a:rPr lang="en-US" dirty="0" smtClean="0"/>
              <a:t>(“The Sum </a:t>
            </a:r>
            <a:r>
              <a:rPr lang="en-US" dirty="0" err="1" smtClean="0"/>
              <a:t>is”+result</a:t>
            </a:r>
            <a:r>
              <a:rPr lang="en-US" dirty="0" smtClean="0"/>
              <a:t>);</a:t>
            </a:r>
          </a:p>
          <a:p>
            <a:r>
              <a:rPr lang="en-US" dirty="0"/>
              <a:t>}</a:t>
            </a:r>
            <a:endParaRPr lang="en-IN" dirty="0"/>
          </a:p>
        </p:txBody>
      </p:sp>
    </p:spTree>
    <p:extLst>
      <p:ext uri="{BB962C8B-B14F-4D97-AF65-F5344CB8AC3E}">
        <p14:creationId xmlns:p14="http://schemas.microsoft.com/office/powerpoint/2010/main" val="121270593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424936" cy="504056"/>
          </a:xfrm>
        </p:spPr>
        <p:txBody>
          <a:bodyPr>
            <a:normAutofit fontScale="90000"/>
          </a:bodyPr>
          <a:lstStyle/>
          <a:p>
            <a:r>
              <a:rPr lang="en-US" sz="2800" dirty="0" smtClean="0"/>
              <a:t>Creation of Procedure in MySQL – Procedure language</a:t>
            </a:r>
            <a:endParaRPr lang="en-IN" sz="2800"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251520" y="836712"/>
            <a:ext cx="4248472" cy="4752528"/>
          </a:xfrm>
        </p:spPr>
        <p:txBody>
          <a:bodyPr>
            <a:normAutofit lnSpcReduction="10000"/>
          </a:bodyPr>
          <a:lstStyle/>
          <a:p>
            <a:pPr marL="0" indent="0">
              <a:buNone/>
            </a:pPr>
            <a:r>
              <a:rPr lang="en-IN" dirty="0"/>
              <a:t>DELIMITER //</a:t>
            </a:r>
          </a:p>
          <a:p>
            <a:pPr marL="0" indent="0">
              <a:buNone/>
            </a:pPr>
            <a:r>
              <a:rPr lang="en-IN" dirty="0" smtClean="0"/>
              <a:t> CREATE PROCEDURE </a:t>
            </a:r>
            <a:r>
              <a:rPr lang="en-IN" dirty="0" err="1" smtClean="0"/>
              <a:t>AddNumbersWithOut</a:t>
            </a:r>
            <a:r>
              <a:rPr lang="en-IN" dirty="0" smtClean="0"/>
              <a:t>( </a:t>
            </a:r>
          </a:p>
          <a:p>
            <a:pPr marL="0" indent="0">
              <a:buNone/>
            </a:pPr>
            <a:r>
              <a:rPr lang="en-IN" dirty="0" smtClean="0"/>
              <a:t>IN num1 INT, IN num2 INT, OUT Result INT)</a:t>
            </a:r>
          </a:p>
          <a:p>
            <a:pPr marL="0" indent="0">
              <a:buNone/>
            </a:pPr>
            <a:endParaRPr lang="en-IN" dirty="0" smtClean="0"/>
          </a:p>
          <a:p>
            <a:pPr marL="0" indent="0">
              <a:buNone/>
            </a:pPr>
            <a:r>
              <a:rPr lang="en-IN" dirty="0" smtClean="0"/>
              <a:t>BEGIN</a:t>
            </a:r>
          </a:p>
          <a:p>
            <a:pPr marL="0" indent="0">
              <a:buNone/>
            </a:pPr>
            <a:r>
              <a:rPr lang="en-IN" dirty="0" smtClean="0"/>
              <a:t>SET result = num1 + num2;</a:t>
            </a:r>
          </a:p>
          <a:p>
            <a:pPr marL="0" indent="0">
              <a:buNone/>
            </a:pPr>
            <a:r>
              <a:rPr lang="en-IN" dirty="0" smtClean="0"/>
              <a:t> END //</a:t>
            </a:r>
          </a:p>
          <a:p>
            <a:pPr marL="0" indent="0">
              <a:buNone/>
            </a:pPr>
            <a:endParaRPr lang="en-IN" dirty="0"/>
          </a:p>
          <a:p>
            <a:pPr marL="0" indent="0">
              <a:buNone/>
            </a:pPr>
            <a:r>
              <a:rPr lang="en-IN" dirty="0"/>
              <a:t> </a:t>
            </a:r>
            <a:r>
              <a:rPr lang="en-IN" dirty="0" smtClean="0"/>
              <a:t>DELIMITER </a:t>
            </a:r>
            <a:r>
              <a:rPr lang="en-IN" dirty="0"/>
              <a:t>;</a:t>
            </a:r>
          </a:p>
          <a:p>
            <a:pPr marL="0" indent="0">
              <a:buNone/>
            </a:pPr>
            <a:endParaRPr lang="en-IN" sz="1900" b="1" dirty="0" smtClean="0"/>
          </a:p>
        </p:txBody>
      </p:sp>
      <p:sp>
        <p:nvSpPr>
          <p:cNvPr id="5" name="TextBox 4"/>
          <p:cNvSpPr txBox="1"/>
          <p:nvPr/>
        </p:nvSpPr>
        <p:spPr>
          <a:xfrm>
            <a:off x="4572000" y="1196752"/>
            <a:ext cx="4680520" cy="1754326"/>
          </a:xfrm>
          <a:prstGeom prst="rect">
            <a:avLst/>
          </a:prstGeom>
          <a:noFill/>
        </p:spPr>
        <p:txBody>
          <a:bodyPr wrap="square" rtlCol="0">
            <a:spAutoFit/>
          </a:bodyPr>
          <a:lstStyle/>
          <a:p>
            <a:r>
              <a:rPr lang="en-US" dirty="0" err="1" smtClean="0"/>
              <a:t>int</a:t>
            </a:r>
            <a:r>
              <a:rPr lang="en-US" dirty="0" smtClean="0"/>
              <a:t> </a:t>
            </a:r>
            <a:r>
              <a:rPr lang="en-US" dirty="0" err="1" smtClean="0"/>
              <a:t>AddNumbers</a:t>
            </a:r>
            <a:r>
              <a:rPr lang="en-US" dirty="0" smtClean="0"/>
              <a:t>(</a:t>
            </a:r>
            <a:r>
              <a:rPr lang="en-US" dirty="0" err="1" smtClean="0"/>
              <a:t>int</a:t>
            </a:r>
            <a:r>
              <a:rPr lang="en-US" dirty="0" smtClean="0"/>
              <a:t> num1, </a:t>
            </a:r>
            <a:r>
              <a:rPr lang="en-US" dirty="0" err="1" smtClean="0"/>
              <a:t>int</a:t>
            </a:r>
            <a:r>
              <a:rPr lang="en-US" dirty="0" smtClean="0"/>
              <a:t> num2)</a:t>
            </a:r>
          </a:p>
          <a:p>
            <a:r>
              <a:rPr lang="en-US" dirty="0" smtClean="0"/>
              <a:t>{ </a:t>
            </a:r>
          </a:p>
          <a:p>
            <a:r>
              <a:rPr lang="en-US" dirty="0" smtClean="0"/>
              <a:t>    </a:t>
            </a:r>
            <a:r>
              <a:rPr lang="en-US" dirty="0" err="1" smtClean="0"/>
              <a:t>int</a:t>
            </a:r>
            <a:r>
              <a:rPr lang="en-US" dirty="0" smtClean="0"/>
              <a:t> result;</a:t>
            </a:r>
          </a:p>
          <a:p>
            <a:r>
              <a:rPr lang="en-US" dirty="0" smtClean="0"/>
              <a:t>    result=num1+num2;</a:t>
            </a:r>
          </a:p>
          <a:p>
            <a:r>
              <a:rPr lang="en-US" dirty="0" smtClean="0"/>
              <a:t>    return result;</a:t>
            </a:r>
          </a:p>
          <a:p>
            <a:r>
              <a:rPr lang="en-US" dirty="0"/>
              <a:t>}</a:t>
            </a:r>
            <a:endParaRPr lang="en-IN" dirty="0"/>
          </a:p>
        </p:txBody>
      </p:sp>
      <p:sp>
        <p:nvSpPr>
          <p:cNvPr id="6" name="TextBox 5"/>
          <p:cNvSpPr txBox="1"/>
          <p:nvPr/>
        </p:nvSpPr>
        <p:spPr>
          <a:xfrm>
            <a:off x="4644008" y="3573016"/>
            <a:ext cx="4176464" cy="1200329"/>
          </a:xfrm>
          <a:prstGeom prst="rect">
            <a:avLst/>
          </a:prstGeom>
          <a:noFill/>
        </p:spPr>
        <p:txBody>
          <a:bodyPr wrap="square" rtlCol="0">
            <a:spAutoFit/>
          </a:bodyPr>
          <a:lstStyle/>
          <a:p>
            <a:r>
              <a:rPr lang="en-IN" dirty="0"/>
              <a:t>SET @output = 0;</a:t>
            </a:r>
          </a:p>
          <a:p>
            <a:r>
              <a:rPr lang="en-US" dirty="0"/>
              <a:t>CALL </a:t>
            </a:r>
            <a:r>
              <a:rPr lang="en-US" dirty="0" err="1"/>
              <a:t>AddTwoNumbersWithOut</a:t>
            </a:r>
            <a:r>
              <a:rPr lang="en-US" dirty="0"/>
              <a:t>(15, 25, @output); </a:t>
            </a:r>
            <a:endParaRPr lang="en-US" dirty="0" smtClean="0"/>
          </a:p>
          <a:p>
            <a:r>
              <a:rPr lang="en-US" dirty="0"/>
              <a:t>SELECT @output AS Total;</a:t>
            </a:r>
            <a:endParaRPr lang="en-IN" dirty="0"/>
          </a:p>
        </p:txBody>
      </p:sp>
    </p:spTree>
    <p:extLst>
      <p:ext uri="{BB962C8B-B14F-4D97-AF65-F5344CB8AC3E}">
        <p14:creationId xmlns:p14="http://schemas.microsoft.com/office/powerpoint/2010/main" val="10805656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424936" cy="504056"/>
          </a:xfrm>
        </p:spPr>
        <p:txBody>
          <a:bodyPr>
            <a:normAutofit fontScale="90000"/>
          </a:bodyPr>
          <a:lstStyle/>
          <a:p>
            <a:r>
              <a:rPr lang="en-US" sz="2800" dirty="0" smtClean="0"/>
              <a:t>Creation of Procedure in MySQL – Procedure language</a:t>
            </a:r>
            <a:endParaRPr lang="en-IN" sz="2800"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4" name="Content Placeholder 3"/>
          <p:cNvSpPr>
            <a:spLocks noGrp="1"/>
          </p:cNvSpPr>
          <p:nvPr>
            <p:ph sz="quarter" idx="1"/>
          </p:nvPr>
        </p:nvSpPr>
        <p:spPr>
          <a:xfrm>
            <a:off x="251520" y="836712"/>
            <a:ext cx="4536504" cy="5400600"/>
          </a:xfrm>
        </p:spPr>
        <p:txBody>
          <a:bodyPr>
            <a:normAutofit fontScale="92500" lnSpcReduction="10000"/>
          </a:bodyPr>
          <a:lstStyle/>
          <a:p>
            <a:pPr marL="0" indent="0">
              <a:buNone/>
            </a:pPr>
            <a:r>
              <a:rPr lang="en-IN" dirty="0"/>
              <a:t>DELIMITER //</a:t>
            </a:r>
          </a:p>
          <a:p>
            <a:pPr marL="0" indent="0">
              <a:buNone/>
            </a:pPr>
            <a:r>
              <a:rPr lang="en-IN" dirty="0" smtClean="0"/>
              <a:t> CREATE PROCEDURE </a:t>
            </a:r>
            <a:r>
              <a:rPr lang="en-IN" dirty="0" err="1" smtClean="0"/>
              <a:t>UsingINOUT</a:t>
            </a:r>
            <a:r>
              <a:rPr lang="en-IN" dirty="0" smtClean="0"/>
              <a:t>( </a:t>
            </a:r>
          </a:p>
          <a:p>
            <a:pPr marL="0" indent="0">
              <a:buNone/>
            </a:pPr>
            <a:r>
              <a:rPr lang="en-IN" dirty="0" smtClean="0"/>
              <a:t>INOUT num1 INT)</a:t>
            </a:r>
          </a:p>
          <a:p>
            <a:pPr marL="0" indent="0">
              <a:buNone/>
            </a:pPr>
            <a:endParaRPr lang="en-IN" dirty="0" smtClean="0"/>
          </a:p>
          <a:p>
            <a:pPr marL="0" indent="0">
              <a:buNone/>
            </a:pPr>
            <a:r>
              <a:rPr lang="en-IN" dirty="0" smtClean="0"/>
              <a:t>BEGIN</a:t>
            </a:r>
          </a:p>
          <a:p>
            <a:pPr marL="0" indent="0">
              <a:buNone/>
            </a:pPr>
            <a:r>
              <a:rPr lang="en-IN" dirty="0" smtClean="0"/>
              <a:t>SET num1= num1 * num1;</a:t>
            </a:r>
          </a:p>
          <a:p>
            <a:pPr marL="0" indent="0">
              <a:buNone/>
            </a:pPr>
            <a:r>
              <a:rPr lang="en-IN" dirty="0" smtClean="0"/>
              <a:t> END //</a:t>
            </a:r>
          </a:p>
          <a:p>
            <a:pPr marL="0" indent="0">
              <a:buNone/>
            </a:pPr>
            <a:endParaRPr lang="en-IN" dirty="0"/>
          </a:p>
          <a:p>
            <a:pPr marL="0" indent="0">
              <a:buNone/>
            </a:pPr>
            <a:r>
              <a:rPr lang="en-IN" dirty="0"/>
              <a:t> </a:t>
            </a:r>
            <a:r>
              <a:rPr lang="en-IN" dirty="0" smtClean="0"/>
              <a:t>DELIMITER </a:t>
            </a:r>
            <a:r>
              <a:rPr lang="en-IN" dirty="0"/>
              <a:t>;</a:t>
            </a:r>
          </a:p>
          <a:p>
            <a:pPr marL="0" indent="0">
              <a:buNone/>
            </a:pPr>
            <a:r>
              <a:rPr lang="en-IN" sz="1900" b="1" dirty="0"/>
              <a:t> </a:t>
            </a:r>
            <a:endParaRPr lang="en-IN" sz="1900" b="1" dirty="0" smtClean="0"/>
          </a:p>
          <a:p>
            <a:r>
              <a:rPr lang="en-IN" sz="1800" dirty="0"/>
              <a:t>SET @x = 7</a:t>
            </a:r>
            <a:r>
              <a:rPr lang="en-IN" sz="1800" dirty="0" smtClean="0"/>
              <a:t>;</a:t>
            </a:r>
          </a:p>
          <a:p>
            <a:r>
              <a:rPr lang="en-US" sz="1800" dirty="0" smtClean="0"/>
              <a:t>Call </a:t>
            </a:r>
            <a:r>
              <a:rPr lang="en-US" sz="1800" dirty="0" err="1" smtClean="0"/>
              <a:t>usingINOUT</a:t>
            </a:r>
            <a:r>
              <a:rPr lang="en-US" sz="1800" dirty="0" smtClean="0"/>
              <a:t>(@x);</a:t>
            </a:r>
          </a:p>
          <a:p>
            <a:r>
              <a:rPr lang="en-US" sz="1800" dirty="0" smtClean="0"/>
              <a:t>Select @x;</a:t>
            </a:r>
            <a:endParaRPr lang="en-IN" sz="1800" dirty="0"/>
          </a:p>
        </p:txBody>
      </p:sp>
      <p:sp>
        <p:nvSpPr>
          <p:cNvPr id="5" name="TextBox 4"/>
          <p:cNvSpPr txBox="1"/>
          <p:nvPr/>
        </p:nvSpPr>
        <p:spPr>
          <a:xfrm>
            <a:off x="4572000" y="1196752"/>
            <a:ext cx="4680520" cy="1754326"/>
          </a:xfrm>
          <a:prstGeom prst="rect">
            <a:avLst/>
          </a:prstGeom>
          <a:noFill/>
        </p:spPr>
        <p:txBody>
          <a:bodyPr wrap="square" rtlCol="0">
            <a:spAutoFit/>
          </a:bodyPr>
          <a:lstStyle/>
          <a:p>
            <a:r>
              <a:rPr lang="en-US" dirty="0" err="1" smtClean="0"/>
              <a:t>int</a:t>
            </a:r>
            <a:r>
              <a:rPr lang="en-US" dirty="0" smtClean="0"/>
              <a:t> </a:t>
            </a:r>
            <a:r>
              <a:rPr lang="en-US" dirty="0" err="1" smtClean="0"/>
              <a:t>SelfAddition</a:t>
            </a:r>
            <a:r>
              <a:rPr lang="en-US" dirty="0" smtClean="0"/>
              <a:t>(</a:t>
            </a:r>
            <a:r>
              <a:rPr lang="en-US" dirty="0" err="1" smtClean="0"/>
              <a:t>int</a:t>
            </a:r>
            <a:r>
              <a:rPr lang="en-US" dirty="0" smtClean="0"/>
              <a:t> num1)</a:t>
            </a:r>
          </a:p>
          <a:p>
            <a:r>
              <a:rPr lang="en-US" dirty="0" smtClean="0"/>
              <a:t>{ </a:t>
            </a:r>
          </a:p>
          <a:p>
            <a:r>
              <a:rPr lang="en-US" dirty="0" smtClean="0"/>
              <a:t>  </a:t>
            </a:r>
          </a:p>
          <a:p>
            <a:r>
              <a:rPr lang="en-US" dirty="0" smtClean="0"/>
              <a:t>    num1=num1*num1;</a:t>
            </a:r>
          </a:p>
          <a:p>
            <a:r>
              <a:rPr lang="en-US" dirty="0" smtClean="0"/>
              <a:t>    return num1;</a:t>
            </a:r>
          </a:p>
          <a:p>
            <a:r>
              <a:rPr lang="en-US" dirty="0"/>
              <a:t>}</a:t>
            </a:r>
            <a:endParaRPr lang="en-IN" dirty="0"/>
          </a:p>
        </p:txBody>
      </p:sp>
    </p:spTree>
    <p:extLst>
      <p:ext uri="{BB962C8B-B14F-4D97-AF65-F5344CB8AC3E}">
        <p14:creationId xmlns:p14="http://schemas.microsoft.com/office/powerpoint/2010/main" val="181405468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34082"/>
          </a:xfrm>
        </p:spPr>
        <p:txBody>
          <a:bodyPr>
            <a:normAutofit fontScale="90000"/>
          </a:bodyPr>
          <a:lstStyle/>
          <a:p>
            <a:r>
              <a:rPr lang="en-IN" dirty="0" smtClean="0"/>
              <a:t>Function Syntax</a:t>
            </a:r>
            <a:endParaRPr lang="en-IN" dirty="0"/>
          </a:p>
        </p:txBody>
      </p:sp>
      <p:sp>
        <p:nvSpPr>
          <p:cNvPr id="3" name="Content Placeholder 2"/>
          <p:cNvSpPr>
            <a:spLocks noGrp="1"/>
          </p:cNvSpPr>
          <p:nvPr>
            <p:ph sz="quarter" idx="1"/>
          </p:nvPr>
        </p:nvSpPr>
        <p:spPr>
          <a:xfrm>
            <a:off x="323528" y="836712"/>
            <a:ext cx="8401080" cy="4572000"/>
          </a:xfrm>
        </p:spPr>
        <p:txBody>
          <a:bodyPr>
            <a:normAutofit/>
          </a:bodyPr>
          <a:lstStyle/>
          <a:p>
            <a:pPr>
              <a:buNone/>
            </a:pPr>
            <a:r>
              <a:rPr lang="en-IN" sz="2800" dirty="0" smtClean="0"/>
              <a:t>CREATE FUNCTION </a:t>
            </a:r>
            <a:r>
              <a:rPr lang="en-IN" sz="2800" dirty="0" err="1" smtClean="0"/>
              <a:t>Function_Name</a:t>
            </a:r>
            <a:r>
              <a:rPr lang="en-IN" sz="2800" dirty="0" smtClean="0"/>
              <a:t>(</a:t>
            </a:r>
            <a:r>
              <a:rPr lang="en-IN" sz="2800" dirty="0" err="1" smtClean="0"/>
              <a:t>input_arguments</a:t>
            </a:r>
            <a:r>
              <a:rPr lang="en-IN" sz="2800" dirty="0" smtClean="0"/>
              <a:t>)</a:t>
            </a:r>
          </a:p>
          <a:p>
            <a:pPr>
              <a:buNone/>
            </a:pPr>
            <a:r>
              <a:rPr lang="en-IN" sz="2800" dirty="0" smtClean="0"/>
              <a:t>RETURNS </a:t>
            </a:r>
            <a:r>
              <a:rPr lang="en-IN" sz="2800" dirty="0" err="1" smtClean="0"/>
              <a:t>data_type</a:t>
            </a:r>
            <a:endParaRPr lang="en-IN" sz="2800" dirty="0" smtClean="0"/>
          </a:p>
          <a:p>
            <a:pPr>
              <a:buNone/>
            </a:pPr>
            <a:r>
              <a:rPr lang="en-US" sz="2000" dirty="0" smtClean="0"/>
              <a:t>[</a:t>
            </a:r>
            <a:r>
              <a:rPr lang="en-IN" sz="2000" dirty="0"/>
              <a:t>DETERMINISTIC </a:t>
            </a:r>
            <a:r>
              <a:rPr lang="en-IN" sz="2000" dirty="0" smtClean="0"/>
              <a:t>|</a:t>
            </a:r>
            <a:r>
              <a:rPr lang="en-IN" sz="2000" dirty="0"/>
              <a:t>READS SQL </a:t>
            </a:r>
            <a:r>
              <a:rPr lang="en-IN" sz="2000" dirty="0" smtClean="0"/>
              <a:t>DATA|</a:t>
            </a:r>
            <a:r>
              <a:rPr lang="en-IN" sz="2000" dirty="0"/>
              <a:t>NO SQL </a:t>
            </a:r>
            <a:r>
              <a:rPr lang="en-IN" sz="2000" dirty="0" smtClean="0"/>
              <a:t>| CONTAINS SQL]</a:t>
            </a:r>
            <a:endParaRPr lang="en-IN" sz="2800" dirty="0" smtClean="0"/>
          </a:p>
          <a:p>
            <a:pPr>
              <a:buNone/>
            </a:pPr>
            <a:r>
              <a:rPr lang="en-IN" sz="2800" dirty="0" smtClean="0"/>
              <a:t>BEGIN  </a:t>
            </a:r>
          </a:p>
          <a:p>
            <a:pPr>
              <a:buNone/>
            </a:pPr>
            <a:r>
              <a:rPr lang="en-IN" sz="2800" dirty="0" smtClean="0"/>
              <a:t>  declare variables;    </a:t>
            </a:r>
          </a:p>
          <a:p>
            <a:pPr>
              <a:buNone/>
            </a:pPr>
            <a:r>
              <a:rPr lang="en-IN" sz="2800" dirty="0" smtClean="0"/>
              <a:t>  statements . . . . . . . . . .    </a:t>
            </a:r>
          </a:p>
          <a:p>
            <a:pPr>
              <a:buNone/>
            </a:pPr>
            <a:r>
              <a:rPr lang="en-IN" sz="2800" dirty="0" smtClean="0"/>
              <a:t>  return variable;   </a:t>
            </a:r>
          </a:p>
          <a:p>
            <a:pPr>
              <a:buNone/>
            </a:pPr>
            <a:r>
              <a:rPr lang="en-IN" sz="2800" dirty="0" smtClean="0"/>
              <a:t> END</a:t>
            </a:r>
            <a:endParaRPr lang="en-IN" sz="2800" dirty="0"/>
          </a:p>
        </p:txBody>
      </p:sp>
      <p:sp>
        <p:nvSpPr>
          <p:cNvPr id="5" name="TextBox 4"/>
          <p:cNvSpPr txBox="1"/>
          <p:nvPr/>
        </p:nvSpPr>
        <p:spPr>
          <a:xfrm>
            <a:off x="3707904" y="4221088"/>
            <a:ext cx="5040560" cy="1200329"/>
          </a:xfrm>
          <a:prstGeom prst="rect">
            <a:avLst/>
          </a:prstGeom>
          <a:noFill/>
        </p:spPr>
        <p:txBody>
          <a:bodyPr wrap="square" rtlCol="0">
            <a:spAutoFit/>
          </a:bodyPr>
          <a:lstStyle/>
          <a:p>
            <a:r>
              <a:rPr lang="en-US" dirty="0"/>
              <a:t>Even though your syntax shows SQL blocks, </a:t>
            </a:r>
            <a:r>
              <a:rPr lang="en-US" b="1" dirty="0"/>
              <a:t>MySQL functions are not allowed to do INSERT, UPDATE, DELETE, or call procedures</a:t>
            </a:r>
            <a:r>
              <a:rPr lang="en-US" dirty="0"/>
              <a:t>. They can only perform </a:t>
            </a:r>
            <a:r>
              <a:rPr lang="en-US" b="1" dirty="0"/>
              <a:t>read-only</a:t>
            </a:r>
            <a:r>
              <a:rPr lang="en-US" dirty="0"/>
              <a:t> operations like SELECT ... INTO</a:t>
            </a:r>
            <a:r>
              <a:rPr lang="en-US" dirty="0" smtClean="0"/>
              <a:t>.</a:t>
            </a:r>
          </a:p>
        </p:txBody>
      </p:sp>
      <p:sp>
        <p:nvSpPr>
          <p:cNvPr id="9" name="TextBox 8"/>
          <p:cNvSpPr txBox="1"/>
          <p:nvPr/>
        </p:nvSpPr>
        <p:spPr>
          <a:xfrm>
            <a:off x="3845818" y="2348880"/>
            <a:ext cx="5388526" cy="1754326"/>
          </a:xfrm>
          <a:prstGeom prst="rect">
            <a:avLst/>
          </a:prstGeom>
          <a:noFill/>
        </p:spPr>
        <p:txBody>
          <a:bodyPr wrap="none" rtlCol="0">
            <a:spAutoFit/>
          </a:bodyPr>
          <a:lstStyle/>
          <a:p>
            <a:r>
              <a:rPr lang="en-US" b="1" dirty="0"/>
              <a:t>Only IN parameters are allowed in Stored Functions.</a:t>
            </a:r>
          </a:p>
          <a:p>
            <a:r>
              <a:rPr lang="en-US" dirty="0"/>
              <a:t>Functions:</a:t>
            </a:r>
          </a:p>
          <a:p>
            <a:pPr marL="285750" indent="-285750">
              <a:buFont typeface="Arial" pitchFamily="34" charset="0"/>
              <a:buChar char="•"/>
            </a:pPr>
            <a:r>
              <a:rPr lang="en-US" dirty="0"/>
              <a:t>Can take </a:t>
            </a:r>
            <a:r>
              <a:rPr lang="en-US" b="1" dirty="0"/>
              <a:t>input (IN) parameters</a:t>
            </a:r>
            <a:endParaRPr lang="en-US" dirty="0"/>
          </a:p>
          <a:p>
            <a:pPr marL="285750" indent="-285750">
              <a:buFont typeface="Arial" pitchFamily="34" charset="0"/>
              <a:buChar char="•"/>
            </a:pPr>
            <a:r>
              <a:rPr lang="en-US" dirty="0"/>
              <a:t>Must return </a:t>
            </a:r>
            <a:r>
              <a:rPr lang="en-US" b="1" dirty="0"/>
              <a:t>a single value</a:t>
            </a:r>
            <a:r>
              <a:rPr lang="en-US" dirty="0"/>
              <a:t> using the RETURN statement</a:t>
            </a:r>
          </a:p>
          <a:p>
            <a:pPr marL="285750" indent="-285750">
              <a:buFont typeface="Arial" pitchFamily="34" charset="0"/>
              <a:buChar char="•"/>
            </a:pPr>
            <a:r>
              <a:rPr lang="en-US" b="1" dirty="0"/>
              <a:t>Cannot</a:t>
            </a:r>
            <a:r>
              <a:rPr lang="en-US" dirty="0"/>
              <a:t> use OUT or INOUT parameters like procedures</a:t>
            </a:r>
          </a:p>
          <a:p>
            <a:endParaRPr lang="en-IN" dirty="0"/>
          </a:p>
        </p:txBody>
      </p:sp>
    </p:spTree>
    <p:extLst>
      <p:ext uri="{BB962C8B-B14F-4D97-AF65-F5344CB8AC3E}">
        <p14:creationId xmlns:p14="http://schemas.microsoft.com/office/powerpoint/2010/main" val="88982904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073038812"/>
              </p:ext>
            </p:extLst>
          </p:nvPr>
        </p:nvGraphicFramePr>
        <p:xfrm>
          <a:off x="755576" y="836712"/>
          <a:ext cx="7473462" cy="4821702"/>
        </p:xfrm>
        <a:graphic>
          <a:graphicData uri="http://schemas.openxmlformats.org/drawingml/2006/table">
            <a:tbl>
              <a:tblPr>
                <a:tableStyleId>{616DA210-FB5B-4158-B5E0-FEB733F419BA}</a:tableStyleId>
              </a:tblPr>
              <a:tblGrid>
                <a:gridCol w="3736731"/>
                <a:gridCol w="3736731"/>
              </a:tblGrid>
              <a:tr h="351692">
                <a:tc>
                  <a:txBody>
                    <a:bodyPr/>
                    <a:lstStyle/>
                    <a:p>
                      <a:r>
                        <a:rPr lang="en-IN" sz="1700" b="1" dirty="0"/>
                        <a:t>Component</a:t>
                      </a:r>
                    </a:p>
                  </a:txBody>
                  <a:tcPr marL="87923" marR="87923" marT="43962" marB="43962" anchor="ctr"/>
                </a:tc>
                <a:tc>
                  <a:txBody>
                    <a:bodyPr/>
                    <a:lstStyle/>
                    <a:p>
                      <a:r>
                        <a:rPr lang="en-IN" sz="1700" b="1" dirty="0"/>
                        <a:t>Description</a:t>
                      </a:r>
                    </a:p>
                  </a:txBody>
                  <a:tcPr marL="87923" marR="87923" marT="43962" marB="43962" anchor="ctr"/>
                </a:tc>
              </a:tr>
              <a:tr h="351692">
                <a:tc>
                  <a:txBody>
                    <a:bodyPr/>
                    <a:lstStyle/>
                    <a:p>
                      <a:r>
                        <a:rPr lang="en-IN" sz="1700"/>
                        <a:t>CREATE FUNCTION Function_Name(...)</a:t>
                      </a:r>
                    </a:p>
                  </a:txBody>
                  <a:tcPr marL="87923" marR="87923" marT="43962" marB="43962" anchor="ctr"/>
                </a:tc>
                <a:tc>
                  <a:txBody>
                    <a:bodyPr/>
                    <a:lstStyle/>
                    <a:p>
                      <a:r>
                        <a:rPr lang="en-US" sz="1700"/>
                        <a:t>Defines the function with input parameters</a:t>
                      </a:r>
                    </a:p>
                  </a:txBody>
                  <a:tcPr marL="87923" marR="87923" marT="43962" marB="43962" anchor="ctr"/>
                </a:tc>
              </a:tr>
              <a:tr h="615462">
                <a:tc>
                  <a:txBody>
                    <a:bodyPr/>
                    <a:lstStyle/>
                    <a:p>
                      <a:r>
                        <a:rPr lang="en-IN" sz="1700"/>
                        <a:t>RETURNS data_type</a:t>
                      </a:r>
                    </a:p>
                  </a:txBody>
                  <a:tcPr marL="87923" marR="87923" marT="43962" marB="43962" anchor="ctr"/>
                </a:tc>
                <a:tc>
                  <a:txBody>
                    <a:bodyPr/>
                    <a:lstStyle/>
                    <a:p>
                      <a:r>
                        <a:rPr lang="en-US" sz="1700"/>
                        <a:t>Specifies the return data type (e.g., INT, VARCHAR, FLOAT, etc.)</a:t>
                      </a:r>
                    </a:p>
                  </a:txBody>
                  <a:tcPr marL="87923" marR="87923" marT="43962" marB="43962" anchor="ctr"/>
                </a:tc>
              </a:tr>
              <a:tr h="615462">
                <a:tc>
                  <a:txBody>
                    <a:bodyPr/>
                    <a:lstStyle/>
                    <a:p>
                      <a:r>
                        <a:rPr lang="en-IN" sz="1700" dirty="0" smtClean="0"/>
                        <a:t>DETERMINISTIC</a:t>
                      </a:r>
                    </a:p>
                    <a:p>
                      <a:endParaRPr lang="en-IN" sz="1700" dirty="0" smtClean="0"/>
                    </a:p>
                    <a:p>
                      <a:r>
                        <a:rPr lang="en-IN" sz="1600" dirty="0" smtClean="0"/>
                        <a:t>NOT DETERMINISTIC(DEFAULT) ------&gt;</a:t>
                      </a:r>
                      <a:endParaRPr lang="en-IN" sz="1700" dirty="0"/>
                    </a:p>
                  </a:txBody>
                  <a:tcPr marL="87923" marR="87923" marT="43962" marB="43962" anchor="ctr"/>
                </a:tc>
                <a:tc>
                  <a:txBody>
                    <a:bodyPr/>
                    <a:lstStyle/>
                    <a:p>
                      <a:r>
                        <a:rPr lang="en-US" sz="1700" dirty="0"/>
                        <a:t>Tells MySQL this function always returns the same result for the same </a:t>
                      </a:r>
                      <a:r>
                        <a:rPr lang="en-US" sz="1700" dirty="0" smtClean="0"/>
                        <a:t>inputs</a:t>
                      </a:r>
                    </a:p>
                    <a:p>
                      <a:r>
                        <a:rPr lang="en-US" sz="1700" dirty="0" smtClean="0"/>
                        <a:t>Different</a:t>
                      </a:r>
                      <a:r>
                        <a:rPr lang="en-US" sz="1700" baseline="0" dirty="0" smtClean="0"/>
                        <a:t> Results Ex DATETIME</a:t>
                      </a:r>
                      <a:endParaRPr lang="en-US" sz="1700" dirty="0"/>
                    </a:p>
                  </a:txBody>
                  <a:tcPr marL="87923" marR="87923" marT="43962" marB="43962" anchor="ctr"/>
                </a:tc>
              </a:tr>
              <a:tr h="351692">
                <a:tc>
                  <a:txBody>
                    <a:bodyPr/>
                    <a:lstStyle/>
                    <a:p>
                      <a:r>
                        <a:rPr lang="en-IN" sz="1700"/>
                        <a:t>READS SQL DATA</a:t>
                      </a:r>
                    </a:p>
                  </a:txBody>
                  <a:tcPr marL="87923" marR="87923" marT="43962" marB="43962" anchor="ctr"/>
                </a:tc>
                <a:tc>
                  <a:txBody>
                    <a:bodyPr/>
                    <a:lstStyle/>
                    <a:p>
                      <a:r>
                        <a:rPr lang="en-US" sz="1700"/>
                        <a:t>Allows read-only SQL like SELECT INTO</a:t>
                      </a:r>
                    </a:p>
                  </a:txBody>
                  <a:tcPr marL="87923" marR="87923" marT="43962" marB="43962" anchor="ctr"/>
                </a:tc>
              </a:tr>
              <a:tr h="615462">
                <a:tc>
                  <a:txBody>
                    <a:bodyPr/>
                    <a:lstStyle/>
                    <a:p>
                      <a:r>
                        <a:rPr lang="en-IN" sz="1700" dirty="0"/>
                        <a:t>NO SQL</a:t>
                      </a:r>
                    </a:p>
                  </a:txBody>
                  <a:tcPr marL="87923" marR="87923" marT="43962" marB="43962" anchor="ctr"/>
                </a:tc>
                <a:tc>
                  <a:txBody>
                    <a:bodyPr/>
                    <a:lstStyle/>
                    <a:p>
                      <a:r>
                        <a:rPr lang="en-US" sz="1700"/>
                        <a:t>Declares that the function doesn't use any SQL statements</a:t>
                      </a:r>
                    </a:p>
                  </a:txBody>
                  <a:tcPr marL="87923" marR="87923" marT="43962" marB="43962" anchor="ctr"/>
                </a:tc>
              </a:tr>
              <a:tr h="615462">
                <a:tc>
                  <a:txBody>
                    <a:bodyPr/>
                    <a:lstStyle/>
                    <a:p>
                      <a:r>
                        <a:rPr lang="en-IN" sz="1700"/>
                        <a:t>CONTAINS SQL</a:t>
                      </a:r>
                    </a:p>
                  </a:txBody>
                  <a:tcPr marL="87923" marR="87923" marT="43962" marB="43962" anchor="ctr"/>
                </a:tc>
                <a:tc>
                  <a:txBody>
                    <a:bodyPr/>
                    <a:lstStyle/>
                    <a:p>
                      <a:r>
                        <a:rPr lang="en-US" sz="1700"/>
                        <a:t>Declares that the function contains SQL but no reads/writes</a:t>
                      </a:r>
                    </a:p>
                  </a:txBody>
                  <a:tcPr marL="87923" marR="87923" marT="43962" marB="43962" anchor="ctr"/>
                </a:tc>
              </a:tr>
              <a:tr h="351692">
                <a:tc>
                  <a:txBody>
                    <a:bodyPr/>
                    <a:lstStyle/>
                    <a:p>
                      <a:r>
                        <a:rPr lang="en-IN" sz="1700"/>
                        <a:t>BEGIN ... END</a:t>
                      </a:r>
                    </a:p>
                  </a:txBody>
                  <a:tcPr marL="87923" marR="87923" marT="43962" marB="43962" anchor="ctr"/>
                </a:tc>
                <a:tc>
                  <a:txBody>
                    <a:bodyPr/>
                    <a:lstStyle/>
                    <a:p>
                      <a:r>
                        <a:rPr lang="en-US" sz="1700"/>
                        <a:t>The body of the function</a:t>
                      </a:r>
                    </a:p>
                  </a:txBody>
                  <a:tcPr marL="87923" marR="87923" marT="43962" marB="43962" anchor="ctr"/>
                </a:tc>
              </a:tr>
              <a:tr h="351692">
                <a:tc>
                  <a:txBody>
                    <a:bodyPr/>
                    <a:lstStyle/>
                    <a:p>
                      <a:r>
                        <a:rPr lang="en-IN" sz="1700"/>
                        <a:t>DECLARE variables;</a:t>
                      </a:r>
                    </a:p>
                  </a:txBody>
                  <a:tcPr marL="87923" marR="87923" marT="43962" marB="43962" anchor="ctr"/>
                </a:tc>
                <a:tc>
                  <a:txBody>
                    <a:bodyPr/>
                    <a:lstStyle/>
                    <a:p>
                      <a:r>
                        <a:rPr lang="en-US" sz="1700"/>
                        <a:t>Declare local variables if needed</a:t>
                      </a:r>
                    </a:p>
                  </a:txBody>
                  <a:tcPr marL="87923" marR="87923" marT="43962" marB="43962" anchor="ctr"/>
                </a:tc>
              </a:tr>
              <a:tr h="351692">
                <a:tc>
                  <a:txBody>
                    <a:bodyPr/>
                    <a:lstStyle/>
                    <a:p>
                      <a:r>
                        <a:rPr lang="en-IN" sz="1700"/>
                        <a:t>RETURN ...;</a:t>
                      </a:r>
                    </a:p>
                  </a:txBody>
                  <a:tcPr marL="87923" marR="87923" marT="43962" marB="43962" anchor="ctr"/>
                </a:tc>
                <a:tc>
                  <a:txBody>
                    <a:bodyPr/>
                    <a:lstStyle/>
                    <a:p>
                      <a:r>
                        <a:rPr lang="en-US" sz="1700" dirty="0"/>
                        <a:t>Returns the final result of the function</a:t>
                      </a:r>
                    </a:p>
                  </a:txBody>
                  <a:tcPr marL="87923" marR="87923" marT="43962" marB="43962" anchor="ctr"/>
                </a:tc>
              </a:tr>
            </a:tbl>
          </a:graphicData>
        </a:graphic>
      </p:graphicFrame>
    </p:spTree>
    <p:extLst>
      <p:ext uri="{BB962C8B-B14F-4D97-AF65-F5344CB8AC3E}">
        <p14:creationId xmlns:p14="http://schemas.microsoft.com/office/powerpoint/2010/main" val="24860243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7772400" cy="1143000"/>
          </a:xfrm>
        </p:spPr>
        <p:txBody>
          <a:bodyPr>
            <a:normAutofit fontScale="90000"/>
          </a:bodyPr>
          <a:lstStyle/>
          <a:p>
            <a:r>
              <a:rPr lang="en-US" dirty="0"/>
              <a:t>SQL Data Access Modifiers in MySQL</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01939530"/>
              </p:ext>
            </p:extLst>
          </p:nvPr>
        </p:nvGraphicFramePr>
        <p:xfrm>
          <a:off x="611560" y="1988840"/>
          <a:ext cx="7772400" cy="2377440"/>
        </p:xfrm>
        <a:graphic>
          <a:graphicData uri="http://schemas.openxmlformats.org/drawingml/2006/table">
            <a:tbl>
              <a:tblPr>
                <a:tableStyleId>{3C2FFA5D-87B4-456A-9821-1D502468CF0F}</a:tableStyleId>
              </a:tblPr>
              <a:tblGrid>
                <a:gridCol w="1943100"/>
                <a:gridCol w="1943100"/>
                <a:gridCol w="1943100"/>
                <a:gridCol w="1943100"/>
              </a:tblGrid>
              <a:tr h="0">
                <a:tc>
                  <a:txBody>
                    <a:bodyPr/>
                    <a:lstStyle/>
                    <a:p>
                      <a:r>
                        <a:rPr lang="en-IN" dirty="0"/>
                        <a:t>Modifier</a:t>
                      </a:r>
                    </a:p>
                  </a:txBody>
                  <a:tcPr anchor="ctr"/>
                </a:tc>
                <a:tc>
                  <a:txBody>
                    <a:bodyPr/>
                    <a:lstStyle/>
                    <a:p>
                      <a:r>
                        <a:rPr lang="en-IN" dirty="0"/>
                        <a:t>Allowed in Functions?</a:t>
                      </a:r>
                    </a:p>
                  </a:txBody>
                  <a:tcPr anchor="ctr"/>
                </a:tc>
                <a:tc>
                  <a:txBody>
                    <a:bodyPr/>
                    <a:lstStyle/>
                    <a:p>
                      <a:r>
                        <a:rPr lang="en-IN" dirty="0"/>
                        <a:t>Reads Data</a:t>
                      </a:r>
                    </a:p>
                  </a:txBody>
                  <a:tcPr anchor="ctr"/>
                </a:tc>
                <a:tc>
                  <a:txBody>
                    <a:bodyPr/>
                    <a:lstStyle/>
                    <a:p>
                      <a:r>
                        <a:rPr lang="en-IN" dirty="0"/>
                        <a:t>Modifies Data</a:t>
                      </a:r>
                    </a:p>
                  </a:txBody>
                  <a:tcPr anchor="ctr"/>
                </a:tc>
              </a:tr>
              <a:tr h="0">
                <a:tc>
                  <a:txBody>
                    <a:bodyPr/>
                    <a:lstStyle/>
                    <a:p>
                      <a:r>
                        <a:rPr lang="en-IN"/>
                        <a:t>NO SQL</a:t>
                      </a:r>
                    </a:p>
                  </a:txBody>
                  <a:tcPr anchor="ctr"/>
                </a:tc>
                <a:tc>
                  <a:txBody>
                    <a:bodyPr/>
                    <a:lstStyle/>
                    <a:p>
                      <a:r>
                        <a:rPr lang="en-IN" dirty="0" smtClean="0"/>
                        <a:t>Yes</a:t>
                      </a:r>
                      <a:endParaRPr lang="en-IN" dirty="0"/>
                    </a:p>
                  </a:txBody>
                  <a:tcPr anchor="ctr"/>
                </a:tc>
                <a:tc>
                  <a:txBody>
                    <a:bodyPr/>
                    <a:lstStyle/>
                    <a:p>
                      <a:r>
                        <a:rPr lang="en-IN" dirty="0" smtClean="0"/>
                        <a:t>No</a:t>
                      </a:r>
                      <a:endParaRPr lang="en-IN" dirty="0"/>
                    </a:p>
                  </a:txBody>
                  <a:tcPr anchor="ctr"/>
                </a:tc>
                <a:tc>
                  <a:txBody>
                    <a:bodyPr/>
                    <a:lstStyle/>
                    <a:p>
                      <a:r>
                        <a:rPr lang="en-IN" dirty="0" smtClean="0"/>
                        <a:t> </a:t>
                      </a:r>
                      <a:r>
                        <a:rPr lang="en-IN" dirty="0"/>
                        <a:t>No</a:t>
                      </a:r>
                    </a:p>
                  </a:txBody>
                  <a:tcPr anchor="ctr"/>
                </a:tc>
              </a:tr>
              <a:tr h="0">
                <a:tc>
                  <a:txBody>
                    <a:bodyPr/>
                    <a:lstStyle/>
                    <a:p>
                      <a:r>
                        <a:rPr lang="en-IN"/>
                        <a:t>READS SQL DATA</a:t>
                      </a:r>
                    </a:p>
                  </a:txBody>
                  <a:tcPr anchor="ctr"/>
                </a:tc>
                <a:tc>
                  <a:txBody>
                    <a:bodyPr/>
                    <a:lstStyle/>
                    <a:p>
                      <a:r>
                        <a:rPr lang="en-IN" dirty="0" smtClean="0"/>
                        <a:t>Yes</a:t>
                      </a:r>
                      <a:endParaRPr lang="en-IN" dirty="0"/>
                    </a:p>
                  </a:txBody>
                  <a:tcPr anchor="ctr"/>
                </a:tc>
                <a:tc>
                  <a:txBody>
                    <a:bodyPr/>
                    <a:lstStyle/>
                    <a:p>
                      <a:r>
                        <a:rPr lang="en-IN" dirty="0" smtClean="0"/>
                        <a:t> </a:t>
                      </a:r>
                      <a:r>
                        <a:rPr lang="en-IN" dirty="0"/>
                        <a:t>Yes</a:t>
                      </a:r>
                    </a:p>
                  </a:txBody>
                  <a:tcPr anchor="ctr"/>
                </a:tc>
                <a:tc>
                  <a:txBody>
                    <a:bodyPr/>
                    <a:lstStyle/>
                    <a:p>
                      <a:r>
                        <a:rPr lang="en-IN" dirty="0" smtClean="0"/>
                        <a:t>No</a:t>
                      </a:r>
                      <a:endParaRPr lang="en-IN" dirty="0"/>
                    </a:p>
                  </a:txBody>
                  <a:tcPr anchor="ctr"/>
                </a:tc>
              </a:tr>
              <a:tr h="0">
                <a:tc>
                  <a:txBody>
                    <a:bodyPr/>
                    <a:lstStyle/>
                    <a:p>
                      <a:r>
                        <a:rPr lang="en-IN"/>
                        <a:t>MODIFIES SQL DATA</a:t>
                      </a:r>
                    </a:p>
                  </a:txBody>
                  <a:tcPr anchor="ctr"/>
                </a:tc>
                <a:tc>
                  <a:txBody>
                    <a:bodyPr/>
                    <a:lstStyle/>
                    <a:p>
                      <a:r>
                        <a:rPr lang="en-IN" dirty="0" smtClean="0"/>
                        <a:t> </a:t>
                      </a:r>
                      <a:r>
                        <a:rPr lang="en-IN" dirty="0"/>
                        <a:t>Not allowed in functions</a:t>
                      </a:r>
                    </a:p>
                  </a:txBody>
                  <a:tcPr anchor="ctr"/>
                </a:tc>
                <a:tc>
                  <a:txBody>
                    <a:bodyPr/>
                    <a:lstStyle/>
                    <a:p>
                      <a:r>
                        <a:rPr lang="en-IN" dirty="0" smtClean="0"/>
                        <a:t> </a:t>
                      </a:r>
                      <a:r>
                        <a:rPr lang="en-IN" dirty="0"/>
                        <a:t>Yes</a:t>
                      </a:r>
                    </a:p>
                  </a:txBody>
                  <a:tcPr anchor="ctr"/>
                </a:tc>
                <a:tc>
                  <a:txBody>
                    <a:bodyPr/>
                    <a:lstStyle/>
                    <a:p>
                      <a:r>
                        <a:rPr lang="en-IN" dirty="0" smtClean="0"/>
                        <a:t>Yes </a:t>
                      </a:r>
                      <a:r>
                        <a:rPr lang="en-IN" dirty="0"/>
                        <a:t>(Only for procedures)</a:t>
                      </a:r>
                    </a:p>
                  </a:txBody>
                  <a:tcPr anchor="ctr"/>
                </a:tc>
              </a:tr>
              <a:tr h="0">
                <a:tc>
                  <a:txBody>
                    <a:bodyPr/>
                    <a:lstStyle/>
                    <a:p>
                      <a:r>
                        <a:rPr lang="en-IN"/>
                        <a:t>CONTAINS SQL</a:t>
                      </a:r>
                    </a:p>
                  </a:txBody>
                  <a:tcPr anchor="ctr"/>
                </a:tc>
                <a:tc>
                  <a:txBody>
                    <a:bodyPr/>
                    <a:lstStyle/>
                    <a:p>
                      <a:r>
                        <a:rPr lang="en-IN" dirty="0" smtClean="0"/>
                        <a:t>Yes </a:t>
                      </a:r>
                      <a:r>
                        <a:rPr lang="en-IN" dirty="0"/>
                        <a:t>(limited use)</a:t>
                      </a:r>
                    </a:p>
                  </a:txBody>
                  <a:tcPr anchor="ctr"/>
                </a:tc>
                <a:tc>
                  <a:txBody>
                    <a:bodyPr/>
                    <a:lstStyle/>
                    <a:p>
                      <a:r>
                        <a:rPr lang="en-IN"/>
                        <a:t>Maybe</a:t>
                      </a:r>
                    </a:p>
                  </a:txBody>
                  <a:tcPr anchor="ctr"/>
                </a:tc>
                <a:tc>
                  <a:txBody>
                    <a:bodyPr/>
                    <a:lstStyle/>
                    <a:p>
                      <a:r>
                        <a:rPr lang="en-IN" dirty="0"/>
                        <a:t>Maybe</a:t>
                      </a:r>
                    </a:p>
                  </a:txBody>
                  <a:tcPr anchor="ctr"/>
                </a:tc>
              </a:tr>
            </a:tbl>
          </a:graphicData>
        </a:graphic>
      </p:graphicFrame>
    </p:spTree>
    <p:extLst>
      <p:ext uri="{BB962C8B-B14F-4D97-AF65-F5344CB8AC3E}">
        <p14:creationId xmlns:p14="http://schemas.microsoft.com/office/powerpoint/2010/main" val="360231125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Ex:Adding</a:t>
            </a:r>
            <a:r>
              <a:rPr lang="en-US" dirty="0" smtClean="0"/>
              <a:t> two numbers</a:t>
            </a:r>
            <a:endParaRPr lang="en-IN"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6" name="Rectangle 5"/>
          <p:cNvSpPr/>
          <p:nvPr/>
        </p:nvSpPr>
        <p:spPr>
          <a:xfrm>
            <a:off x="1187624" y="1700808"/>
            <a:ext cx="5760640" cy="3170099"/>
          </a:xfrm>
          <a:prstGeom prst="rect">
            <a:avLst/>
          </a:prstGeom>
        </p:spPr>
        <p:txBody>
          <a:bodyPr wrap="square">
            <a:spAutoFit/>
          </a:bodyPr>
          <a:lstStyle/>
          <a:p>
            <a:r>
              <a:rPr lang="en-US" sz="2000" dirty="0"/>
              <a:t>DELIMITER $$</a:t>
            </a:r>
          </a:p>
          <a:p>
            <a:endParaRPr lang="en-US" sz="2000" dirty="0"/>
          </a:p>
          <a:p>
            <a:r>
              <a:rPr lang="en-US" sz="2000" dirty="0"/>
              <a:t>CREATE FUNCTION </a:t>
            </a:r>
            <a:r>
              <a:rPr lang="en-US" sz="2000" dirty="0" err="1"/>
              <a:t>add_numbers</a:t>
            </a:r>
            <a:r>
              <a:rPr lang="en-US" sz="2000" dirty="0"/>
              <a:t>(a INT, b INT)</a:t>
            </a:r>
          </a:p>
          <a:p>
            <a:r>
              <a:rPr lang="en-US" sz="2000" dirty="0"/>
              <a:t>RETURNS INT</a:t>
            </a:r>
          </a:p>
          <a:p>
            <a:r>
              <a:rPr lang="en-US" sz="2000" dirty="0"/>
              <a:t>DETERMINISTIC</a:t>
            </a:r>
          </a:p>
          <a:p>
            <a:r>
              <a:rPr lang="en-US" sz="2000" dirty="0"/>
              <a:t>BEGIN</a:t>
            </a:r>
          </a:p>
          <a:p>
            <a:r>
              <a:rPr lang="en-US" sz="2000" dirty="0"/>
              <a:t>    RETURN a + b;</a:t>
            </a:r>
          </a:p>
          <a:p>
            <a:r>
              <a:rPr lang="en-US" sz="2000" dirty="0"/>
              <a:t>END $$</a:t>
            </a:r>
          </a:p>
          <a:p>
            <a:endParaRPr lang="en-US" sz="2000" dirty="0"/>
          </a:p>
          <a:p>
            <a:r>
              <a:rPr lang="en-US" sz="2000" dirty="0"/>
              <a:t>DELIMITER ;</a:t>
            </a:r>
          </a:p>
        </p:txBody>
      </p:sp>
      <p:sp>
        <p:nvSpPr>
          <p:cNvPr id="9" name="TextBox 8"/>
          <p:cNvSpPr txBox="1"/>
          <p:nvPr/>
        </p:nvSpPr>
        <p:spPr>
          <a:xfrm>
            <a:off x="6444208" y="1196752"/>
            <a:ext cx="2160240" cy="1477328"/>
          </a:xfrm>
          <a:prstGeom prst="rect">
            <a:avLst/>
          </a:prstGeom>
          <a:noFill/>
        </p:spPr>
        <p:txBody>
          <a:bodyPr wrap="square" rtlCol="0">
            <a:spAutoFit/>
          </a:bodyPr>
          <a:lstStyle/>
          <a:p>
            <a:r>
              <a:rPr lang="en-US" dirty="0"/>
              <a:t>You </a:t>
            </a:r>
            <a:r>
              <a:rPr lang="en-US" b="1" dirty="0"/>
              <a:t>cannot use CALL for functions</a:t>
            </a:r>
            <a:r>
              <a:rPr lang="en-US" dirty="0"/>
              <a:t> in MySQL</a:t>
            </a:r>
            <a:r>
              <a:rPr lang="en-US" dirty="0" smtClean="0"/>
              <a:t>.</a:t>
            </a:r>
          </a:p>
          <a:p>
            <a:r>
              <a:rPr lang="en-US" dirty="0"/>
              <a:t>CALL is used </a:t>
            </a:r>
            <a:r>
              <a:rPr lang="en-US" b="1" dirty="0"/>
              <a:t>only</a:t>
            </a:r>
            <a:r>
              <a:rPr lang="en-US" dirty="0"/>
              <a:t> for </a:t>
            </a:r>
            <a:r>
              <a:rPr lang="en-US" b="1" dirty="0"/>
              <a:t>stored procedures</a:t>
            </a:r>
            <a:endParaRPr lang="en-IN" dirty="0"/>
          </a:p>
        </p:txBody>
      </p:sp>
      <p:sp>
        <p:nvSpPr>
          <p:cNvPr id="10" name="TextBox 9"/>
          <p:cNvSpPr txBox="1"/>
          <p:nvPr/>
        </p:nvSpPr>
        <p:spPr>
          <a:xfrm>
            <a:off x="4572000" y="3501008"/>
            <a:ext cx="4104456" cy="2308324"/>
          </a:xfrm>
          <a:prstGeom prst="rect">
            <a:avLst/>
          </a:prstGeom>
          <a:noFill/>
        </p:spPr>
        <p:txBody>
          <a:bodyPr wrap="square" rtlCol="0">
            <a:spAutoFit/>
          </a:bodyPr>
          <a:lstStyle/>
          <a:p>
            <a:r>
              <a:rPr lang="en-IN" b="1" dirty="0"/>
              <a:t>SELECT </a:t>
            </a:r>
            <a:r>
              <a:rPr lang="en-IN" b="1" dirty="0" err="1"/>
              <a:t>add_numbers</a:t>
            </a:r>
            <a:r>
              <a:rPr lang="en-IN" b="1" dirty="0"/>
              <a:t>(10, 20);</a:t>
            </a:r>
          </a:p>
          <a:p>
            <a:endParaRPr lang="en-IN" dirty="0" smtClean="0"/>
          </a:p>
          <a:p>
            <a:endParaRPr lang="en-IN" dirty="0"/>
          </a:p>
          <a:p>
            <a:r>
              <a:rPr lang="en-IN" dirty="0" smtClean="0"/>
              <a:t>OR</a:t>
            </a:r>
          </a:p>
          <a:p>
            <a:endParaRPr lang="en-IN" dirty="0"/>
          </a:p>
          <a:p>
            <a:r>
              <a:rPr lang="en-IN" dirty="0" smtClean="0"/>
              <a:t>SET @M;</a:t>
            </a:r>
          </a:p>
          <a:p>
            <a:r>
              <a:rPr lang="en-IN" dirty="0" smtClean="0"/>
              <a:t>SELECT </a:t>
            </a:r>
            <a:r>
              <a:rPr lang="en-IN" dirty="0" err="1" smtClean="0"/>
              <a:t>add_numbers</a:t>
            </a:r>
            <a:r>
              <a:rPr lang="en-IN" dirty="0" smtClean="0"/>
              <a:t>(20,30) INTO @M;</a:t>
            </a:r>
          </a:p>
          <a:p>
            <a:r>
              <a:rPr lang="en-US" dirty="0" smtClean="0"/>
              <a:t>SELECT @M;</a:t>
            </a:r>
            <a:endParaRPr lang="en-IN" dirty="0"/>
          </a:p>
        </p:txBody>
      </p:sp>
    </p:spTree>
    <p:extLst>
      <p:ext uri="{BB962C8B-B14F-4D97-AF65-F5344CB8AC3E}">
        <p14:creationId xmlns:p14="http://schemas.microsoft.com/office/powerpoint/2010/main" val="15017207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 Non Deterministic</a:t>
            </a:r>
            <a:endParaRPr lang="en-IN" dirty="0"/>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5" name="Rectangle 4"/>
          <p:cNvSpPr/>
          <p:nvPr/>
        </p:nvSpPr>
        <p:spPr>
          <a:xfrm>
            <a:off x="1187624" y="1640991"/>
            <a:ext cx="5256584" cy="3416320"/>
          </a:xfrm>
          <a:prstGeom prst="rect">
            <a:avLst/>
          </a:prstGeom>
        </p:spPr>
        <p:txBody>
          <a:bodyPr wrap="square">
            <a:spAutoFit/>
          </a:bodyPr>
          <a:lstStyle/>
          <a:p>
            <a:r>
              <a:rPr lang="en-US" sz="2400" dirty="0"/>
              <a:t>DELIMITER </a:t>
            </a:r>
            <a:r>
              <a:rPr lang="en-US" sz="2400" dirty="0" smtClean="0"/>
              <a:t>$$</a:t>
            </a:r>
          </a:p>
          <a:p>
            <a:r>
              <a:rPr lang="en-US" sz="2400" dirty="0" smtClean="0"/>
              <a:t>CREATE </a:t>
            </a:r>
            <a:r>
              <a:rPr lang="en-US" sz="2400" dirty="0"/>
              <a:t>FUNCTION </a:t>
            </a:r>
            <a:r>
              <a:rPr lang="en-US" sz="2400" dirty="0" err="1"/>
              <a:t>get_time</a:t>
            </a:r>
            <a:r>
              <a:rPr lang="en-US" sz="2400" dirty="0" smtClean="0"/>
              <a:t>()</a:t>
            </a:r>
          </a:p>
          <a:p>
            <a:r>
              <a:rPr lang="en-US" sz="2400" dirty="0" smtClean="0"/>
              <a:t>RETURNS DATETIME</a:t>
            </a:r>
          </a:p>
          <a:p>
            <a:r>
              <a:rPr lang="en-US" sz="2400" dirty="0" smtClean="0"/>
              <a:t>NOT </a:t>
            </a:r>
            <a:r>
              <a:rPr lang="en-US" sz="2400" dirty="0"/>
              <a:t>DETERMINISTIC   READS SQL DATA</a:t>
            </a:r>
            <a:endParaRPr lang="en-US" sz="2400" dirty="0" smtClean="0"/>
          </a:p>
          <a:p>
            <a:r>
              <a:rPr lang="en-US" sz="2400" dirty="0" smtClean="0"/>
              <a:t>BEGIN    </a:t>
            </a:r>
          </a:p>
          <a:p>
            <a:r>
              <a:rPr lang="en-US" sz="2400" dirty="0"/>
              <a:t> </a:t>
            </a:r>
            <a:r>
              <a:rPr lang="en-US" sz="2400" dirty="0" smtClean="0"/>
              <a:t>            RETURN </a:t>
            </a:r>
            <a:r>
              <a:rPr lang="en-US" sz="2400" dirty="0"/>
              <a:t>NOW();  </a:t>
            </a:r>
            <a:endParaRPr lang="en-US" sz="2400" dirty="0" smtClean="0"/>
          </a:p>
          <a:p>
            <a:r>
              <a:rPr lang="en-US" sz="2400" dirty="0" smtClean="0"/>
              <a:t>END $$</a:t>
            </a:r>
          </a:p>
          <a:p>
            <a:endParaRPr lang="en-US" sz="2400" dirty="0"/>
          </a:p>
          <a:p>
            <a:r>
              <a:rPr lang="en-US" sz="2400" dirty="0" smtClean="0"/>
              <a:t>DELIMITER </a:t>
            </a:r>
            <a:r>
              <a:rPr lang="en-US" sz="2400" dirty="0"/>
              <a:t>;</a:t>
            </a:r>
            <a:endParaRPr lang="en-IN" sz="2400" dirty="0"/>
          </a:p>
        </p:txBody>
      </p:sp>
      <p:sp>
        <p:nvSpPr>
          <p:cNvPr id="6" name="Rectangle 5"/>
          <p:cNvSpPr/>
          <p:nvPr/>
        </p:nvSpPr>
        <p:spPr>
          <a:xfrm>
            <a:off x="5652120" y="4509120"/>
            <a:ext cx="3031201" cy="369332"/>
          </a:xfrm>
          <a:prstGeom prst="rect">
            <a:avLst/>
          </a:prstGeom>
        </p:spPr>
        <p:txBody>
          <a:bodyPr wrap="square">
            <a:spAutoFit/>
          </a:bodyPr>
          <a:lstStyle/>
          <a:p>
            <a:r>
              <a:rPr lang="en-IN" b="1" dirty="0"/>
              <a:t>select </a:t>
            </a:r>
            <a:r>
              <a:rPr lang="en-IN" b="1" dirty="0" err="1"/>
              <a:t>get_time</a:t>
            </a:r>
            <a:r>
              <a:rPr lang="en-IN" b="1" dirty="0"/>
              <a:t>();</a:t>
            </a:r>
          </a:p>
        </p:txBody>
      </p:sp>
    </p:spTree>
    <p:extLst>
      <p:ext uri="{BB962C8B-B14F-4D97-AF65-F5344CB8AC3E}">
        <p14:creationId xmlns:p14="http://schemas.microsoft.com/office/powerpoint/2010/main" val="10249927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 3:</a:t>
            </a:r>
            <a:endParaRPr lang="en-IN" dirty="0"/>
          </a:p>
        </p:txBody>
      </p:sp>
      <p:sp>
        <p:nvSpPr>
          <p:cNvPr id="3" name="Footer Placeholder 2"/>
          <p:cNvSpPr>
            <a:spLocks noGrp="1"/>
          </p:cNvSpPr>
          <p:nvPr>
            <p:ph type="ftr" sz="quarter" idx="11"/>
          </p:nvPr>
        </p:nvSpPr>
        <p:spPr/>
        <p:txBody>
          <a:bodyPr/>
          <a:lstStyle/>
          <a:p>
            <a:r>
              <a:rPr lang="en-IN" smtClean="0"/>
              <a:t>Dr SURESH YADLAPATI</a:t>
            </a:r>
            <a:endParaRPr lang="en-IN"/>
          </a:p>
        </p:txBody>
      </p:sp>
      <p:sp>
        <p:nvSpPr>
          <p:cNvPr id="6" name="Rectangle 5"/>
          <p:cNvSpPr/>
          <p:nvPr/>
        </p:nvSpPr>
        <p:spPr>
          <a:xfrm>
            <a:off x="971600" y="1700808"/>
            <a:ext cx="4752528" cy="3785652"/>
          </a:xfrm>
          <a:prstGeom prst="rect">
            <a:avLst/>
          </a:prstGeom>
        </p:spPr>
        <p:txBody>
          <a:bodyPr wrap="square">
            <a:spAutoFit/>
          </a:bodyPr>
          <a:lstStyle/>
          <a:p>
            <a:r>
              <a:rPr lang="en-US" sz="2400" dirty="0"/>
              <a:t>DELIMITER </a:t>
            </a:r>
            <a:r>
              <a:rPr lang="en-US" sz="2400" dirty="0" smtClean="0"/>
              <a:t>$$</a:t>
            </a:r>
          </a:p>
          <a:p>
            <a:r>
              <a:rPr lang="en-US" sz="2400" dirty="0" smtClean="0"/>
              <a:t>CREATE </a:t>
            </a:r>
            <a:r>
              <a:rPr lang="en-US" sz="2400" dirty="0"/>
              <a:t>FUNCTION </a:t>
            </a:r>
            <a:r>
              <a:rPr lang="en-US" sz="2400" dirty="0" err="1"/>
              <a:t>get_random</a:t>
            </a:r>
            <a:r>
              <a:rPr lang="en-US" sz="2400" dirty="0" smtClean="0"/>
              <a:t>()</a:t>
            </a:r>
          </a:p>
          <a:p>
            <a:r>
              <a:rPr lang="en-US" sz="2400" dirty="0" smtClean="0"/>
              <a:t>RETURNS DOUBLE</a:t>
            </a:r>
          </a:p>
          <a:p>
            <a:endParaRPr lang="en-US" sz="2400" dirty="0"/>
          </a:p>
          <a:p>
            <a:r>
              <a:rPr lang="en-US" sz="2400" dirty="0" smtClean="0"/>
              <a:t>NOT </a:t>
            </a:r>
            <a:r>
              <a:rPr lang="en-US" sz="2400" dirty="0"/>
              <a:t>DETERMINISTIC READS SQL </a:t>
            </a:r>
            <a:r>
              <a:rPr lang="en-US" sz="2400" dirty="0" smtClean="0"/>
              <a:t>DATA</a:t>
            </a:r>
          </a:p>
          <a:p>
            <a:r>
              <a:rPr lang="en-US" sz="2400" dirty="0" smtClean="0"/>
              <a:t>BEGIN    </a:t>
            </a:r>
          </a:p>
          <a:p>
            <a:r>
              <a:rPr lang="en-US" sz="2400" dirty="0" smtClean="0"/>
              <a:t>RETURN </a:t>
            </a:r>
            <a:r>
              <a:rPr lang="en-US" sz="2400" dirty="0"/>
              <a:t>RAND</a:t>
            </a:r>
            <a:r>
              <a:rPr lang="en-US" sz="2400" dirty="0" smtClean="0"/>
              <a:t>();</a:t>
            </a:r>
          </a:p>
          <a:p>
            <a:r>
              <a:rPr lang="en-US" sz="2400" dirty="0" smtClean="0"/>
              <a:t>END $$</a:t>
            </a:r>
          </a:p>
          <a:p>
            <a:r>
              <a:rPr lang="en-US" sz="2400" dirty="0" smtClean="0"/>
              <a:t>DELIMITER </a:t>
            </a:r>
            <a:r>
              <a:rPr lang="en-US" sz="2400" dirty="0"/>
              <a:t>;</a:t>
            </a:r>
            <a:endParaRPr lang="en-IN" sz="2400" dirty="0"/>
          </a:p>
        </p:txBody>
      </p:sp>
      <p:sp>
        <p:nvSpPr>
          <p:cNvPr id="7" name="Rectangle 6"/>
          <p:cNvSpPr/>
          <p:nvPr/>
        </p:nvSpPr>
        <p:spPr>
          <a:xfrm>
            <a:off x="5220072" y="4149080"/>
            <a:ext cx="3168352" cy="523220"/>
          </a:xfrm>
          <a:prstGeom prst="rect">
            <a:avLst/>
          </a:prstGeom>
        </p:spPr>
        <p:txBody>
          <a:bodyPr wrap="square">
            <a:spAutoFit/>
          </a:bodyPr>
          <a:lstStyle/>
          <a:p>
            <a:r>
              <a:rPr lang="en-IN" sz="2800" dirty="0"/>
              <a:t>select </a:t>
            </a:r>
            <a:r>
              <a:rPr lang="en-IN" sz="2800" dirty="0" err="1"/>
              <a:t>get_random</a:t>
            </a:r>
            <a:r>
              <a:rPr lang="en-IN" sz="2800" dirty="0"/>
              <a:t>(); </a:t>
            </a:r>
          </a:p>
        </p:txBody>
      </p:sp>
    </p:spTree>
    <p:extLst>
      <p:ext uri="{BB962C8B-B14F-4D97-AF65-F5344CB8AC3E}">
        <p14:creationId xmlns:p14="http://schemas.microsoft.com/office/powerpoint/2010/main" val="6170118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332656"/>
            <a:ext cx="7772400" cy="634082"/>
          </a:xfrm>
        </p:spPr>
        <p:txBody>
          <a:bodyPr>
            <a:normAutofit fontScale="90000"/>
          </a:bodyPr>
          <a:lstStyle/>
          <a:p>
            <a:r>
              <a:rPr lang="en-US" dirty="0" smtClean="0">
                <a:solidFill>
                  <a:srgbClr val="FF0000"/>
                </a:solidFill>
              </a:rPr>
              <a:t>ERROR</a:t>
            </a:r>
            <a:endParaRPr lang="en-IN" dirty="0">
              <a:solidFill>
                <a:srgbClr val="FF0000"/>
              </a:solidFill>
            </a:endParaRPr>
          </a:p>
        </p:txBody>
      </p:sp>
      <p:sp>
        <p:nvSpPr>
          <p:cNvPr id="3" name="Footer Placeholder 2"/>
          <p:cNvSpPr>
            <a:spLocks noGrp="1"/>
          </p:cNvSpPr>
          <p:nvPr>
            <p:ph type="ftr" sz="quarter" idx="11"/>
          </p:nvPr>
        </p:nvSpPr>
        <p:spPr/>
        <p:txBody>
          <a:bodyPr/>
          <a:lstStyle/>
          <a:p>
            <a:r>
              <a:rPr lang="en-IN" dirty="0" smtClean="0"/>
              <a:t>Dr SURESH YADLAPATI</a:t>
            </a:r>
            <a:endParaRPr lang="en-IN" dirty="0"/>
          </a:p>
        </p:txBody>
      </p:sp>
      <p:sp>
        <p:nvSpPr>
          <p:cNvPr id="4" name="Content Placeholder 3"/>
          <p:cNvSpPr>
            <a:spLocks noGrp="1"/>
          </p:cNvSpPr>
          <p:nvPr>
            <p:ph sz="quarter" idx="1"/>
          </p:nvPr>
        </p:nvSpPr>
        <p:spPr>
          <a:xfrm>
            <a:off x="251520" y="958334"/>
            <a:ext cx="7772400" cy="4572000"/>
          </a:xfrm>
        </p:spPr>
        <p:txBody>
          <a:bodyPr>
            <a:normAutofit lnSpcReduction="10000"/>
          </a:bodyPr>
          <a:lstStyle/>
          <a:p>
            <a:pPr marL="0" indent="0">
              <a:buNone/>
            </a:pPr>
            <a:r>
              <a:rPr lang="en-US" dirty="0"/>
              <a:t>delimiter //</a:t>
            </a:r>
          </a:p>
          <a:p>
            <a:pPr marL="0" indent="0">
              <a:buNone/>
            </a:pPr>
            <a:r>
              <a:rPr lang="en-US" dirty="0"/>
              <a:t>CREATE FUNCTION </a:t>
            </a:r>
            <a:r>
              <a:rPr lang="en-US" dirty="0" err="1"/>
              <a:t>update_salary</a:t>
            </a:r>
            <a:r>
              <a:rPr lang="en-US" dirty="0"/>
              <a:t>(</a:t>
            </a:r>
            <a:r>
              <a:rPr lang="en-US" dirty="0" err="1"/>
              <a:t>emp_id</a:t>
            </a:r>
            <a:r>
              <a:rPr lang="en-US" dirty="0"/>
              <a:t> INT)</a:t>
            </a:r>
          </a:p>
          <a:p>
            <a:pPr marL="0" indent="0">
              <a:buNone/>
            </a:pPr>
            <a:r>
              <a:rPr lang="en-US" dirty="0"/>
              <a:t>RETURNS INT</a:t>
            </a:r>
          </a:p>
          <a:p>
            <a:pPr marL="0" indent="0">
              <a:buNone/>
            </a:pPr>
            <a:r>
              <a:rPr lang="en-US" dirty="0"/>
              <a:t>DETERMINISTIC</a:t>
            </a:r>
          </a:p>
          <a:p>
            <a:pPr marL="0" indent="0">
              <a:buNone/>
            </a:pPr>
            <a:r>
              <a:rPr lang="en-US" dirty="0"/>
              <a:t>BEGIN</a:t>
            </a:r>
          </a:p>
          <a:p>
            <a:pPr marL="0" indent="0">
              <a:buNone/>
            </a:pPr>
            <a:r>
              <a:rPr lang="en-US" dirty="0"/>
              <a:t>    UPDATE employee SET salary = 80000 WHERE </a:t>
            </a:r>
            <a:r>
              <a:rPr lang="en-US" dirty="0" err="1"/>
              <a:t>emp_id</a:t>
            </a:r>
            <a:r>
              <a:rPr lang="en-US" dirty="0"/>
              <a:t> = </a:t>
            </a:r>
            <a:r>
              <a:rPr lang="en-US" dirty="0" err="1"/>
              <a:t>emp_id</a:t>
            </a:r>
            <a:r>
              <a:rPr lang="en-US" dirty="0"/>
              <a:t>;</a:t>
            </a:r>
          </a:p>
          <a:p>
            <a:pPr marL="0" indent="0">
              <a:buNone/>
            </a:pPr>
            <a:r>
              <a:rPr lang="en-US" dirty="0"/>
              <a:t>    RETURN 1;</a:t>
            </a:r>
          </a:p>
          <a:p>
            <a:pPr marL="0" indent="0">
              <a:buNone/>
            </a:pPr>
            <a:r>
              <a:rPr lang="en-US" dirty="0"/>
              <a:t>END //</a:t>
            </a:r>
          </a:p>
          <a:p>
            <a:pPr marL="0" indent="0">
              <a:buNone/>
            </a:pPr>
            <a:r>
              <a:rPr lang="en-US" dirty="0"/>
              <a:t>DELIMITER ; </a:t>
            </a:r>
          </a:p>
          <a:p>
            <a:endParaRPr lang="en-IN" dirty="0"/>
          </a:p>
        </p:txBody>
      </p:sp>
      <p:sp>
        <p:nvSpPr>
          <p:cNvPr id="6" name="Rectangle 5"/>
          <p:cNvSpPr/>
          <p:nvPr/>
        </p:nvSpPr>
        <p:spPr>
          <a:xfrm>
            <a:off x="4211960" y="4149080"/>
            <a:ext cx="4104009" cy="584775"/>
          </a:xfrm>
          <a:prstGeom prst="rect">
            <a:avLst/>
          </a:prstGeom>
        </p:spPr>
        <p:txBody>
          <a:bodyPr wrap="none">
            <a:spAutoFit/>
          </a:bodyPr>
          <a:lstStyle/>
          <a:p>
            <a:r>
              <a:rPr lang="en-US" sz="3200" dirty="0"/>
              <a:t>select </a:t>
            </a:r>
            <a:r>
              <a:rPr lang="en-US" sz="3200" dirty="0" err="1"/>
              <a:t>update_salary</a:t>
            </a:r>
            <a:r>
              <a:rPr lang="en-US" sz="3200" dirty="0"/>
              <a:t>(101);</a:t>
            </a:r>
            <a:endParaRPr lang="en-IN" sz="3200" dirty="0"/>
          </a:p>
        </p:txBody>
      </p:sp>
    </p:spTree>
    <p:extLst>
      <p:ext uri="{BB962C8B-B14F-4D97-AF65-F5344CB8AC3E}">
        <p14:creationId xmlns:p14="http://schemas.microsoft.com/office/powerpoint/2010/main" val="35235494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856984" cy="418058"/>
          </a:xfrm>
        </p:spPr>
        <p:txBody>
          <a:bodyPr>
            <a:normAutofit fontScale="90000"/>
          </a:bodyPr>
          <a:lstStyle/>
          <a:p>
            <a:r>
              <a:rPr lang="en-US" sz="2400" b="1" dirty="0" smtClean="0"/>
              <a:t>Difference Between Stored Procedure and Stored Functions</a:t>
            </a:r>
            <a:endParaRPr lang="en-IN" sz="2400" b="1" dirty="0"/>
          </a:p>
        </p:txBody>
      </p:sp>
      <p:sp>
        <p:nvSpPr>
          <p:cNvPr id="3" name="Footer Placeholder 2"/>
          <p:cNvSpPr>
            <a:spLocks noGrp="1"/>
          </p:cNvSpPr>
          <p:nvPr>
            <p:ph type="ftr" sz="quarter" idx="11"/>
          </p:nvPr>
        </p:nvSpPr>
        <p:spPr/>
        <p:txBody>
          <a:bodyPr/>
          <a:lstStyle/>
          <a:p>
            <a:r>
              <a:rPr lang="en-IN" smtClean="0"/>
              <a:t>Dr SURESH YADLAPATI</a:t>
            </a:r>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915272262"/>
              </p:ext>
            </p:extLst>
          </p:nvPr>
        </p:nvGraphicFramePr>
        <p:xfrm>
          <a:off x="179512" y="836712"/>
          <a:ext cx="8856984" cy="5400600"/>
        </p:xfrm>
        <a:graphic>
          <a:graphicData uri="http://schemas.openxmlformats.org/drawingml/2006/table">
            <a:tbl>
              <a:tblPr>
                <a:tableStyleId>{69CF1AB2-1976-4502-BF36-3FF5EA218861}</a:tableStyleId>
              </a:tblPr>
              <a:tblGrid>
                <a:gridCol w="2952328"/>
                <a:gridCol w="2952328"/>
                <a:gridCol w="2952328"/>
              </a:tblGrid>
              <a:tr h="326818">
                <a:tc>
                  <a:txBody>
                    <a:bodyPr/>
                    <a:lstStyle/>
                    <a:p>
                      <a:pPr algn="ctr"/>
                      <a:r>
                        <a:rPr lang="en-IN" sz="1600" b="1" dirty="0"/>
                        <a:t>Feature</a:t>
                      </a:r>
                    </a:p>
                  </a:txBody>
                  <a:tcPr marL="59377" marR="59377" marT="29688" marB="29688" anchor="ctr"/>
                </a:tc>
                <a:tc>
                  <a:txBody>
                    <a:bodyPr/>
                    <a:lstStyle/>
                    <a:p>
                      <a:pPr algn="ctr"/>
                      <a:r>
                        <a:rPr lang="en-IN" sz="1600" b="1"/>
                        <a:t>Stored Procedure</a:t>
                      </a:r>
                    </a:p>
                  </a:txBody>
                  <a:tcPr marL="59377" marR="59377" marT="29688" marB="29688" anchor="ctr"/>
                </a:tc>
                <a:tc>
                  <a:txBody>
                    <a:bodyPr/>
                    <a:lstStyle/>
                    <a:p>
                      <a:pPr algn="ctr"/>
                      <a:r>
                        <a:rPr lang="en-IN" sz="1600" b="1" dirty="0"/>
                        <a:t>Stored Function</a:t>
                      </a:r>
                    </a:p>
                  </a:txBody>
                  <a:tcPr marL="59377" marR="59377" marT="29688" marB="29688" anchor="ctr"/>
                </a:tc>
              </a:tr>
              <a:tr h="589637">
                <a:tc>
                  <a:txBody>
                    <a:bodyPr/>
                    <a:lstStyle/>
                    <a:p>
                      <a:r>
                        <a:rPr lang="en-IN" sz="1600" dirty="0"/>
                        <a:t>Return Type</a:t>
                      </a:r>
                    </a:p>
                  </a:txBody>
                  <a:tcPr marL="59377" marR="59377" marT="29688" marB="29688" anchor="ctr"/>
                </a:tc>
                <a:tc>
                  <a:txBody>
                    <a:bodyPr/>
                    <a:lstStyle/>
                    <a:p>
                      <a:r>
                        <a:rPr lang="en-US" sz="1600" dirty="0"/>
                        <a:t>Does not return a value directly</a:t>
                      </a:r>
                    </a:p>
                  </a:txBody>
                  <a:tcPr marL="59377" marR="59377" marT="29688" marB="29688" anchor="ctr"/>
                </a:tc>
                <a:tc>
                  <a:txBody>
                    <a:bodyPr/>
                    <a:lstStyle/>
                    <a:p>
                      <a:r>
                        <a:rPr lang="en-US" sz="1600" dirty="0"/>
                        <a:t>Must return a single value using RETURN</a:t>
                      </a:r>
                    </a:p>
                  </a:txBody>
                  <a:tcPr marL="59377" marR="59377" marT="29688" marB="29688" anchor="ctr"/>
                </a:tc>
              </a:tr>
              <a:tr h="589637">
                <a:tc>
                  <a:txBody>
                    <a:bodyPr/>
                    <a:lstStyle/>
                    <a:p>
                      <a:r>
                        <a:rPr lang="en-IN" sz="1600" dirty="0"/>
                        <a:t>Invocation Method</a:t>
                      </a:r>
                    </a:p>
                  </a:txBody>
                  <a:tcPr marL="59377" marR="59377" marT="29688" marB="29688" anchor="ctr"/>
                </a:tc>
                <a:tc>
                  <a:txBody>
                    <a:bodyPr/>
                    <a:lstStyle/>
                    <a:p>
                      <a:r>
                        <a:rPr lang="en-IN" sz="1600"/>
                        <a:t>Invoked using CALL</a:t>
                      </a:r>
                    </a:p>
                  </a:txBody>
                  <a:tcPr marL="59377" marR="59377" marT="29688" marB="29688" anchor="ctr"/>
                </a:tc>
                <a:tc>
                  <a:txBody>
                    <a:bodyPr/>
                    <a:lstStyle/>
                    <a:p>
                      <a:r>
                        <a:rPr lang="en-US" sz="1600"/>
                        <a:t>Invoked inside SQL (e.g., SELECT func_name(...))</a:t>
                      </a:r>
                    </a:p>
                  </a:txBody>
                  <a:tcPr marL="59377" marR="59377" marT="29688" marB="29688" anchor="ctr"/>
                </a:tc>
              </a:tr>
              <a:tr h="589637">
                <a:tc>
                  <a:txBody>
                    <a:bodyPr/>
                    <a:lstStyle/>
                    <a:p>
                      <a:r>
                        <a:rPr lang="en-IN" sz="1600" dirty="0"/>
                        <a:t>Usage in SQL Statements</a:t>
                      </a:r>
                    </a:p>
                  </a:txBody>
                  <a:tcPr marL="59377" marR="59377" marT="29688" marB="29688" anchor="ctr"/>
                </a:tc>
                <a:tc>
                  <a:txBody>
                    <a:bodyPr/>
                    <a:lstStyle/>
                    <a:p>
                      <a:r>
                        <a:rPr lang="en-US" sz="1600" dirty="0" smtClean="0"/>
                        <a:t>SELECT, INSERT, UPDATE..</a:t>
                      </a:r>
                      <a:endParaRPr lang="en-US" sz="1600" dirty="0"/>
                    </a:p>
                  </a:txBody>
                  <a:tcPr marL="59377" marR="59377" marT="29688" marB="29688" anchor="ctr"/>
                </a:tc>
                <a:tc>
                  <a:txBody>
                    <a:bodyPr/>
                    <a:lstStyle/>
                    <a:p>
                      <a:r>
                        <a:rPr lang="en-US" sz="1600" dirty="0" smtClean="0"/>
                        <a:t>Only</a:t>
                      </a:r>
                      <a:r>
                        <a:rPr lang="en-US" sz="1600" baseline="0" dirty="0" smtClean="0"/>
                        <a:t> SELECT, WHERE</a:t>
                      </a:r>
                      <a:endParaRPr lang="en-US" sz="1600" dirty="0"/>
                    </a:p>
                  </a:txBody>
                  <a:tcPr marL="59377" marR="59377" marT="29688" marB="29688" anchor="ctr"/>
                </a:tc>
              </a:tr>
              <a:tr h="589637">
                <a:tc>
                  <a:txBody>
                    <a:bodyPr/>
                    <a:lstStyle/>
                    <a:p>
                      <a:r>
                        <a:rPr lang="en-IN" sz="1600" dirty="0"/>
                        <a:t>OUT/INOUT Parameters</a:t>
                      </a:r>
                    </a:p>
                  </a:txBody>
                  <a:tcPr marL="59377" marR="59377" marT="29688" marB="29688" anchor="ctr"/>
                </a:tc>
                <a:tc>
                  <a:txBody>
                    <a:bodyPr/>
                    <a:lstStyle/>
                    <a:p>
                      <a:r>
                        <a:rPr lang="en-US" sz="1600" dirty="0" smtClean="0"/>
                        <a:t>Supports </a:t>
                      </a:r>
                      <a:r>
                        <a:rPr lang="en-US" sz="1600" dirty="0"/>
                        <a:t>IN, OUT, and INOUT parameters</a:t>
                      </a:r>
                    </a:p>
                  </a:txBody>
                  <a:tcPr marL="59377" marR="59377" marT="29688" marB="29688" anchor="ctr"/>
                </a:tc>
                <a:tc>
                  <a:txBody>
                    <a:bodyPr/>
                    <a:lstStyle/>
                    <a:p>
                      <a:r>
                        <a:rPr lang="en-IN" sz="1600" dirty="0" smtClean="0"/>
                        <a:t>Only </a:t>
                      </a:r>
                      <a:r>
                        <a:rPr lang="en-IN" sz="1600" dirty="0"/>
                        <a:t>IN parameters allowed</a:t>
                      </a:r>
                    </a:p>
                  </a:txBody>
                  <a:tcPr marL="59377" marR="59377" marT="29688" marB="29688" anchor="ctr"/>
                </a:tc>
              </a:tr>
              <a:tr h="589637">
                <a:tc>
                  <a:txBody>
                    <a:bodyPr/>
                    <a:lstStyle/>
                    <a:p>
                      <a:r>
                        <a:rPr lang="en-IN" sz="1600"/>
                        <a:t>Return Multiple Values</a:t>
                      </a:r>
                    </a:p>
                  </a:txBody>
                  <a:tcPr marL="59377" marR="59377" marT="29688" marB="29688" anchor="ctr"/>
                </a:tc>
                <a:tc>
                  <a:txBody>
                    <a:bodyPr/>
                    <a:lstStyle/>
                    <a:p>
                      <a:r>
                        <a:rPr lang="en-US" sz="1600" dirty="0" smtClean="0"/>
                        <a:t>Can </a:t>
                      </a:r>
                      <a:r>
                        <a:rPr lang="en-US" sz="1600" dirty="0"/>
                        <a:t>return multiple outputs via OUT parameters</a:t>
                      </a:r>
                    </a:p>
                  </a:txBody>
                  <a:tcPr marL="59377" marR="59377" marT="29688" marB="29688" anchor="ctr"/>
                </a:tc>
                <a:tc>
                  <a:txBody>
                    <a:bodyPr/>
                    <a:lstStyle/>
                    <a:p>
                      <a:r>
                        <a:rPr lang="en-US" sz="1600" dirty="0" smtClean="0"/>
                        <a:t>Can </a:t>
                      </a:r>
                      <a:r>
                        <a:rPr lang="en-US" sz="1600" dirty="0"/>
                        <a:t>return only one value</a:t>
                      </a:r>
                    </a:p>
                  </a:txBody>
                  <a:tcPr marL="59377" marR="59377" marT="29688" marB="29688" anchor="ctr"/>
                </a:tc>
              </a:tr>
              <a:tr h="639984">
                <a:tc>
                  <a:txBody>
                    <a:bodyPr/>
                    <a:lstStyle/>
                    <a:p>
                      <a:r>
                        <a:rPr lang="en-IN" sz="1600" dirty="0"/>
                        <a:t>Side Effects (Insert/Update)</a:t>
                      </a:r>
                    </a:p>
                  </a:txBody>
                  <a:tcPr marL="59377" marR="59377" marT="29688" marB="29688" anchor="ctr"/>
                </a:tc>
                <a:tc>
                  <a:txBody>
                    <a:bodyPr/>
                    <a:lstStyle/>
                    <a:p>
                      <a:r>
                        <a:rPr lang="en-US" sz="1600" dirty="0" smtClean="0"/>
                        <a:t>Allowed </a:t>
                      </a:r>
                      <a:r>
                        <a:rPr lang="en-US" sz="1600" dirty="0"/>
                        <a:t>— can modify tables (DML allowed)</a:t>
                      </a:r>
                    </a:p>
                  </a:txBody>
                  <a:tcPr marL="59377" marR="59377" marT="29688" marB="29688" anchor="ctr"/>
                </a:tc>
                <a:tc>
                  <a:txBody>
                    <a:bodyPr/>
                    <a:lstStyle/>
                    <a:p>
                      <a:r>
                        <a:rPr lang="en-US" sz="1600" dirty="0" smtClean="0"/>
                        <a:t>Not recommended</a:t>
                      </a:r>
                      <a:endParaRPr lang="en-US" sz="1600" dirty="0"/>
                    </a:p>
                  </a:txBody>
                  <a:tcPr marL="59377" marR="59377" marT="29688" marB="29688" anchor="ctr"/>
                </a:tc>
              </a:tr>
              <a:tr h="589637">
                <a:tc>
                  <a:txBody>
                    <a:bodyPr/>
                    <a:lstStyle/>
                    <a:p>
                      <a:r>
                        <a:rPr lang="en-IN" sz="1600" dirty="0"/>
                        <a:t>Transactional Logic</a:t>
                      </a:r>
                    </a:p>
                  </a:txBody>
                  <a:tcPr marL="59377" marR="59377" marT="29688" marB="29688" anchor="ctr"/>
                </a:tc>
                <a:tc>
                  <a:txBody>
                    <a:bodyPr/>
                    <a:lstStyle/>
                    <a:p>
                      <a:r>
                        <a:rPr lang="en-US" sz="1600" dirty="0" smtClean="0"/>
                        <a:t>Suitable </a:t>
                      </a:r>
                      <a:r>
                        <a:rPr lang="en-US" sz="1600" dirty="0"/>
                        <a:t>for batch or transaction logic</a:t>
                      </a:r>
                    </a:p>
                  </a:txBody>
                  <a:tcPr marL="59377" marR="59377" marT="29688" marB="29688" anchor="ctr"/>
                </a:tc>
                <a:tc>
                  <a:txBody>
                    <a:bodyPr/>
                    <a:lstStyle/>
                    <a:p>
                      <a:r>
                        <a:rPr lang="en-IN" sz="1600" dirty="0" smtClean="0"/>
                        <a:t>Not </a:t>
                      </a:r>
                      <a:r>
                        <a:rPr lang="en-IN" sz="1600" dirty="0"/>
                        <a:t>preferred for transaction handling</a:t>
                      </a:r>
                    </a:p>
                  </a:txBody>
                  <a:tcPr marL="59377" marR="59377" marT="29688" marB="29688" anchor="ctr"/>
                </a:tc>
              </a:tr>
              <a:tr h="447988">
                <a:tc>
                  <a:txBody>
                    <a:bodyPr/>
                    <a:lstStyle/>
                    <a:p>
                      <a:r>
                        <a:rPr lang="en-IN" sz="1600"/>
                        <a:t>DETERMINISTIC Clause</a:t>
                      </a:r>
                    </a:p>
                  </a:txBody>
                  <a:tcPr marL="59377" marR="59377" marT="29688" marB="29688" anchor="ctr"/>
                </a:tc>
                <a:tc>
                  <a:txBody>
                    <a:bodyPr/>
                    <a:lstStyle/>
                    <a:p>
                      <a:r>
                        <a:rPr lang="en-IN" sz="1600" dirty="0"/>
                        <a:t>Optional</a:t>
                      </a:r>
                    </a:p>
                  </a:txBody>
                  <a:tcPr marL="59377" marR="59377" marT="29688" marB="29688" anchor="ctr"/>
                </a:tc>
                <a:tc>
                  <a:txBody>
                    <a:bodyPr/>
                    <a:lstStyle/>
                    <a:p>
                      <a:r>
                        <a:rPr lang="en-US" sz="1600" dirty="0" smtClean="0"/>
                        <a:t>Mandatory</a:t>
                      </a:r>
                      <a:endParaRPr lang="en-US" sz="1600" dirty="0"/>
                    </a:p>
                  </a:txBody>
                  <a:tcPr marL="59377" marR="59377" marT="29688" marB="29688" anchor="ctr"/>
                </a:tc>
              </a:tr>
              <a:tr h="447988">
                <a:tc>
                  <a:txBody>
                    <a:bodyPr/>
                    <a:lstStyle/>
                    <a:p>
                      <a:r>
                        <a:rPr lang="en-IN" sz="1600"/>
                        <a:t>READS/NO SQL Clause</a:t>
                      </a:r>
                    </a:p>
                  </a:txBody>
                  <a:tcPr marL="59377" marR="59377" marT="29688" marB="29688" anchor="ctr"/>
                </a:tc>
                <a:tc>
                  <a:txBody>
                    <a:bodyPr/>
                    <a:lstStyle/>
                    <a:p>
                      <a:r>
                        <a:rPr lang="en-IN" sz="1600"/>
                        <a:t>Optional</a:t>
                      </a:r>
                    </a:p>
                  </a:txBody>
                  <a:tcPr marL="59377" marR="59377" marT="29688" marB="29688" anchor="ctr"/>
                </a:tc>
                <a:tc>
                  <a:txBody>
                    <a:bodyPr/>
                    <a:lstStyle/>
                    <a:p>
                      <a:r>
                        <a:rPr lang="en-US" sz="1600" dirty="0" smtClean="0"/>
                        <a:t>Required </a:t>
                      </a:r>
                      <a:r>
                        <a:rPr lang="en-US" sz="1600" dirty="0"/>
                        <a:t>based on logic used</a:t>
                      </a:r>
                    </a:p>
                  </a:txBody>
                  <a:tcPr marL="59377" marR="59377" marT="29688" marB="29688" anchor="ctr"/>
                </a:tc>
              </a:tr>
            </a:tbl>
          </a:graphicData>
        </a:graphic>
      </p:graphicFrame>
    </p:spTree>
    <p:extLst>
      <p:ext uri="{BB962C8B-B14F-4D97-AF65-F5344CB8AC3E}">
        <p14:creationId xmlns:p14="http://schemas.microsoft.com/office/powerpoint/2010/main" val="166638698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7772400" cy="1143000"/>
          </a:xfrm>
        </p:spPr>
        <p:txBody>
          <a:bodyPr/>
          <a:lstStyle/>
          <a:p>
            <a:r>
              <a:rPr b="1" dirty="0"/>
              <a:t>Working with Transactions</a:t>
            </a:r>
          </a:p>
        </p:txBody>
      </p:sp>
      <p:sp>
        <p:nvSpPr>
          <p:cNvPr id="3" name="Content Placeholder 2"/>
          <p:cNvSpPr>
            <a:spLocks noGrp="1"/>
          </p:cNvSpPr>
          <p:nvPr>
            <p:ph idx="1"/>
          </p:nvPr>
        </p:nvSpPr>
        <p:spPr>
          <a:xfrm>
            <a:off x="467544" y="1556792"/>
            <a:ext cx="7772400" cy="4572000"/>
          </a:xfrm>
        </p:spPr>
        <p:txBody>
          <a:bodyPr>
            <a:noAutofit/>
          </a:bodyPr>
          <a:lstStyle/>
          <a:p>
            <a:r>
              <a:rPr sz="3200" dirty="0"/>
              <a:t>DBMS manages databases across multiple users and environments</a:t>
            </a:r>
            <a:r>
              <a:rPr sz="3200" dirty="0" smtClean="0"/>
              <a:t>.</a:t>
            </a:r>
            <a:endParaRPr lang="en-US" sz="3200" dirty="0" smtClean="0"/>
          </a:p>
          <a:p>
            <a:r>
              <a:rPr lang="en-US" sz="3200" dirty="0" smtClean="0"/>
              <a:t>Transaction – interaction between the user and database. </a:t>
            </a:r>
            <a:endParaRPr sz="3200" dirty="0"/>
          </a:p>
          <a:p>
            <a:r>
              <a:rPr sz="3200" dirty="0"/>
              <a:t>Transactions ensure data integrity during concurrent access.</a:t>
            </a:r>
          </a:p>
          <a:p>
            <a:r>
              <a:rPr sz="3200" dirty="0"/>
              <a:t>DBMS uses ACID properties to maintain consistency.</a:t>
            </a:r>
          </a:p>
        </p:txBody>
      </p:sp>
    </p:spTree>
    <p:extLst>
      <p:ext uri="{BB962C8B-B14F-4D97-AF65-F5344CB8AC3E}">
        <p14:creationId xmlns:p14="http://schemas.microsoft.com/office/powerpoint/2010/main" val="26963384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7772400" cy="1143000"/>
          </a:xfrm>
        </p:spPr>
        <p:txBody>
          <a:bodyPr/>
          <a:lstStyle/>
          <a:p>
            <a:r>
              <a:rPr b="1" dirty="0"/>
              <a:t>ACID Properties</a:t>
            </a:r>
          </a:p>
        </p:txBody>
      </p:sp>
      <p:sp>
        <p:nvSpPr>
          <p:cNvPr id="3" name="Content Placeholder 2"/>
          <p:cNvSpPr>
            <a:spLocks noGrp="1"/>
          </p:cNvSpPr>
          <p:nvPr>
            <p:ph idx="1"/>
          </p:nvPr>
        </p:nvSpPr>
        <p:spPr>
          <a:xfrm>
            <a:off x="467544" y="1484784"/>
            <a:ext cx="7772400" cy="4572000"/>
          </a:xfrm>
        </p:spPr>
        <p:txBody>
          <a:bodyPr>
            <a:normAutofit/>
          </a:bodyPr>
          <a:lstStyle/>
          <a:p>
            <a:r>
              <a:rPr sz="3200" b="1" dirty="0"/>
              <a:t>Atomicity: </a:t>
            </a:r>
            <a:r>
              <a:rPr sz="3200" dirty="0"/>
              <a:t>Entire transaction happens or none at all.</a:t>
            </a:r>
          </a:p>
          <a:p>
            <a:r>
              <a:rPr sz="3200" b="1" dirty="0"/>
              <a:t>Consistency: </a:t>
            </a:r>
            <a:r>
              <a:rPr sz="3200" dirty="0"/>
              <a:t>Database remains consistent before and after.</a:t>
            </a:r>
          </a:p>
          <a:p>
            <a:r>
              <a:rPr sz="3200" b="1" dirty="0"/>
              <a:t>Isolation: </a:t>
            </a:r>
            <a:r>
              <a:rPr sz="3200" dirty="0"/>
              <a:t>Transactions don’t interfere (avoids dirty reads).</a:t>
            </a:r>
          </a:p>
          <a:p>
            <a:r>
              <a:rPr sz="3200" b="1" dirty="0"/>
              <a:t>Durability: </a:t>
            </a:r>
            <a:r>
              <a:rPr sz="3200" dirty="0"/>
              <a:t>Changes persist after commit, even on crash.</a:t>
            </a:r>
          </a:p>
        </p:txBody>
      </p:sp>
    </p:spTree>
    <p:extLst>
      <p:ext uri="{BB962C8B-B14F-4D97-AF65-F5344CB8AC3E}">
        <p14:creationId xmlns:p14="http://schemas.microsoft.com/office/powerpoint/2010/main" val="16612994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7772400" cy="1143000"/>
          </a:xfrm>
        </p:spPr>
        <p:txBody>
          <a:bodyPr>
            <a:normAutofit/>
          </a:bodyPr>
          <a:lstStyle/>
          <a:p>
            <a:r>
              <a:rPr sz="4400" b="1" dirty="0"/>
              <a:t>Types of Transactions</a:t>
            </a:r>
          </a:p>
        </p:txBody>
      </p:sp>
      <p:sp>
        <p:nvSpPr>
          <p:cNvPr id="3" name="Content Placeholder 2"/>
          <p:cNvSpPr>
            <a:spLocks noGrp="1"/>
          </p:cNvSpPr>
          <p:nvPr>
            <p:ph idx="1"/>
          </p:nvPr>
        </p:nvSpPr>
        <p:spPr/>
        <p:txBody>
          <a:bodyPr>
            <a:normAutofit/>
          </a:bodyPr>
          <a:lstStyle/>
          <a:p>
            <a:r>
              <a:rPr sz="3600" b="1" dirty="0"/>
              <a:t>Local: </a:t>
            </a:r>
            <a:r>
              <a:rPr sz="3600" dirty="0"/>
              <a:t>Operations within a single database connection.</a:t>
            </a:r>
          </a:p>
          <a:p>
            <a:r>
              <a:rPr sz="3600" b="1" dirty="0"/>
              <a:t>Distributed: </a:t>
            </a:r>
            <a:r>
              <a:rPr sz="3600" dirty="0"/>
              <a:t>Involves multiple transactional resources.</a:t>
            </a:r>
          </a:p>
          <a:p>
            <a:r>
              <a:rPr sz="3600" b="1" dirty="0"/>
              <a:t>Nested: </a:t>
            </a:r>
            <a:r>
              <a:rPr sz="3600" dirty="0"/>
              <a:t>Transactions within transactions with rollback control.</a:t>
            </a:r>
          </a:p>
        </p:txBody>
      </p:sp>
    </p:spTree>
    <p:extLst>
      <p:ext uri="{BB962C8B-B14F-4D97-AF65-F5344CB8AC3E}">
        <p14:creationId xmlns:p14="http://schemas.microsoft.com/office/powerpoint/2010/main" val="6443395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7772400" cy="1143000"/>
          </a:xfrm>
        </p:spPr>
        <p:txBody>
          <a:bodyPr/>
          <a:lstStyle/>
          <a:p>
            <a:r>
              <a:rPr dirty="0"/>
              <a:t>Transaction Management in JDBC</a:t>
            </a:r>
          </a:p>
        </p:txBody>
      </p:sp>
      <p:sp>
        <p:nvSpPr>
          <p:cNvPr id="3" name="Content Placeholder 2"/>
          <p:cNvSpPr>
            <a:spLocks noGrp="1"/>
          </p:cNvSpPr>
          <p:nvPr>
            <p:ph idx="1"/>
          </p:nvPr>
        </p:nvSpPr>
        <p:spPr>
          <a:xfrm>
            <a:off x="611560" y="1484784"/>
            <a:ext cx="7772400" cy="4572000"/>
          </a:xfrm>
        </p:spPr>
        <p:txBody>
          <a:bodyPr>
            <a:normAutofit/>
          </a:bodyPr>
          <a:lstStyle/>
          <a:p>
            <a:r>
              <a:rPr sz="3600" dirty="0"/>
              <a:t>Ensures data integrity and consistency.</a:t>
            </a:r>
          </a:p>
          <a:p>
            <a:r>
              <a:rPr sz="3600" dirty="0"/>
              <a:t>Transaction Manager coordinates resources.</a:t>
            </a:r>
          </a:p>
          <a:p>
            <a:r>
              <a:rPr sz="3600" dirty="0"/>
              <a:t>Resource Manager manages specific resources (DB, files, etc.).</a:t>
            </a:r>
          </a:p>
          <a:p>
            <a:r>
              <a:rPr sz="3600" dirty="0"/>
              <a:t>JDBC </a:t>
            </a:r>
            <a:r>
              <a:rPr lang="en-US" sz="3600" dirty="0" smtClean="0"/>
              <a:t>API </a:t>
            </a:r>
            <a:r>
              <a:rPr sz="3600" dirty="0" smtClean="0"/>
              <a:t>supports </a:t>
            </a:r>
            <a:r>
              <a:rPr sz="3600" dirty="0"/>
              <a:t>local and distributed transactions.</a:t>
            </a:r>
          </a:p>
        </p:txBody>
      </p:sp>
    </p:spTree>
    <p:extLst>
      <p:ext uri="{BB962C8B-B14F-4D97-AF65-F5344CB8AC3E}">
        <p14:creationId xmlns:p14="http://schemas.microsoft.com/office/powerpoint/2010/main" val="32078176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772400" cy="1143000"/>
          </a:xfrm>
        </p:spPr>
        <p:txBody>
          <a:bodyPr/>
          <a:lstStyle/>
          <a:p>
            <a:r>
              <a:rPr b="1" dirty="0" err="1"/>
              <a:t>AutoCommit</a:t>
            </a:r>
            <a:r>
              <a:rPr b="1" dirty="0"/>
              <a:t>, Commit &amp; Rollback</a:t>
            </a:r>
          </a:p>
        </p:txBody>
      </p:sp>
      <p:sp>
        <p:nvSpPr>
          <p:cNvPr id="3" name="Content Placeholder 2"/>
          <p:cNvSpPr>
            <a:spLocks noGrp="1"/>
          </p:cNvSpPr>
          <p:nvPr>
            <p:ph idx="1"/>
          </p:nvPr>
        </p:nvSpPr>
        <p:spPr>
          <a:xfrm>
            <a:off x="395536" y="1484784"/>
            <a:ext cx="7772400" cy="3384376"/>
          </a:xfrm>
        </p:spPr>
        <p:txBody>
          <a:bodyPr>
            <a:noAutofit/>
          </a:bodyPr>
          <a:lstStyle/>
          <a:p>
            <a:r>
              <a:rPr lang="en-US" sz="3200" dirty="0" err="1" smtClean="0"/>
              <a:t>setAutoCommit</a:t>
            </a:r>
            <a:r>
              <a:rPr lang="en-US" sz="3200" dirty="0" smtClean="0"/>
              <a:t>(true) – individual statement</a:t>
            </a:r>
          </a:p>
          <a:p>
            <a:r>
              <a:rPr lang="en-IN" sz="3200" dirty="0" err="1"/>
              <a:t>setAutoCommit</a:t>
            </a:r>
            <a:r>
              <a:rPr lang="en-IN" sz="3200" dirty="0"/>
              <a:t>(false) - group multiple statements.</a:t>
            </a:r>
          </a:p>
          <a:p>
            <a:r>
              <a:rPr sz="3200" dirty="0" smtClean="0"/>
              <a:t>commit</a:t>
            </a:r>
            <a:r>
              <a:rPr sz="3200" dirty="0"/>
              <a:t>() - Saves all changes.</a:t>
            </a:r>
          </a:p>
          <a:p>
            <a:r>
              <a:rPr sz="3200" dirty="0"/>
              <a:t>rollback() - Discards all changes.</a:t>
            </a:r>
          </a:p>
          <a:p>
            <a:pPr lvl="1"/>
            <a:r>
              <a:rPr sz="3200" dirty="0"/>
              <a:t>Useful for managing complex transactions.</a:t>
            </a:r>
          </a:p>
        </p:txBody>
      </p:sp>
    </p:spTree>
    <p:extLst>
      <p:ext uri="{BB962C8B-B14F-4D97-AF65-F5344CB8AC3E}">
        <p14:creationId xmlns:p14="http://schemas.microsoft.com/office/powerpoint/2010/main" val="2478568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7772400" cy="1143000"/>
          </a:xfrm>
        </p:spPr>
        <p:txBody>
          <a:bodyPr/>
          <a:lstStyle/>
          <a:p>
            <a:r>
              <a:rPr b="1" dirty="0"/>
              <a:t>Transaction Isolation Levels</a:t>
            </a:r>
          </a:p>
        </p:txBody>
      </p:sp>
      <p:sp>
        <p:nvSpPr>
          <p:cNvPr id="3" name="Content Placeholder 2"/>
          <p:cNvSpPr>
            <a:spLocks noGrp="1"/>
          </p:cNvSpPr>
          <p:nvPr>
            <p:ph idx="1"/>
          </p:nvPr>
        </p:nvSpPr>
        <p:spPr>
          <a:xfrm>
            <a:off x="467544" y="1556792"/>
            <a:ext cx="8280920" cy="3528392"/>
          </a:xfrm>
        </p:spPr>
        <p:txBody>
          <a:bodyPr>
            <a:normAutofit/>
          </a:bodyPr>
          <a:lstStyle/>
          <a:p>
            <a:r>
              <a:rPr sz="2800" b="1" dirty="0"/>
              <a:t>READ UNCOMMITTED </a:t>
            </a:r>
            <a:r>
              <a:rPr sz="2800" dirty="0"/>
              <a:t>- Allows dirty reads.</a:t>
            </a:r>
          </a:p>
          <a:p>
            <a:r>
              <a:rPr sz="2800" b="1" dirty="0"/>
              <a:t>READ COMMITTED </a:t>
            </a:r>
            <a:r>
              <a:rPr sz="2800" dirty="0"/>
              <a:t>- Prevents dirty reads (default in many DBMS).</a:t>
            </a:r>
          </a:p>
          <a:p>
            <a:r>
              <a:rPr sz="2800" b="1" dirty="0"/>
              <a:t>REPEATABLE READ </a:t>
            </a:r>
            <a:r>
              <a:rPr sz="2800" dirty="0"/>
              <a:t>- Prevents dirty &amp; non-repeatable reads.</a:t>
            </a:r>
          </a:p>
          <a:p>
            <a:r>
              <a:rPr sz="2800" b="1" dirty="0"/>
              <a:t>SERIALIZABLE </a:t>
            </a:r>
            <a:r>
              <a:rPr sz="2800" dirty="0"/>
              <a:t>- Full isolation, highest level</a:t>
            </a:r>
            <a:r>
              <a:rPr sz="2800" dirty="0" smtClean="0"/>
              <a:t>.</a:t>
            </a:r>
            <a:r>
              <a:rPr lang="en-US" sz="2800" dirty="0" smtClean="0"/>
              <a:t> Performing the transaction one after another. </a:t>
            </a:r>
            <a:endParaRPr sz="2800" dirty="0"/>
          </a:p>
        </p:txBody>
      </p:sp>
    </p:spTree>
    <p:extLst>
      <p:ext uri="{BB962C8B-B14F-4D97-AF65-F5344CB8AC3E}">
        <p14:creationId xmlns:p14="http://schemas.microsoft.com/office/powerpoint/2010/main" val="6943905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7772400" cy="792088"/>
          </a:xfrm>
        </p:spPr>
        <p:txBody>
          <a:bodyPr/>
          <a:lstStyle/>
          <a:p>
            <a:r>
              <a:rPr b="1" dirty="0"/>
              <a:t>JDBC Isolation API</a:t>
            </a:r>
          </a:p>
        </p:txBody>
      </p:sp>
      <p:sp>
        <p:nvSpPr>
          <p:cNvPr id="3" name="Content Placeholder 2"/>
          <p:cNvSpPr>
            <a:spLocks noGrp="1"/>
          </p:cNvSpPr>
          <p:nvPr>
            <p:ph idx="1"/>
          </p:nvPr>
        </p:nvSpPr>
        <p:spPr>
          <a:xfrm>
            <a:off x="395536" y="1268760"/>
            <a:ext cx="7772400" cy="4572000"/>
          </a:xfrm>
        </p:spPr>
        <p:txBody>
          <a:bodyPr>
            <a:normAutofit/>
          </a:bodyPr>
          <a:lstStyle/>
          <a:p>
            <a:r>
              <a:rPr dirty="0" err="1"/>
              <a:t>setTransactionIsolation</a:t>
            </a:r>
            <a:r>
              <a:rPr dirty="0" smtClean="0"/>
              <a:t>(</a:t>
            </a:r>
            <a:endParaRPr lang="en-US" dirty="0" smtClean="0"/>
          </a:p>
          <a:p>
            <a:pPr marL="320040" lvl="1" indent="0">
              <a:buNone/>
            </a:pPr>
            <a:r>
              <a:rPr dirty="0" err="1" smtClean="0"/>
              <a:t>Connection.TRANSACTION_SERIALIZABLE</a:t>
            </a:r>
            <a:endParaRPr lang="en-US" dirty="0" smtClean="0"/>
          </a:p>
          <a:p>
            <a:pPr marL="320040" lvl="1" indent="0">
              <a:buNone/>
            </a:pPr>
            <a:r>
              <a:rPr dirty="0" smtClean="0"/>
              <a:t>);</a:t>
            </a:r>
            <a:endParaRPr dirty="0"/>
          </a:p>
          <a:p>
            <a:r>
              <a:rPr dirty="0" err="1"/>
              <a:t>getTransactionIsolation</a:t>
            </a:r>
            <a:r>
              <a:rPr dirty="0"/>
              <a:t>();</a:t>
            </a:r>
          </a:p>
          <a:p>
            <a:r>
              <a:rPr dirty="0"/>
              <a:t>Levels: </a:t>
            </a:r>
            <a:endParaRPr lang="en-US" dirty="0" smtClean="0"/>
          </a:p>
          <a:p>
            <a:pPr lvl="2"/>
            <a:r>
              <a:rPr dirty="0" smtClean="0"/>
              <a:t>NONE,</a:t>
            </a:r>
            <a:endParaRPr lang="en-US" dirty="0" smtClean="0"/>
          </a:p>
          <a:p>
            <a:pPr lvl="2"/>
            <a:r>
              <a:rPr dirty="0" smtClean="0"/>
              <a:t> </a:t>
            </a:r>
            <a:r>
              <a:rPr dirty="0"/>
              <a:t>READ_UNCOMMITTED, </a:t>
            </a:r>
            <a:endParaRPr lang="en-US" dirty="0" smtClean="0"/>
          </a:p>
          <a:p>
            <a:pPr lvl="2"/>
            <a:r>
              <a:rPr dirty="0" smtClean="0"/>
              <a:t>READ_COMMITTED</a:t>
            </a:r>
            <a:r>
              <a:rPr dirty="0"/>
              <a:t>, </a:t>
            </a:r>
            <a:endParaRPr lang="en-US" dirty="0" smtClean="0"/>
          </a:p>
          <a:p>
            <a:pPr lvl="2"/>
            <a:r>
              <a:rPr dirty="0" smtClean="0"/>
              <a:t>REPEATABLE_READ</a:t>
            </a:r>
            <a:r>
              <a:rPr dirty="0"/>
              <a:t>, </a:t>
            </a:r>
            <a:endParaRPr lang="en-US" dirty="0" smtClean="0"/>
          </a:p>
          <a:p>
            <a:pPr lvl="2"/>
            <a:r>
              <a:rPr dirty="0" smtClean="0"/>
              <a:t>SERIALIZABLE</a:t>
            </a:r>
            <a:endParaRPr dirty="0"/>
          </a:p>
        </p:txBody>
      </p:sp>
    </p:spTree>
    <p:extLst>
      <p:ext uri="{BB962C8B-B14F-4D97-AF65-F5344CB8AC3E}">
        <p14:creationId xmlns:p14="http://schemas.microsoft.com/office/powerpoint/2010/main" val="9926070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7772400" cy="1143000"/>
          </a:xfrm>
        </p:spPr>
        <p:txBody>
          <a:bodyPr/>
          <a:lstStyle/>
          <a:p>
            <a:r>
              <a:rPr b="1" dirty="0" err="1"/>
              <a:t>Savepoints</a:t>
            </a:r>
            <a:r>
              <a:rPr b="1" dirty="0"/>
              <a:t> in JDBC</a:t>
            </a:r>
          </a:p>
        </p:txBody>
      </p:sp>
      <p:sp>
        <p:nvSpPr>
          <p:cNvPr id="3" name="Content Placeholder 2"/>
          <p:cNvSpPr>
            <a:spLocks noGrp="1"/>
          </p:cNvSpPr>
          <p:nvPr>
            <p:ph idx="1"/>
          </p:nvPr>
        </p:nvSpPr>
        <p:spPr>
          <a:xfrm>
            <a:off x="323528" y="1628800"/>
            <a:ext cx="7772400" cy="4572000"/>
          </a:xfrm>
        </p:spPr>
        <p:txBody>
          <a:bodyPr>
            <a:normAutofit/>
          </a:bodyPr>
          <a:lstStyle/>
          <a:p>
            <a:r>
              <a:rPr sz="2800" dirty="0"/>
              <a:t>Used to mark intermediate transaction points.</a:t>
            </a:r>
          </a:p>
          <a:p>
            <a:pPr lvl="1"/>
            <a:r>
              <a:rPr sz="2800" dirty="0" err="1"/>
              <a:t>setSavepoint</a:t>
            </a:r>
            <a:r>
              <a:rPr sz="2800" dirty="0"/>
              <a:t>(name) - Create </a:t>
            </a:r>
            <a:r>
              <a:rPr sz="2800" dirty="0" err="1"/>
              <a:t>savepoint</a:t>
            </a:r>
            <a:r>
              <a:rPr sz="2800" dirty="0"/>
              <a:t>.</a:t>
            </a:r>
          </a:p>
          <a:p>
            <a:pPr lvl="1"/>
            <a:r>
              <a:rPr sz="2800" dirty="0"/>
              <a:t>rollback(</a:t>
            </a:r>
            <a:r>
              <a:rPr sz="2800" dirty="0" err="1"/>
              <a:t>savepoint</a:t>
            </a:r>
            <a:r>
              <a:rPr sz="2800" dirty="0"/>
              <a:t>) - Rollback to that point.</a:t>
            </a:r>
          </a:p>
          <a:p>
            <a:pPr lvl="1"/>
            <a:r>
              <a:rPr sz="2800" dirty="0" err="1"/>
              <a:t>releaseSavepoint</a:t>
            </a:r>
            <a:r>
              <a:rPr sz="2800" dirty="0"/>
              <a:t>() - Free resources of </a:t>
            </a:r>
            <a:r>
              <a:rPr sz="2800" dirty="0" err="1"/>
              <a:t>savepoint</a:t>
            </a:r>
            <a:r>
              <a:rPr sz="2800" dirty="0"/>
              <a:t>.</a:t>
            </a:r>
          </a:p>
        </p:txBody>
      </p:sp>
    </p:spTree>
    <p:extLst>
      <p:ext uri="{BB962C8B-B14F-4D97-AF65-F5344CB8AC3E}">
        <p14:creationId xmlns:p14="http://schemas.microsoft.com/office/powerpoint/2010/main" val="31097082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1905</TotalTime>
  <Words>5894</Words>
  <Application>Microsoft Office PowerPoint</Application>
  <PresentationFormat>On-screen Show (4:3)</PresentationFormat>
  <Paragraphs>1197</Paragraphs>
  <Slides>90</Slides>
  <Notes>1</Notes>
  <HiddenSlides>0</HiddenSlides>
  <MMClips>0</MMClips>
  <ScaleCrop>false</ScaleCrop>
  <HeadingPairs>
    <vt:vector size="4" baseType="variant">
      <vt:variant>
        <vt:lpstr>Theme</vt:lpstr>
      </vt:variant>
      <vt:variant>
        <vt:i4>1</vt:i4>
      </vt:variant>
      <vt:variant>
        <vt:lpstr>Slide Titles</vt:lpstr>
      </vt:variant>
      <vt:variant>
        <vt:i4>90</vt:i4>
      </vt:variant>
    </vt:vector>
  </HeadingPairs>
  <TitlesOfParts>
    <vt:vector size="91" baseType="lpstr">
      <vt:lpstr>Equity</vt:lpstr>
      <vt:lpstr>ADVANCED JAVA</vt:lpstr>
      <vt:lpstr>Course Outcomes:</vt:lpstr>
      <vt:lpstr>          PO’s:  1) Engg. Knowledge, 2) Problem Analysis, 3) Design/Development of Solutions,   4) Investigation, 5) Modern Tool Usage, 6) The Engineer &amp; Society, 7) Environment and Sustainability, 8) Ethics,   9) Individual and Teamwork, 10) Communication, 11) Project Management, 12) Life-long Learning</vt:lpstr>
      <vt:lpstr>Syllabus</vt:lpstr>
      <vt:lpstr>PowerPoint Presentation</vt:lpstr>
      <vt:lpstr>PowerPoint Presentation</vt:lpstr>
      <vt:lpstr>PowerPoint Presentation</vt:lpstr>
      <vt:lpstr>JDBC  </vt:lpstr>
      <vt:lpstr>Components of JDBC  </vt:lpstr>
      <vt:lpstr>PowerPoint Presentation</vt:lpstr>
      <vt:lpstr>JDBC Architecture</vt:lpstr>
      <vt:lpstr>JDBC Architecture</vt:lpstr>
      <vt:lpstr>JDBC Architecture</vt:lpstr>
      <vt:lpstr>JDBC Architecture</vt:lpstr>
      <vt:lpstr>JDBC Architecture</vt:lpstr>
      <vt:lpstr>Types of Drivers</vt:lpstr>
      <vt:lpstr>Type -1 Driver  - JDBC ODBC Bridge Driver</vt:lpstr>
      <vt:lpstr>Type -2 Driver - Native API Driver</vt:lpstr>
      <vt:lpstr>Type -3 Driver - Network Protocol Driver</vt:lpstr>
      <vt:lpstr>Type -4 Driver – Thin Driver </vt:lpstr>
      <vt:lpstr>Pros &amp; Cons</vt:lpstr>
      <vt:lpstr>PowerPoint Presentation</vt:lpstr>
      <vt:lpstr>PowerPoint Presentation</vt:lpstr>
      <vt:lpstr>PowerPoint Presentation</vt:lpstr>
      <vt:lpstr>Steps</vt:lpstr>
      <vt:lpstr> Connection (using NOTEPAD)</vt:lpstr>
      <vt:lpstr>PowerPoint Presentation</vt:lpstr>
      <vt:lpstr>PowerPoint Presentation</vt:lpstr>
      <vt:lpstr>JDBC API</vt:lpstr>
      <vt:lpstr>java.sql package</vt:lpstr>
      <vt:lpstr>javax.sql package</vt:lpstr>
      <vt:lpstr>Exploring Major Classes and Interfaces</vt:lpstr>
      <vt:lpstr>JDBC Application Architecture</vt:lpstr>
      <vt:lpstr>DriverManager Class</vt:lpstr>
      <vt:lpstr>PowerPoint Presentation</vt:lpstr>
      <vt:lpstr>JDBC Database URL  </vt:lpstr>
      <vt:lpstr>PowerPoint Presentation</vt:lpstr>
      <vt:lpstr>Driver Interface</vt:lpstr>
      <vt:lpstr>Responsibilities</vt:lpstr>
      <vt:lpstr>PowerPoint Presentation</vt:lpstr>
      <vt:lpstr>PowerPoint Presentation</vt:lpstr>
      <vt:lpstr>Connection Interface - java.sql.Connection</vt:lpstr>
      <vt:lpstr>Key Methods in Connection Interface </vt:lpstr>
      <vt:lpstr>Key Methods in Connection Interface </vt:lpstr>
      <vt:lpstr>Who will implement Connection interface</vt:lpstr>
      <vt:lpstr>Statement Interface</vt:lpstr>
      <vt:lpstr>Key Methods</vt:lpstr>
      <vt:lpstr>A Simple JDBC application</vt:lpstr>
      <vt:lpstr>Who implement Statement interface</vt:lpstr>
      <vt:lpstr>Understand the Basic Steps</vt:lpstr>
      <vt:lpstr>PowerPoint Presentation</vt:lpstr>
      <vt:lpstr>PowerPoint Presentation</vt:lpstr>
      <vt:lpstr>PowerPoint Presentation</vt:lpstr>
      <vt:lpstr>PowerPoint Presentation</vt:lpstr>
      <vt:lpstr>ResultSet Interface in JDBC</vt:lpstr>
      <vt:lpstr>Commonly used methods</vt:lpstr>
      <vt:lpstr>PowerPoint Presentation</vt:lpstr>
      <vt:lpstr>Types of ResultSet</vt:lpstr>
      <vt:lpstr>Working with Batch updates:  with the Statement object</vt:lpstr>
      <vt:lpstr>PowerPoint Presentation</vt:lpstr>
      <vt:lpstr>PowerPoint Presentation</vt:lpstr>
      <vt:lpstr>PreparedStatement interface</vt:lpstr>
      <vt:lpstr>PowerPoint Presentation</vt:lpstr>
      <vt:lpstr>PowerPoint Presentation</vt:lpstr>
      <vt:lpstr>PowerPoint Presentation</vt:lpstr>
      <vt:lpstr>PowerPoint Presentation</vt:lpstr>
      <vt:lpstr>CallableStatement</vt:lpstr>
      <vt:lpstr>   Procedure  </vt:lpstr>
      <vt:lpstr>Steps to call stores Procedure</vt:lpstr>
      <vt:lpstr>PowerPoint Presentation</vt:lpstr>
      <vt:lpstr>Creation of Procedure in MySQL – Procedure language</vt:lpstr>
      <vt:lpstr>Creation of Procedure in MySQL – Procedure language</vt:lpstr>
      <vt:lpstr>Creation of Procedure in MySQL – Procedure language</vt:lpstr>
      <vt:lpstr>Creation of Procedure in MySQL – Procedure language</vt:lpstr>
      <vt:lpstr>Function Syntax</vt:lpstr>
      <vt:lpstr>PowerPoint Presentation</vt:lpstr>
      <vt:lpstr>SQL Data Access Modifiers in MySQL</vt:lpstr>
      <vt:lpstr>Ex:Adding two numbers</vt:lpstr>
      <vt:lpstr>Ex: Non Deterministic</vt:lpstr>
      <vt:lpstr>Ex 3:</vt:lpstr>
      <vt:lpstr>ERROR</vt:lpstr>
      <vt:lpstr>Difference Between Stored Procedure and Stored Functions</vt:lpstr>
      <vt:lpstr>Working with Transactions</vt:lpstr>
      <vt:lpstr>ACID Properties</vt:lpstr>
      <vt:lpstr>Types of Transactions</vt:lpstr>
      <vt:lpstr>Transaction Management in JDBC</vt:lpstr>
      <vt:lpstr>AutoCommit, Commit &amp; Rollback</vt:lpstr>
      <vt:lpstr>Transaction Isolation Levels</vt:lpstr>
      <vt:lpstr>JDBC Isolation API</vt:lpstr>
      <vt:lpstr>Savepoints in JDBC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JAVA</dc:title>
  <dc:creator>Admin</dc:creator>
  <cp:lastModifiedBy>Admin</cp:lastModifiedBy>
  <cp:revision>106</cp:revision>
  <dcterms:created xsi:type="dcterms:W3CDTF">2025-07-03T23:57:11Z</dcterms:created>
  <dcterms:modified xsi:type="dcterms:W3CDTF">2025-07-30T06:53:56Z</dcterms:modified>
</cp:coreProperties>
</file>